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15"/>
  </p:notesMasterIdLst>
  <p:handoutMasterIdLst>
    <p:handoutMasterId r:id="rId16"/>
  </p:handoutMasterIdLst>
  <p:sldIdLst>
    <p:sldId id="276" r:id="rId2"/>
    <p:sldId id="275" r:id="rId3"/>
    <p:sldId id="278" r:id="rId4"/>
    <p:sldId id="389" r:id="rId5"/>
    <p:sldId id="284" r:id="rId6"/>
    <p:sldId id="279" r:id="rId7"/>
    <p:sldId id="390" r:id="rId8"/>
    <p:sldId id="280" r:id="rId9"/>
    <p:sldId id="281" r:id="rId10"/>
    <p:sldId id="285" r:id="rId11"/>
    <p:sldId id="282" r:id="rId12"/>
    <p:sldId id="283" r:id="rId13"/>
    <p:sldId id="388" r:id="rId14"/>
  </p:sldIdLst>
  <p:sldSz cx="12192000" cy="6858000"/>
  <p:notesSz cx="6858000" cy="9144000"/>
  <p:defaultTextStyle>
    <a:defPPr>
      <a:defRPr lang="zh-TW"/>
    </a:defPPr>
    <a:lvl1pPr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1pPr>
    <a:lvl2pPr marL="4572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2pPr>
    <a:lvl3pPr marL="9144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3pPr>
    <a:lvl4pPr marL="13716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4pPr>
    <a:lvl5pPr marL="18288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5pPr>
    <a:lvl6pPr marL="22860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6pPr>
    <a:lvl7pPr marL="27432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7pPr>
    <a:lvl8pPr marL="32004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8pPr>
    <a:lvl9pPr marL="36576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379"/>
    <a:srgbClr val="00B2B3"/>
    <a:srgbClr val="0000FF"/>
    <a:srgbClr val="87CAAC"/>
    <a:srgbClr val="5FB990"/>
    <a:srgbClr val="12B3C4"/>
    <a:srgbClr val="FF6600"/>
    <a:srgbClr val="FF0000"/>
    <a:srgbClr val="28AECF"/>
    <a:srgbClr val="13C3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80" autoAdjust="0"/>
    <p:restoredTop sz="95273" autoAdjust="0"/>
  </p:normalViewPr>
  <p:slideViewPr>
    <p:cSldViewPr snapToGrid="0">
      <p:cViewPr varScale="1">
        <p:scale>
          <a:sx n="105" d="100"/>
          <a:sy n="105" d="100"/>
        </p:scale>
        <p:origin x="918" y="96"/>
      </p:cViewPr>
      <p:guideLst>
        <p:guide orient="horz" pos="2160"/>
        <p:guide pos="3840"/>
      </p:guideLst>
    </p:cSldViewPr>
  </p:slideViewPr>
  <p:notesTextViewPr>
    <p:cViewPr>
      <p:scale>
        <a:sx n="100" d="100"/>
        <a:sy n="100" d="100"/>
      </p:scale>
      <p:origin x="0" y="0"/>
    </p:cViewPr>
  </p:notesTextViewPr>
  <p:notesViewPr>
    <p:cSldViewPr snapToGrid="0">
      <p:cViewPr varScale="1">
        <p:scale>
          <a:sx n="98" d="100"/>
          <a:sy n="98" d="100"/>
        </p:scale>
        <p:origin x="-3648" y="-102"/>
      </p:cViewPr>
      <p:guideLst>
        <p:guide orient="horz" pos="2880"/>
        <p:guide pos="2160"/>
      </p:guideLst>
    </p:cSldViewPr>
  </p:notesViewPr>
  <p:gridSpacing cx="45005" cy="4500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878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latin typeface="Arial" charset="0"/>
                <a:ea typeface="新細明體" pitchFamily="18" charset="-120"/>
              </a:defRPr>
            </a:lvl1pPr>
          </a:lstStyle>
          <a:p>
            <a:pPr>
              <a:defRPr/>
            </a:pPr>
            <a:endParaRPr lang="en-US" altLang="zh-TW"/>
          </a:p>
        </p:txBody>
      </p:sp>
      <p:sp>
        <p:nvSpPr>
          <p:cNvPr id="118787"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新細明體" pitchFamily="18" charset="-120"/>
              </a:defRPr>
            </a:lvl1pPr>
          </a:lstStyle>
          <a:p>
            <a:pPr>
              <a:defRPr/>
            </a:pPr>
            <a:endParaRPr lang="en-US" altLang="zh-TW"/>
          </a:p>
        </p:txBody>
      </p:sp>
      <p:sp>
        <p:nvSpPr>
          <p:cNvPr id="118788"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latin typeface="Arial" charset="0"/>
                <a:ea typeface="新細明體" pitchFamily="18" charset="-120"/>
              </a:defRPr>
            </a:lvl1pPr>
          </a:lstStyle>
          <a:p>
            <a:pPr>
              <a:defRPr/>
            </a:pPr>
            <a:endParaRPr lang="en-US" altLang="zh-TW"/>
          </a:p>
        </p:txBody>
      </p:sp>
      <p:sp>
        <p:nvSpPr>
          <p:cNvPr id="118789"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D6650701-39C2-4C39-B774-AC0ACA9B57FD}" type="slidenum">
              <a:rPr lang="en-US" altLang="zh-TW"/>
              <a:pPr>
                <a:defRPr/>
              </a:pPr>
              <a:t>‹#›</a:t>
            </a:fld>
            <a:endParaRPr lang="en-US" altLang="zh-TW"/>
          </a:p>
        </p:txBody>
      </p:sp>
    </p:spTree>
    <p:extLst>
      <p:ext uri="{BB962C8B-B14F-4D97-AF65-F5344CB8AC3E}">
        <p14:creationId xmlns:p14="http://schemas.microsoft.com/office/powerpoint/2010/main" val="34115972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smtClean="0"/>
            </a:lvl1pPr>
          </a:lstStyle>
          <a:p>
            <a:pPr>
              <a:defRPr/>
            </a:pPr>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smtClean="0"/>
            </a:lvl1pPr>
          </a:lstStyle>
          <a:p>
            <a:pPr>
              <a:defRPr/>
            </a:pPr>
            <a:fld id="{35D6E0B5-C9D1-4321-9F3E-3F5A2FCA6E31}" type="datetimeFigureOut">
              <a:rPr lang="zh-TW" altLang="en-US"/>
              <a:pPr>
                <a:defRPr/>
              </a:pPr>
              <a:t>2026/8/12</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zh-TW" altLang="en-US" noProof="0"/>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noProof="0"/>
              <a:t>按一下以編輯母片文字樣式</a:t>
            </a:r>
          </a:p>
          <a:p>
            <a:pPr lvl="1"/>
            <a:r>
              <a:rPr lang="zh-TW" altLang="en-US" noProof="0"/>
              <a:t>第二層</a:t>
            </a:r>
          </a:p>
          <a:p>
            <a:pPr lvl="2"/>
            <a:r>
              <a:rPr lang="zh-TW" altLang="en-US" noProof="0"/>
              <a:t>第三層</a:t>
            </a:r>
          </a:p>
          <a:p>
            <a:pPr lvl="3"/>
            <a:r>
              <a:rPr lang="zh-TW" altLang="en-US" noProof="0"/>
              <a:t>第四層</a:t>
            </a:r>
          </a:p>
          <a:p>
            <a:pPr lvl="4"/>
            <a:r>
              <a:rPr lang="zh-TW" altLang="en-US" noProof="0"/>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smtClean="0"/>
            </a:lvl1pPr>
          </a:lstStyle>
          <a:p>
            <a:pPr>
              <a:defRPr/>
            </a:pPr>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smtClean="0"/>
            </a:lvl1pPr>
          </a:lstStyle>
          <a:p>
            <a:pPr>
              <a:defRPr/>
            </a:pPr>
            <a:fld id="{96D86CCB-8F76-4AE6-907E-95309338C679}" type="slidenum">
              <a:rPr lang="zh-TW" altLang="en-US"/>
              <a:pPr>
                <a:defRPr/>
              </a:pPr>
              <a:t>‹#›</a:t>
            </a:fld>
            <a:endParaRPr lang="zh-TW" altLang="en-US"/>
          </a:p>
        </p:txBody>
      </p:sp>
    </p:spTree>
    <p:extLst>
      <p:ext uri="{BB962C8B-B14F-4D97-AF65-F5344CB8AC3E}">
        <p14:creationId xmlns:p14="http://schemas.microsoft.com/office/powerpoint/2010/main" val="286036899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投影片圖像版面配置區 1"/>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備忘稿版面配置區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TW" altLang="en-US"/>
          </a:p>
        </p:txBody>
      </p:sp>
      <p:sp>
        <p:nvSpPr>
          <p:cNvPr id="6148" name="投影片編號版面配置區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8B72CC4A-8A72-4F63-9AC3-CC57A94DDDA4}" type="slidenum">
              <a:rPr lang="zh-TW" altLang="en-US"/>
              <a:pPr/>
              <a:t>1</a:t>
            </a:fld>
            <a:endParaRPr lang="zh-TW" altLang="en-US"/>
          </a:p>
        </p:txBody>
      </p:sp>
    </p:spTree>
    <p:extLst>
      <p:ext uri="{BB962C8B-B14F-4D97-AF65-F5344CB8AC3E}">
        <p14:creationId xmlns:p14="http://schemas.microsoft.com/office/powerpoint/2010/main" val="22371499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pPr>
              <a:defRPr/>
            </a:pPr>
            <a:fld id="{96D86CCB-8F76-4AE6-907E-95309338C679}" type="slidenum">
              <a:rPr lang="zh-TW" altLang="en-US" smtClean="0"/>
              <a:pPr>
                <a:defRPr/>
              </a:pPr>
              <a:t>3</a:t>
            </a:fld>
            <a:endParaRPr lang="zh-TW" altLang="en-US"/>
          </a:p>
        </p:txBody>
      </p:sp>
    </p:spTree>
    <p:extLst>
      <p:ext uri="{BB962C8B-B14F-4D97-AF65-F5344CB8AC3E}">
        <p14:creationId xmlns:p14="http://schemas.microsoft.com/office/powerpoint/2010/main" val="20265388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pPr>
              <a:defRPr/>
            </a:pPr>
            <a:fld id="{96D86CCB-8F76-4AE6-907E-95309338C679}" type="slidenum">
              <a:rPr lang="zh-TW" altLang="en-US" smtClean="0"/>
              <a:pPr>
                <a:defRPr/>
              </a:pPr>
              <a:t>5</a:t>
            </a:fld>
            <a:endParaRPr lang="zh-TW" altLang="en-US"/>
          </a:p>
        </p:txBody>
      </p:sp>
    </p:spTree>
    <p:extLst>
      <p:ext uri="{BB962C8B-B14F-4D97-AF65-F5344CB8AC3E}">
        <p14:creationId xmlns:p14="http://schemas.microsoft.com/office/powerpoint/2010/main" val="3944904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pPr>
              <a:defRPr/>
            </a:pPr>
            <a:fld id="{96D86CCB-8F76-4AE6-907E-95309338C679}" type="slidenum">
              <a:rPr lang="zh-TW" altLang="en-US" smtClean="0"/>
              <a:pPr>
                <a:defRPr/>
              </a:pPr>
              <a:t>6</a:t>
            </a:fld>
            <a:endParaRPr lang="zh-TW" altLang="en-US"/>
          </a:p>
        </p:txBody>
      </p:sp>
    </p:spTree>
    <p:extLst>
      <p:ext uri="{BB962C8B-B14F-4D97-AF65-F5344CB8AC3E}">
        <p14:creationId xmlns:p14="http://schemas.microsoft.com/office/powerpoint/2010/main" val="24112900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96D86CCB-8F76-4AE6-907E-95309338C679}" type="slidenum">
              <a:rPr kumimoji="1" lang="zh-TW" altLang="en-US" sz="1200" b="0" i="0" u="none" strike="noStrike" kern="1200" cap="none" spc="0" normalizeH="0" baseline="0" noProof="0" smtClean="0">
                <a:ln>
                  <a:noFill/>
                </a:ln>
                <a:solidFill>
                  <a:prstClr val="black"/>
                </a:solidFill>
                <a:effectLst/>
                <a:uLnTx/>
                <a:uFillTx/>
                <a:latin typeface="Arial" panose="020B0604020202020204" pitchFamily="34" charset="0"/>
                <a:ea typeface="新細明體" panose="02020500000000000000" pitchFamily="18" charset="-120"/>
                <a:cs typeface="+mn-cs"/>
              </a:rPr>
              <a:pPr marL="0" marR="0" lvl="0" indent="0" algn="r" defTabSz="914400" rtl="0" eaLnBrk="0" fontAlgn="base" latinLnBrk="0" hangingPunct="0">
                <a:lnSpc>
                  <a:spcPct val="100000"/>
                </a:lnSpc>
                <a:spcBef>
                  <a:spcPct val="0"/>
                </a:spcBef>
                <a:spcAft>
                  <a:spcPct val="0"/>
                </a:spcAft>
                <a:buClrTx/>
                <a:buSzTx/>
                <a:buFontTx/>
                <a:buNone/>
                <a:tabLst/>
                <a:defRPr/>
              </a:pPr>
              <a:t>7</a:t>
            </a:fld>
            <a:endParaRPr kumimoji="1" lang="zh-TW" altLang="en-US" sz="1200" b="0" i="0" u="none" strike="noStrike" kern="1200" cap="none" spc="0" normalizeH="0" baseline="0" noProof="0">
              <a:ln>
                <a:noFill/>
              </a:ln>
              <a:solidFill>
                <a:prstClr val="black"/>
              </a:solidFill>
              <a:effectLst/>
              <a:uLnTx/>
              <a:uFillTx/>
              <a:latin typeface="Arial" panose="020B0604020202020204" pitchFamily="34" charset="0"/>
              <a:ea typeface="新細明體" panose="02020500000000000000" pitchFamily="18" charset="-120"/>
              <a:cs typeface="+mn-cs"/>
            </a:endParaRPr>
          </a:p>
        </p:txBody>
      </p:sp>
    </p:spTree>
    <p:extLst>
      <p:ext uri="{BB962C8B-B14F-4D97-AF65-F5344CB8AC3E}">
        <p14:creationId xmlns:p14="http://schemas.microsoft.com/office/powerpoint/2010/main" val="36261334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pPr>
              <a:defRPr/>
            </a:pPr>
            <a:fld id="{96D86CCB-8F76-4AE6-907E-95309338C679}" type="slidenum">
              <a:rPr lang="zh-TW" altLang="en-US" smtClean="0"/>
              <a:pPr>
                <a:defRPr/>
              </a:pPr>
              <a:t>8</a:t>
            </a:fld>
            <a:endParaRPr lang="zh-TW" altLang="en-US"/>
          </a:p>
        </p:txBody>
      </p:sp>
    </p:spTree>
    <p:extLst>
      <p:ext uri="{BB962C8B-B14F-4D97-AF65-F5344CB8AC3E}">
        <p14:creationId xmlns:p14="http://schemas.microsoft.com/office/powerpoint/2010/main" val="65033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pPr>
              <a:defRPr/>
            </a:pPr>
            <a:fld id="{96D86CCB-8F76-4AE6-907E-95309338C679}" type="slidenum">
              <a:rPr lang="zh-TW" altLang="en-US" smtClean="0"/>
              <a:pPr>
                <a:defRPr/>
              </a:pPr>
              <a:t>9</a:t>
            </a:fld>
            <a:endParaRPr lang="zh-TW" altLang="en-US"/>
          </a:p>
        </p:txBody>
      </p:sp>
    </p:spTree>
    <p:extLst>
      <p:ext uri="{BB962C8B-B14F-4D97-AF65-F5344CB8AC3E}">
        <p14:creationId xmlns:p14="http://schemas.microsoft.com/office/powerpoint/2010/main" val="2170602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pPr>
              <a:defRPr/>
            </a:pPr>
            <a:fld id="{96D86CCB-8F76-4AE6-907E-95309338C679}" type="slidenum">
              <a:rPr lang="zh-TW" altLang="en-US" smtClean="0"/>
              <a:pPr>
                <a:defRPr/>
              </a:pPr>
              <a:t>11</a:t>
            </a:fld>
            <a:endParaRPr lang="zh-TW" altLang="en-US"/>
          </a:p>
        </p:txBody>
      </p:sp>
    </p:spTree>
    <p:extLst>
      <p:ext uri="{BB962C8B-B14F-4D97-AF65-F5344CB8AC3E}">
        <p14:creationId xmlns:p14="http://schemas.microsoft.com/office/powerpoint/2010/main" val="18475275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pPr>
              <a:defRPr/>
            </a:pPr>
            <a:fld id="{96D86CCB-8F76-4AE6-907E-95309338C679}" type="slidenum">
              <a:rPr lang="zh-TW" altLang="en-US" smtClean="0"/>
              <a:pPr>
                <a:defRPr/>
              </a:pPr>
              <a:t>12</a:t>
            </a:fld>
            <a:endParaRPr lang="zh-TW" altLang="en-US"/>
          </a:p>
        </p:txBody>
      </p:sp>
    </p:spTree>
    <p:extLst>
      <p:ext uri="{BB962C8B-B14F-4D97-AF65-F5344CB8AC3E}">
        <p14:creationId xmlns:p14="http://schemas.microsoft.com/office/powerpoint/2010/main" val="10845514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標題投影片">
    <p:spTree>
      <p:nvGrpSpPr>
        <p:cNvPr id="1" name=""/>
        <p:cNvGrpSpPr/>
        <p:nvPr/>
      </p:nvGrpSpPr>
      <p:grpSpPr>
        <a:xfrm>
          <a:off x="0" y="0"/>
          <a:ext cx="0" cy="0"/>
          <a:chOff x="0" y="0"/>
          <a:chExt cx="0" cy="0"/>
        </a:xfrm>
      </p:grpSpPr>
      <p:pic>
        <p:nvPicPr>
          <p:cNvPr id="20" name="Picture 57" descr="E版"/>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305802" y="2991902"/>
            <a:ext cx="3886200" cy="3866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42"/>
          <p:cNvSpPr>
            <a:spLocks noChangeArrowheads="1"/>
          </p:cNvSpPr>
          <p:nvPr userDrawn="1"/>
        </p:nvSpPr>
        <p:spPr bwMode="auto">
          <a:xfrm>
            <a:off x="-1" y="6618288"/>
            <a:ext cx="12192000" cy="239712"/>
          </a:xfrm>
          <a:prstGeom prst="rect">
            <a:avLst/>
          </a:prstGeom>
          <a:solidFill>
            <a:srgbClr val="00B2B3"/>
          </a:solidFill>
          <a:ln>
            <a:noFill/>
          </a:ln>
        </p:spPr>
        <p:txBody>
          <a:bodyPr wrap="none" anchor="ctr"/>
          <a:lstStyle>
            <a:defPPr>
              <a:defRPr lang="zh-TW"/>
            </a:defPPr>
            <a:lvl1pPr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1pPr>
            <a:lvl2pPr marL="4572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2pPr>
            <a:lvl3pPr marL="9144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3pPr>
            <a:lvl4pPr marL="13716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4pPr>
            <a:lvl5pPr marL="18288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5pPr>
            <a:lvl6pPr marL="22860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6pPr>
            <a:lvl7pPr marL="27432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7pPr>
            <a:lvl8pPr marL="32004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8pPr>
            <a:lvl9pPr marL="36576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9pPr>
          </a:lstStyle>
          <a:p>
            <a:pPr eaLnBrk="1" hangingPunct="1">
              <a:defRPr/>
            </a:pPr>
            <a:endParaRPr lang="zh-TW" altLang="en-US"/>
          </a:p>
        </p:txBody>
      </p:sp>
      <p:pic>
        <p:nvPicPr>
          <p:cNvPr id="11" name="Picture 26" descr="itri_CEL_A_W"/>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58851" y="579438"/>
            <a:ext cx="3328988" cy="1042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21"/>
          <p:cNvSpPr>
            <a:spLocks noGrp="1" noChangeArrowheads="1"/>
          </p:cNvSpPr>
          <p:nvPr>
            <p:ph type="ctrTitle" hasCustomPrompt="1"/>
          </p:nvPr>
        </p:nvSpPr>
        <p:spPr>
          <a:xfrm>
            <a:off x="836698" y="2584703"/>
            <a:ext cx="6596065" cy="1219201"/>
          </a:xfrm>
        </p:spPr>
        <p:txBody>
          <a:bodyPr anchor="t" anchorCtr="0"/>
          <a:lstStyle>
            <a:lvl1pPr>
              <a:defRPr sz="4400" b="1">
                <a:solidFill>
                  <a:srgbClr val="00B2B3"/>
                </a:solidFill>
              </a:defRPr>
            </a:lvl1pPr>
          </a:lstStyle>
          <a:p>
            <a:r>
              <a:rPr lang="zh-TW" altLang="en-US" dirty="0"/>
              <a:t>簡報標題</a:t>
            </a:r>
          </a:p>
        </p:txBody>
      </p:sp>
      <p:sp>
        <p:nvSpPr>
          <p:cNvPr id="14" name="Rectangle 22"/>
          <p:cNvSpPr>
            <a:spLocks noGrp="1" noChangeArrowheads="1"/>
          </p:cNvSpPr>
          <p:nvPr>
            <p:ph type="subTitle" idx="1" hasCustomPrompt="1"/>
          </p:nvPr>
        </p:nvSpPr>
        <p:spPr>
          <a:xfrm>
            <a:off x="853791" y="5059680"/>
            <a:ext cx="6770872" cy="755904"/>
          </a:xfrm>
        </p:spPr>
        <p:txBody>
          <a:bodyPr anchor="b" anchorCtr="0"/>
          <a:lstStyle>
            <a:lvl1pPr marL="0" indent="0" eaLnBrk="1" hangingPunct="1">
              <a:lnSpc>
                <a:spcPct val="80000"/>
              </a:lnSpc>
              <a:spcBef>
                <a:spcPct val="0"/>
              </a:spcBef>
              <a:buFontTx/>
              <a:buNone/>
              <a:defRPr sz="2000">
                <a:solidFill>
                  <a:schemeClr val="tx1"/>
                </a:solidFill>
                <a:latin typeface="+mn-ea"/>
                <a:ea typeface="+mn-ea"/>
              </a:defRPr>
            </a:lvl1pPr>
          </a:lstStyle>
          <a:p>
            <a:pPr eaLnBrk="1" hangingPunct="1">
              <a:lnSpc>
                <a:spcPct val="80000"/>
              </a:lnSpc>
              <a:spcBef>
                <a:spcPct val="0"/>
              </a:spcBef>
              <a:buFontTx/>
              <a:buNone/>
            </a:pPr>
            <a:r>
              <a:rPr lang="zh-TW" altLang="en-US" sz="2000" dirty="0"/>
              <a:t>簡報單位 簡報人名稱</a:t>
            </a:r>
            <a:r>
              <a:rPr lang="en-US" altLang="zh-TW" sz="2000" dirty="0"/>
              <a:t> </a:t>
            </a:r>
            <a:r>
              <a:rPr lang="zh-TW" altLang="en-US" sz="2000" dirty="0"/>
              <a:t>職稱</a:t>
            </a:r>
            <a:endParaRPr lang="en-US" altLang="zh-TW" sz="2000" dirty="0"/>
          </a:p>
        </p:txBody>
      </p:sp>
      <p:sp>
        <p:nvSpPr>
          <p:cNvPr id="17" name="投影片編號版面配置區 3"/>
          <p:cNvSpPr>
            <a:spLocks noGrp="1"/>
          </p:cNvSpPr>
          <p:nvPr>
            <p:ph type="sldNum" sz="quarter" idx="11"/>
          </p:nvPr>
        </p:nvSpPr>
        <p:spPr>
          <a:xfrm>
            <a:off x="11614808" y="6619875"/>
            <a:ext cx="571500" cy="238125"/>
          </a:xfrm>
        </p:spPr>
        <p:txBody>
          <a:bodyPr/>
          <a:lstStyle/>
          <a:p>
            <a:pPr>
              <a:defRPr/>
            </a:pPr>
            <a:fld id="{1A71FFAD-F905-4792-971B-681FA4F61CA8}" type="slidenum">
              <a:rPr lang="en-US" altLang="zh-TW" smtClean="0"/>
              <a:pPr>
                <a:defRPr/>
              </a:pPr>
              <a:t>‹#›</a:t>
            </a:fld>
            <a:endParaRPr lang="en-US" altLang="zh-TW"/>
          </a:p>
        </p:txBody>
      </p:sp>
      <p:sp>
        <p:nvSpPr>
          <p:cNvPr id="18" name="文字版面配置區 8"/>
          <p:cNvSpPr>
            <a:spLocks noGrp="1"/>
          </p:cNvSpPr>
          <p:nvPr>
            <p:ph type="body" sz="quarter" idx="12" hasCustomPrompt="1"/>
          </p:nvPr>
        </p:nvSpPr>
        <p:spPr>
          <a:xfrm>
            <a:off x="853790" y="5902262"/>
            <a:ext cx="2788603" cy="432303"/>
          </a:xfrm>
        </p:spPr>
        <p:txBody>
          <a:bodyPr/>
          <a:lstStyle>
            <a:lvl1pPr marL="0" indent="0">
              <a:buNone/>
              <a:defRPr sz="1600"/>
            </a:lvl1pPr>
          </a:lstStyle>
          <a:p>
            <a:pPr lvl="0"/>
            <a:r>
              <a:rPr lang="zh-TW" altLang="en-US" dirty="0"/>
              <a:t>簡報日期</a:t>
            </a:r>
          </a:p>
        </p:txBody>
      </p:sp>
      <p:pic>
        <p:nvPicPr>
          <p:cNvPr id="13" name="圖片 12"/>
          <p:cNvPicPr>
            <a:picLocks noChangeAspect="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1282365" y="254786"/>
            <a:ext cx="682734" cy="310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 Box 48"/>
          <p:cNvSpPr txBox="1">
            <a:spLocks noChangeArrowheads="1"/>
          </p:cNvSpPr>
          <p:nvPr userDrawn="1"/>
        </p:nvSpPr>
        <p:spPr bwMode="auto">
          <a:xfrm>
            <a:off x="-11500" y="6610192"/>
            <a:ext cx="712191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TW"/>
            </a:defPPr>
            <a:lvl1pPr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1pPr>
            <a:lvl2pPr marL="4572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2pPr>
            <a:lvl3pPr marL="9144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3pPr>
            <a:lvl4pPr marL="13716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4pPr>
            <a:lvl5pPr marL="18288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5pPr>
            <a:lvl6pPr marL="22860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6pPr>
            <a:lvl7pPr marL="27432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7pPr>
            <a:lvl8pPr marL="32004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8pPr>
            <a:lvl9pPr marL="36576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9pPr>
          </a:lstStyle>
          <a:p>
            <a:pPr algn="l"/>
            <a:r>
              <a:rPr lang="zh-TW" altLang="en-US" sz="1000" dirty="0">
                <a:solidFill>
                  <a:schemeClr val="bg1"/>
                </a:solidFill>
                <a:latin typeface="+mj-ea"/>
                <a:ea typeface="+mj-ea"/>
              </a:rPr>
              <a:t>工業技術研究院機密資料 禁止複製、轉載、外流 </a:t>
            </a:r>
            <a:r>
              <a:rPr lang="en-US" altLang="zh-TW" sz="1000" dirty="0">
                <a:solidFill>
                  <a:schemeClr val="bg1"/>
                </a:solidFill>
                <a:latin typeface="+mj-ea"/>
                <a:ea typeface="+mj-ea"/>
              </a:rPr>
              <a:t>ITRI CONFIDENTIAL DOCUMENT DO NOT COPY OR DISTRIBUTE</a:t>
            </a:r>
          </a:p>
        </p:txBody>
      </p:sp>
    </p:spTree>
    <p:extLst>
      <p:ext uri="{BB962C8B-B14F-4D97-AF65-F5344CB8AC3E}">
        <p14:creationId xmlns:p14="http://schemas.microsoft.com/office/powerpoint/2010/main" val="27332544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36666179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a:xfrm>
            <a:off x="609601" y="1439864"/>
            <a:ext cx="7981506" cy="4757737"/>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圖片版面配置區 2"/>
          <p:cNvSpPr>
            <a:spLocks noGrp="1"/>
          </p:cNvSpPr>
          <p:nvPr>
            <p:ph type="pic" idx="11"/>
          </p:nvPr>
        </p:nvSpPr>
        <p:spPr>
          <a:xfrm>
            <a:off x="8825023" y="1439864"/>
            <a:ext cx="2822033" cy="475773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dirty="0"/>
          </a:p>
        </p:txBody>
      </p:sp>
    </p:spTree>
    <p:extLst>
      <p:ext uri="{BB962C8B-B14F-4D97-AF65-F5344CB8AC3E}">
        <p14:creationId xmlns:p14="http://schemas.microsoft.com/office/powerpoint/2010/main" val="29276379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a:xfrm>
            <a:off x="609600" y="1439865"/>
            <a:ext cx="11037455" cy="28556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圖片版面配置區 2"/>
          <p:cNvSpPr>
            <a:spLocks noGrp="1"/>
          </p:cNvSpPr>
          <p:nvPr>
            <p:ph type="pic" idx="11"/>
          </p:nvPr>
        </p:nvSpPr>
        <p:spPr>
          <a:xfrm>
            <a:off x="609601" y="4444409"/>
            <a:ext cx="11037456" cy="1753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dirty="0"/>
          </a:p>
        </p:txBody>
      </p:sp>
    </p:spTree>
    <p:extLst>
      <p:ext uri="{BB962C8B-B14F-4D97-AF65-F5344CB8AC3E}">
        <p14:creationId xmlns:p14="http://schemas.microsoft.com/office/powerpoint/2010/main" val="18538828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區段標題">
    <p:spTree>
      <p:nvGrpSpPr>
        <p:cNvPr id="1" name=""/>
        <p:cNvGrpSpPr/>
        <p:nvPr/>
      </p:nvGrpSpPr>
      <p:grpSpPr>
        <a:xfrm>
          <a:off x="0" y="0"/>
          <a:ext cx="0" cy="0"/>
          <a:chOff x="0" y="0"/>
          <a:chExt cx="0" cy="0"/>
        </a:xfrm>
      </p:grpSpPr>
      <p:sp>
        <p:nvSpPr>
          <p:cNvPr id="10" name="投影片編號版面配置區 9"/>
          <p:cNvSpPr>
            <a:spLocks noGrp="1"/>
          </p:cNvSpPr>
          <p:nvPr>
            <p:ph type="sldNum" sz="quarter" idx="10"/>
          </p:nvPr>
        </p:nvSpPr>
        <p:spPr/>
        <p:txBody>
          <a:bodyPr/>
          <a:lstStyle/>
          <a:p>
            <a:pPr>
              <a:defRPr/>
            </a:pPr>
            <a:fld id="{1A71FFAD-F905-4792-971B-681FA4F61CA8}" type="slidenum">
              <a:rPr lang="en-US" altLang="zh-TW" smtClean="0"/>
              <a:pPr>
                <a:defRPr/>
              </a:pPr>
              <a:t>‹#›</a:t>
            </a:fld>
            <a:endParaRPr lang="en-US" altLang="zh-TW"/>
          </a:p>
        </p:txBody>
      </p:sp>
      <p:sp>
        <p:nvSpPr>
          <p:cNvPr id="11" name="標題 1"/>
          <p:cNvSpPr>
            <a:spLocks noGrp="1"/>
          </p:cNvSpPr>
          <p:nvPr>
            <p:ph type="ctrTitle"/>
          </p:nvPr>
        </p:nvSpPr>
        <p:spPr>
          <a:xfrm>
            <a:off x="2174355" y="2564904"/>
            <a:ext cx="7772400" cy="1035546"/>
          </a:xfrm>
        </p:spPr>
        <p:txBody>
          <a:bodyPr anchor="t" anchorCtr="0">
            <a:noAutofit/>
          </a:bodyPr>
          <a:lstStyle>
            <a:lvl1pPr algn="ctr">
              <a:defRPr/>
            </a:lvl1pPr>
          </a:lstStyle>
          <a:p>
            <a:r>
              <a:rPr lang="zh-TW" altLang="en-US" dirty="0"/>
              <a:t>按一下以編輯母片標題樣式</a:t>
            </a:r>
          </a:p>
        </p:txBody>
      </p:sp>
      <p:sp>
        <p:nvSpPr>
          <p:cNvPr id="12" name="副標題 2"/>
          <p:cNvSpPr>
            <a:spLocks noGrp="1"/>
          </p:cNvSpPr>
          <p:nvPr>
            <p:ph type="subTitle" idx="1"/>
          </p:nvPr>
        </p:nvSpPr>
        <p:spPr>
          <a:xfrm>
            <a:off x="2860155"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Tree>
    <p:extLst>
      <p:ext uri="{BB962C8B-B14F-4D97-AF65-F5344CB8AC3E}">
        <p14:creationId xmlns:p14="http://schemas.microsoft.com/office/powerpoint/2010/main" val="3176121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1_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963084" y="4406903"/>
            <a:ext cx="103632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a:t>按一下以編輯母片文字樣式</a:t>
            </a:r>
          </a:p>
        </p:txBody>
      </p:sp>
      <p:sp>
        <p:nvSpPr>
          <p:cNvPr id="10" name="投影片編號版面配置區 9"/>
          <p:cNvSpPr>
            <a:spLocks noGrp="1"/>
          </p:cNvSpPr>
          <p:nvPr>
            <p:ph type="sldNum" sz="quarter" idx="10"/>
          </p:nvPr>
        </p:nvSpPr>
        <p:spPr/>
        <p:txBody>
          <a:bodyPr/>
          <a:lstStyle/>
          <a:p>
            <a:pPr>
              <a:defRPr/>
            </a:pPr>
            <a:fld id="{1A71FFAD-F905-4792-971B-681FA4F61CA8}" type="slidenum">
              <a:rPr lang="en-US" altLang="zh-TW" smtClean="0"/>
              <a:pPr>
                <a:defRPr/>
              </a:pPr>
              <a:t>‹#›</a:t>
            </a:fld>
            <a:endParaRPr lang="en-US" altLang="zh-TW"/>
          </a:p>
        </p:txBody>
      </p:sp>
    </p:spTree>
    <p:extLst>
      <p:ext uri="{BB962C8B-B14F-4D97-AF65-F5344CB8AC3E}">
        <p14:creationId xmlns:p14="http://schemas.microsoft.com/office/powerpoint/2010/main" val="33115044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609602" y="1439864"/>
            <a:ext cx="5473700" cy="47577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286502" y="1439864"/>
            <a:ext cx="5475817" cy="47577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8" name="投影片編號版面配置區 7"/>
          <p:cNvSpPr>
            <a:spLocks noGrp="1"/>
          </p:cNvSpPr>
          <p:nvPr>
            <p:ph type="sldNum" sz="quarter" idx="10"/>
          </p:nvPr>
        </p:nvSpPr>
        <p:spPr/>
        <p:txBody>
          <a:bodyPr/>
          <a:lstStyle/>
          <a:p>
            <a:pPr>
              <a:defRPr/>
            </a:pPr>
            <a:fld id="{1A71FFAD-F905-4792-971B-681FA4F61CA8}" type="slidenum">
              <a:rPr lang="en-US" altLang="zh-TW" smtClean="0"/>
              <a:pPr>
                <a:defRPr/>
              </a:pPr>
              <a:t>‹#›</a:t>
            </a:fld>
            <a:endParaRPr lang="en-US" altLang="zh-TW"/>
          </a:p>
        </p:txBody>
      </p:sp>
    </p:spTree>
    <p:extLst>
      <p:ext uri="{BB962C8B-B14F-4D97-AF65-F5344CB8AC3E}">
        <p14:creationId xmlns:p14="http://schemas.microsoft.com/office/powerpoint/2010/main" val="21854547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609600" y="274638"/>
            <a:ext cx="10972800" cy="1143000"/>
          </a:xfrm>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10" name="投影片編號版面配置區 9"/>
          <p:cNvSpPr>
            <a:spLocks noGrp="1"/>
          </p:cNvSpPr>
          <p:nvPr>
            <p:ph type="sldNum" sz="quarter" idx="10"/>
          </p:nvPr>
        </p:nvSpPr>
        <p:spPr/>
        <p:txBody>
          <a:bodyPr/>
          <a:lstStyle/>
          <a:p>
            <a:pPr>
              <a:defRPr/>
            </a:pPr>
            <a:fld id="{1A71FFAD-F905-4792-971B-681FA4F61CA8}" type="slidenum">
              <a:rPr lang="en-US" altLang="zh-TW" smtClean="0"/>
              <a:pPr>
                <a:defRPr/>
              </a:pPr>
              <a:t>‹#›</a:t>
            </a:fld>
            <a:endParaRPr lang="en-US" altLang="zh-TW"/>
          </a:p>
        </p:txBody>
      </p:sp>
    </p:spTree>
    <p:extLst>
      <p:ext uri="{BB962C8B-B14F-4D97-AF65-F5344CB8AC3E}">
        <p14:creationId xmlns:p14="http://schemas.microsoft.com/office/powerpoint/2010/main" val="42001094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6" name="投影片編號版面配置區 5"/>
          <p:cNvSpPr>
            <a:spLocks noGrp="1"/>
          </p:cNvSpPr>
          <p:nvPr>
            <p:ph type="sldNum" sz="quarter" idx="10"/>
          </p:nvPr>
        </p:nvSpPr>
        <p:spPr/>
        <p:txBody>
          <a:bodyPr/>
          <a:lstStyle/>
          <a:p>
            <a:pPr>
              <a:defRPr/>
            </a:pPr>
            <a:fld id="{1A71FFAD-F905-4792-971B-681FA4F61CA8}" type="slidenum">
              <a:rPr lang="en-US" altLang="zh-TW" smtClean="0"/>
              <a:pPr>
                <a:defRPr/>
              </a:pPr>
              <a:t>‹#›</a:t>
            </a:fld>
            <a:endParaRPr lang="en-US" altLang="zh-TW"/>
          </a:p>
        </p:txBody>
      </p:sp>
    </p:spTree>
    <p:extLst>
      <p:ext uri="{BB962C8B-B14F-4D97-AF65-F5344CB8AC3E}">
        <p14:creationId xmlns:p14="http://schemas.microsoft.com/office/powerpoint/2010/main" val="5064379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投影片編號版面配置區 4"/>
          <p:cNvSpPr>
            <a:spLocks noGrp="1"/>
          </p:cNvSpPr>
          <p:nvPr>
            <p:ph type="sldNum" sz="quarter" idx="10"/>
          </p:nvPr>
        </p:nvSpPr>
        <p:spPr/>
        <p:txBody>
          <a:bodyPr/>
          <a:lstStyle/>
          <a:p>
            <a:pPr>
              <a:defRPr/>
            </a:pPr>
            <a:fld id="{1A71FFAD-F905-4792-971B-681FA4F61CA8}" type="slidenum">
              <a:rPr lang="en-US" altLang="zh-TW" smtClean="0"/>
              <a:pPr>
                <a:defRPr/>
              </a:pPr>
              <a:t>‹#›</a:t>
            </a:fld>
            <a:endParaRPr lang="en-US" altLang="zh-TW"/>
          </a:p>
        </p:txBody>
      </p:sp>
    </p:spTree>
    <p:extLst>
      <p:ext uri="{BB962C8B-B14F-4D97-AF65-F5344CB8AC3E}">
        <p14:creationId xmlns:p14="http://schemas.microsoft.com/office/powerpoint/2010/main" val="13337204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09602" y="273050"/>
            <a:ext cx="4011084"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8" name="投影片編號版面配置區 7"/>
          <p:cNvSpPr>
            <a:spLocks noGrp="1"/>
          </p:cNvSpPr>
          <p:nvPr>
            <p:ph type="sldNum" sz="quarter" idx="10"/>
          </p:nvPr>
        </p:nvSpPr>
        <p:spPr/>
        <p:txBody>
          <a:bodyPr/>
          <a:lstStyle/>
          <a:p>
            <a:pPr>
              <a:defRPr/>
            </a:pPr>
            <a:fld id="{1A71FFAD-F905-4792-971B-681FA4F61CA8}" type="slidenum">
              <a:rPr lang="en-US" altLang="zh-TW" smtClean="0"/>
              <a:pPr>
                <a:defRPr/>
              </a:pPr>
              <a:t>‹#›</a:t>
            </a:fld>
            <a:endParaRPr lang="en-US" altLang="zh-TW"/>
          </a:p>
        </p:txBody>
      </p:sp>
    </p:spTree>
    <p:extLst>
      <p:ext uri="{BB962C8B-B14F-4D97-AF65-F5344CB8AC3E}">
        <p14:creationId xmlns:p14="http://schemas.microsoft.com/office/powerpoint/2010/main" val="643117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389717" y="4800600"/>
            <a:ext cx="73152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a:p>
        </p:txBody>
      </p:sp>
      <p:sp>
        <p:nvSpPr>
          <p:cNvPr id="4" name="文字版面配置區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8" name="投影片編號版面配置區 7"/>
          <p:cNvSpPr>
            <a:spLocks noGrp="1"/>
          </p:cNvSpPr>
          <p:nvPr>
            <p:ph type="sldNum" sz="quarter" idx="10"/>
          </p:nvPr>
        </p:nvSpPr>
        <p:spPr/>
        <p:txBody>
          <a:bodyPr/>
          <a:lstStyle/>
          <a:p>
            <a:pPr>
              <a:defRPr/>
            </a:pPr>
            <a:fld id="{1A71FFAD-F905-4792-971B-681FA4F61CA8}" type="slidenum">
              <a:rPr lang="en-US" altLang="zh-TW" smtClean="0"/>
              <a:pPr>
                <a:defRPr/>
              </a:pPr>
              <a:t>‹#›</a:t>
            </a:fld>
            <a:endParaRPr lang="en-US" altLang="zh-TW"/>
          </a:p>
        </p:txBody>
      </p:sp>
    </p:spTree>
    <p:extLst>
      <p:ext uri="{BB962C8B-B14F-4D97-AF65-F5344CB8AC3E}">
        <p14:creationId xmlns:p14="http://schemas.microsoft.com/office/powerpoint/2010/main" val="16028555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投影片編號版面配置區 6"/>
          <p:cNvSpPr>
            <a:spLocks noGrp="1"/>
          </p:cNvSpPr>
          <p:nvPr>
            <p:ph type="sldNum" sz="quarter" idx="10"/>
          </p:nvPr>
        </p:nvSpPr>
        <p:spPr/>
        <p:txBody>
          <a:bodyPr/>
          <a:lstStyle/>
          <a:p>
            <a:pPr>
              <a:defRPr/>
            </a:pPr>
            <a:fld id="{1A71FFAD-F905-4792-971B-681FA4F61CA8}" type="slidenum">
              <a:rPr lang="en-US" altLang="zh-TW" smtClean="0"/>
              <a:pPr>
                <a:defRPr/>
              </a:pPr>
              <a:t>‹#›</a:t>
            </a:fld>
            <a:endParaRPr lang="en-US" altLang="zh-TW"/>
          </a:p>
        </p:txBody>
      </p:sp>
    </p:spTree>
    <p:extLst>
      <p:ext uri="{BB962C8B-B14F-4D97-AF65-F5344CB8AC3E}">
        <p14:creationId xmlns:p14="http://schemas.microsoft.com/office/powerpoint/2010/main" val="30451948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972553" y="425301"/>
            <a:ext cx="2789767" cy="5665973"/>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601136" y="425301"/>
            <a:ext cx="8168217" cy="5665973"/>
          </a:xfrm>
        </p:spPr>
        <p:txBody>
          <a:bodyPr vert="eaVert"/>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7" name="投影片編號版面配置區 6"/>
          <p:cNvSpPr>
            <a:spLocks noGrp="1"/>
          </p:cNvSpPr>
          <p:nvPr>
            <p:ph type="sldNum" sz="quarter" idx="10"/>
          </p:nvPr>
        </p:nvSpPr>
        <p:spPr/>
        <p:txBody>
          <a:bodyPr/>
          <a:lstStyle/>
          <a:p>
            <a:pPr>
              <a:defRPr/>
            </a:pPr>
            <a:fld id="{1A71FFAD-F905-4792-971B-681FA4F61CA8}" type="slidenum">
              <a:rPr lang="en-US" altLang="zh-TW" smtClean="0"/>
              <a:pPr>
                <a:defRPr/>
              </a:pPr>
              <a:t>‹#›</a:t>
            </a:fld>
            <a:endParaRPr lang="en-US" altLang="zh-TW"/>
          </a:p>
        </p:txBody>
      </p:sp>
    </p:spTree>
    <p:extLst>
      <p:ext uri="{BB962C8B-B14F-4D97-AF65-F5344CB8AC3E}">
        <p14:creationId xmlns:p14="http://schemas.microsoft.com/office/powerpoint/2010/main" val="6465464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jpeg"/><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5" name="Rectangle 42"/>
          <p:cNvSpPr>
            <a:spLocks noChangeArrowheads="1"/>
          </p:cNvSpPr>
          <p:nvPr userDrawn="1"/>
        </p:nvSpPr>
        <p:spPr bwMode="auto">
          <a:xfrm>
            <a:off x="0" y="6618288"/>
            <a:ext cx="12192000" cy="239712"/>
          </a:xfrm>
          <a:prstGeom prst="rect">
            <a:avLst/>
          </a:prstGeom>
          <a:solidFill>
            <a:srgbClr val="00B2B3"/>
          </a:solidFill>
          <a:ln>
            <a:noFill/>
          </a:ln>
        </p:spPr>
        <p:txBody>
          <a:bodyPr wrap="none" anchor="ctr"/>
          <a:lstStyle>
            <a:lvl1pPr algn="ctr">
              <a:defRPr kumimoji="1">
                <a:solidFill>
                  <a:schemeClr val="tx1"/>
                </a:solidFill>
                <a:latin typeface="Arial" panose="020B0604020202020204" pitchFamily="34" charset="0"/>
                <a:ea typeface="新細明體" panose="02020500000000000000" pitchFamily="18" charset="-120"/>
              </a:defRPr>
            </a:lvl1pPr>
            <a:lvl2pPr marL="742950" indent="-285750" algn="ctr">
              <a:defRPr kumimoji="1">
                <a:solidFill>
                  <a:schemeClr val="tx1"/>
                </a:solidFill>
                <a:latin typeface="Arial" panose="020B0604020202020204" pitchFamily="34" charset="0"/>
                <a:ea typeface="新細明體" panose="02020500000000000000" pitchFamily="18" charset="-120"/>
              </a:defRPr>
            </a:lvl2pPr>
            <a:lvl3pPr marL="1143000" indent="-228600" algn="ctr">
              <a:defRPr kumimoji="1">
                <a:solidFill>
                  <a:schemeClr val="tx1"/>
                </a:solidFill>
                <a:latin typeface="Arial" panose="020B0604020202020204" pitchFamily="34" charset="0"/>
                <a:ea typeface="新細明體" panose="02020500000000000000" pitchFamily="18" charset="-120"/>
              </a:defRPr>
            </a:lvl3pPr>
            <a:lvl4pPr marL="1600200" indent="-228600" algn="ctr">
              <a:defRPr kumimoji="1">
                <a:solidFill>
                  <a:schemeClr val="tx1"/>
                </a:solidFill>
                <a:latin typeface="Arial" panose="020B0604020202020204" pitchFamily="34" charset="0"/>
                <a:ea typeface="新細明體" panose="02020500000000000000" pitchFamily="18" charset="-120"/>
              </a:defRPr>
            </a:lvl4pPr>
            <a:lvl5pPr marL="2057400" indent="-228600" algn="ctr">
              <a:defRPr kumimoji="1">
                <a:solidFill>
                  <a:schemeClr val="tx1"/>
                </a:solidFill>
                <a:latin typeface="Arial" panose="020B0604020202020204" pitchFamily="34" charset="0"/>
                <a:ea typeface="新細明體" panose="02020500000000000000" pitchFamily="18" charset="-120"/>
              </a:defRPr>
            </a:lvl5pPr>
            <a:lvl6pPr marL="2514600" indent="-228600" algn="ctr"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algn="ctr"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algn="ctr"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algn="ctr"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defRPr/>
            </a:pPr>
            <a:endParaRPr lang="zh-TW" altLang="en-US"/>
          </a:p>
        </p:txBody>
      </p:sp>
      <p:sp>
        <p:nvSpPr>
          <p:cNvPr id="1027" name="Rectangle 43"/>
          <p:cNvSpPr>
            <a:spLocks noGrp="1" noChangeArrowheads="1"/>
          </p:cNvSpPr>
          <p:nvPr>
            <p:ph type="title"/>
          </p:nvPr>
        </p:nvSpPr>
        <p:spPr bwMode="auto">
          <a:xfrm>
            <a:off x="601133" y="264920"/>
            <a:ext cx="11045923" cy="941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dirty="0"/>
              <a:t>按一下以編輯母片標題樣式</a:t>
            </a:r>
          </a:p>
        </p:txBody>
      </p:sp>
      <p:sp>
        <p:nvSpPr>
          <p:cNvPr id="1028" name="Rectangle 44"/>
          <p:cNvSpPr>
            <a:spLocks noGrp="1" noChangeArrowheads="1"/>
          </p:cNvSpPr>
          <p:nvPr>
            <p:ph type="body" idx="1"/>
          </p:nvPr>
        </p:nvSpPr>
        <p:spPr bwMode="auto">
          <a:xfrm>
            <a:off x="609601" y="1439864"/>
            <a:ext cx="11037455" cy="475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29743" name="Rectangle 47"/>
          <p:cNvSpPr>
            <a:spLocks noGrp="1" noChangeArrowheads="1"/>
          </p:cNvSpPr>
          <p:nvPr>
            <p:ph type="sldNum" sz="quarter" idx="4"/>
          </p:nvPr>
        </p:nvSpPr>
        <p:spPr bwMode="auto">
          <a:xfrm>
            <a:off x="11430000" y="6619878"/>
            <a:ext cx="762000" cy="23812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eaLnBrk="1" fontAlgn="ctr" hangingPunct="1">
              <a:defRPr sz="1200">
                <a:solidFill>
                  <a:schemeClr val="bg1"/>
                </a:solidFill>
                <a:ea typeface="微軟正黑體" panose="020B0604030504040204" pitchFamily="34" charset="-120"/>
              </a:defRPr>
            </a:lvl1pPr>
          </a:lstStyle>
          <a:p>
            <a:pPr>
              <a:defRPr/>
            </a:pPr>
            <a:fld id="{1A71FFAD-F905-4792-971B-681FA4F61CA8}" type="slidenum">
              <a:rPr lang="en-US" altLang="zh-TW"/>
              <a:pPr>
                <a:defRPr/>
              </a:pPr>
              <a:t>‹#›</a:t>
            </a:fld>
            <a:endParaRPr lang="en-US" altLang="zh-TW"/>
          </a:p>
        </p:txBody>
      </p:sp>
      <p:pic>
        <p:nvPicPr>
          <p:cNvPr id="14" name="Picture 28" descr="itri_CEL_A"/>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10544178" y="6159948"/>
            <a:ext cx="1476375" cy="34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圖片 10"/>
          <p:cNvPicPr>
            <a:picLocks noChangeAspect="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11282365" y="254786"/>
            <a:ext cx="682734" cy="310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 Box 48"/>
          <p:cNvSpPr txBox="1">
            <a:spLocks noChangeArrowheads="1"/>
          </p:cNvSpPr>
          <p:nvPr userDrawn="1"/>
        </p:nvSpPr>
        <p:spPr bwMode="auto">
          <a:xfrm>
            <a:off x="-11500" y="6610192"/>
            <a:ext cx="712191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TW"/>
            </a:defPPr>
            <a:lvl1pPr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1pPr>
            <a:lvl2pPr marL="4572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2pPr>
            <a:lvl3pPr marL="9144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3pPr>
            <a:lvl4pPr marL="13716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4pPr>
            <a:lvl5pPr marL="18288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5pPr>
            <a:lvl6pPr marL="22860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6pPr>
            <a:lvl7pPr marL="27432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7pPr>
            <a:lvl8pPr marL="32004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8pPr>
            <a:lvl9pPr marL="36576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9pPr>
          </a:lstStyle>
          <a:p>
            <a:pPr algn="l"/>
            <a:r>
              <a:rPr lang="zh-TW" altLang="en-US" sz="1000" dirty="0">
                <a:solidFill>
                  <a:schemeClr val="bg1"/>
                </a:solidFill>
                <a:latin typeface="+mj-ea"/>
                <a:ea typeface="+mj-ea"/>
              </a:rPr>
              <a:t>工業技術研究院機密資料 禁止複製、轉載、外流 </a:t>
            </a:r>
            <a:r>
              <a:rPr lang="en-US" altLang="zh-TW" sz="1000" dirty="0">
                <a:solidFill>
                  <a:schemeClr val="bg1"/>
                </a:solidFill>
                <a:latin typeface="+mj-ea"/>
                <a:ea typeface="+mj-ea"/>
              </a:rPr>
              <a:t>ITRI CONFIDENTIAL DOCUMENT DO NOT COPY OR DISTRIBUTE</a:t>
            </a:r>
          </a:p>
        </p:txBody>
      </p:sp>
    </p:spTree>
  </p:cSld>
  <p:clrMap bg1="lt1" tx1="dk1" bg2="lt2" tx2="dk2" accent1="accent1" accent2="accent2" accent3="accent3" accent4="accent4" accent5="accent5" accent6="accent6" hlink="hlink" folHlink="folHlink"/>
  <p:sldLayoutIdLst>
    <p:sldLayoutId id="2147483913" r:id="rId1"/>
    <p:sldLayoutId id="2147483903" r:id="rId2"/>
    <p:sldLayoutId id="2147483914" r:id="rId3"/>
    <p:sldLayoutId id="2147483915" r:id="rId4"/>
    <p:sldLayoutId id="2147483904" r:id="rId5"/>
    <p:sldLayoutId id="2147483916" r:id="rId6"/>
    <p:sldLayoutId id="2147483905" r:id="rId7"/>
    <p:sldLayoutId id="2147483906" r:id="rId8"/>
    <p:sldLayoutId id="2147483907" r:id="rId9"/>
    <p:sldLayoutId id="2147483908" r:id="rId10"/>
    <p:sldLayoutId id="2147483909" r:id="rId11"/>
    <p:sldLayoutId id="2147483910" r:id="rId12"/>
    <p:sldLayoutId id="2147483911" r:id="rId13"/>
    <p:sldLayoutId id="2147483912" r:id="rId14"/>
  </p:sldLayoutIdLst>
  <p:hf hdr="0" ftr="0" dt="0"/>
  <p:txStyles>
    <p:titleStyle>
      <a:lvl1pPr algn="l" rtl="0" eaLnBrk="0" fontAlgn="base" hangingPunct="0">
        <a:spcBef>
          <a:spcPct val="0"/>
        </a:spcBef>
        <a:spcAft>
          <a:spcPct val="0"/>
        </a:spcAft>
        <a:defRPr kumimoji="1" sz="3600">
          <a:solidFill>
            <a:srgbClr val="00B2B3"/>
          </a:solidFill>
          <a:latin typeface="+mj-lt"/>
          <a:ea typeface="+mj-ea"/>
          <a:cs typeface="+mj-cs"/>
        </a:defRPr>
      </a:lvl1pPr>
      <a:lvl2pPr algn="l" rtl="0" eaLnBrk="0" fontAlgn="base" hangingPunct="0">
        <a:spcBef>
          <a:spcPct val="0"/>
        </a:spcBef>
        <a:spcAft>
          <a:spcPct val="0"/>
        </a:spcAft>
        <a:defRPr kumimoji="1" sz="4600">
          <a:solidFill>
            <a:schemeClr val="tx2"/>
          </a:solidFill>
          <a:latin typeface="Arial" charset="0"/>
          <a:ea typeface="微軟正黑體" pitchFamily="34" charset="-120"/>
        </a:defRPr>
      </a:lvl2pPr>
      <a:lvl3pPr algn="l" rtl="0" eaLnBrk="0" fontAlgn="base" hangingPunct="0">
        <a:spcBef>
          <a:spcPct val="0"/>
        </a:spcBef>
        <a:spcAft>
          <a:spcPct val="0"/>
        </a:spcAft>
        <a:defRPr kumimoji="1" sz="4600">
          <a:solidFill>
            <a:schemeClr val="tx2"/>
          </a:solidFill>
          <a:latin typeface="Arial" charset="0"/>
          <a:ea typeface="微軟正黑體" pitchFamily="34" charset="-120"/>
        </a:defRPr>
      </a:lvl3pPr>
      <a:lvl4pPr algn="l" rtl="0" eaLnBrk="0" fontAlgn="base" hangingPunct="0">
        <a:spcBef>
          <a:spcPct val="0"/>
        </a:spcBef>
        <a:spcAft>
          <a:spcPct val="0"/>
        </a:spcAft>
        <a:defRPr kumimoji="1" sz="4600">
          <a:solidFill>
            <a:schemeClr val="tx2"/>
          </a:solidFill>
          <a:latin typeface="Arial" charset="0"/>
          <a:ea typeface="微軟正黑體" pitchFamily="34" charset="-120"/>
        </a:defRPr>
      </a:lvl4pPr>
      <a:lvl5pPr algn="l" rtl="0" eaLnBrk="0" fontAlgn="base" hangingPunct="0">
        <a:spcBef>
          <a:spcPct val="0"/>
        </a:spcBef>
        <a:spcAft>
          <a:spcPct val="0"/>
        </a:spcAft>
        <a:defRPr kumimoji="1" sz="4600">
          <a:solidFill>
            <a:schemeClr val="tx2"/>
          </a:solidFill>
          <a:latin typeface="Arial" charset="0"/>
          <a:ea typeface="微軟正黑體" pitchFamily="34" charset="-120"/>
        </a:defRPr>
      </a:lvl5pPr>
      <a:lvl6pPr marL="457200" algn="l" rtl="0" fontAlgn="base">
        <a:spcBef>
          <a:spcPct val="0"/>
        </a:spcBef>
        <a:spcAft>
          <a:spcPct val="0"/>
        </a:spcAft>
        <a:defRPr kumimoji="1" sz="4600">
          <a:solidFill>
            <a:schemeClr val="tx2"/>
          </a:solidFill>
          <a:latin typeface="Arial" charset="0"/>
          <a:ea typeface="微軟正黑體" pitchFamily="34" charset="-120"/>
        </a:defRPr>
      </a:lvl6pPr>
      <a:lvl7pPr marL="914400" algn="l" rtl="0" fontAlgn="base">
        <a:spcBef>
          <a:spcPct val="0"/>
        </a:spcBef>
        <a:spcAft>
          <a:spcPct val="0"/>
        </a:spcAft>
        <a:defRPr kumimoji="1" sz="4600">
          <a:solidFill>
            <a:schemeClr val="tx2"/>
          </a:solidFill>
          <a:latin typeface="Arial" charset="0"/>
          <a:ea typeface="微軟正黑體" pitchFamily="34" charset="-120"/>
        </a:defRPr>
      </a:lvl7pPr>
      <a:lvl8pPr marL="1371600" algn="l" rtl="0" fontAlgn="base">
        <a:spcBef>
          <a:spcPct val="0"/>
        </a:spcBef>
        <a:spcAft>
          <a:spcPct val="0"/>
        </a:spcAft>
        <a:defRPr kumimoji="1" sz="4600">
          <a:solidFill>
            <a:schemeClr val="tx2"/>
          </a:solidFill>
          <a:latin typeface="Arial" charset="0"/>
          <a:ea typeface="微軟正黑體" pitchFamily="34" charset="-120"/>
        </a:defRPr>
      </a:lvl8pPr>
      <a:lvl9pPr marL="1828800" algn="l" rtl="0" fontAlgn="base">
        <a:spcBef>
          <a:spcPct val="0"/>
        </a:spcBef>
        <a:spcAft>
          <a:spcPct val="0"/>
        </a:spcAft>
        <a:defRPr kumimoji="1" sz="4600">
          <a:solidFill>
            <a:schemeClr val="tx2"/>
          </a:solidFill>
          <a:latin typeface="Arial" charset="0"/>
          <a:ea typeface="微軟正黑體" pitchFamily="34" charset="-120"/>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696439" y="2056746"/>
            <a:ext cx="12218372" cy="1219201"/>
          </a:xfrm>
        </p:spPr>
        <p:txBody>
          <a:bodyPr/>
          <a:lstStyle/>
          <a:p>
            <a:pPr fontAlgn="auto">
              <a:spcBef>
                <a:spcPts val="0"/>
              </a:spcBef>
              <a:spcAft>
                <a:spcPts val="0"/>
              </a:spcAft>
            </a:pPr>
            <a:r>
              <a:rPr lang="en-US" altLang="zh-TW" dirty="0"/>
              <a:t>FY116</a:t>
            </a:r>
            <a:r>
              <a:rPr lang="zh-TW" altLang="en-US" dirty="0"/>
              <a:t>前瞻計畫提案</a:t>
            </a:r>
            <a:br>
              <a:rPr lang="en-US" altLang="zh-TW" dirty="0"/>
            </a:br>
            <a:r>
              <a:rPr lang="zh-TW" altLang="en-US" dirty="0"/>
              <a:t>絕熱去磁製冷低溫平台及元件尺寸量測技術</a:t>
            </a:r>
          </a:p>
        </p:txBody>
      </p:sp>
      <p:sp>
        <p:nvSpPr>
          <p:cNvPr id="3" name="副標題 2"/>
          <p:cNvSpPr>
            <a:spLocks noGrp="1"/>
          </p:cNvSpPr>
          <p:nvPr>
            <p:ph type="subTitle" idx="1"/>
          </p:nvPr>
        </p:nvSpPr>
        <p:spPr>
          <a:xfrm>
            <a:off x="853791" y="4789714"/>
            <a:ext cx="6770872" cy="1025870"/>
          </a:xfrm>
        </p:spPr>
        <p:txBody>
          <a:bodyPr/>
          <a:lstStyle/>
          <a:p>
            <a:pPr>
              <a:lnSpc>
                <a:spcPct val="100000"/>
              </a:lnSpc>
            </a:pPr>
            <a:r>
              <a:rPr lang="zh-TW" altLang="en-US" dirty="0"/>
              <a:t>計畫主持人：葛順康</a:t>
            </a:r>
            <a:endParaRPr lang="en-US" altLang="zh-TW" dirty="0"/>
          </a:p>
          <a:p>
            <a:pPr>
              <a:lnSpc>
                <a:spcPct val="100000"/>
              </a:lnSpc>
            </a:pPr>
            <a:r>
              <a:rPr lang="zh-TW" altLang="en-US" dirty="0"/>
              <a:t>主辦單位：量測中心</a:t>
            </a:r>
            <a:endParaRPr lang="en-US" altLang="zh-TW" dirty="0"/>
          </a:p>
          <a:p>
            <a:pPr>
              <a:lnSpc>
                <a:spcPct val="100000"/>
              </a:lnSpc>
            </a:pPr>
            <a:r>
              <a:rPr lang="zh-TW" altLang="en-US" dirty="0"/>
              <a:t>協辦單位：電光所</a:t>
            </a:r>
          </a:p>
        </p:txBody>
      </p:sp>
      <p:sp>
        <p:nvSpPr>
          <p:cNvPr id="4" name="文字版面配置區 3"/>
          <p:cNvSpPr>
            <a:spLocks noGrp="1"/>
          </p:cNvSpPr>
          <p:nvPr>
            <p:ph type="body" sz="quarter" idx="12"/>
          </p:nvPr>
        </p:nvSpPr>
        <p:spPr/>
        <p:txBody>
          <a:bodyPr/>
          <a:lstStyle/>
          <a:p>
            <a:r>
              <a:rPr lang="en-US" altLang="zh-TW" dirty="0"/>
              <a:t>2026</a:t>
            </a:r>
            <a:r>
              <a:rPr lang="zh-TW" altLang="en-US" dirty="0"/>
              <a:t>年</a:t>
            </a:r>
            <a:r>
              <a:rPr lang="en-US" altLang="zh-TW" dirty="0"/>
              <a:t>08</a:t>
            </a:r>
            <a:r>
              <a:rPr lang="zh-TW" altLang="en-US" dirty="0"/>
              <a:t>月</a:t>
            </a:r>
            <a:r>
              <a:rPr lang="en-US" altLang="zh-TW" dirty="0"/>
              <a:t>14</a:t>
            </a:r>
            <a:r>
              <a:rPr lang="zh-TW" altLang="en-US" dirty="0"/>
              <a:t>日</a:t>
            </a:r>
          </a:p>
        </p:txBody>
      </p:sp>
      <p:sp>
        <p:nvSpPr>
          <p:cNvPr id="5" name="Rectangle 3"/>
          <p:cNvSpPr txBox="1">
            <a:spLocks noChangeArrowheads="1"/>
          </p:cNvSpPr>
          <p:nvPr/>
        </p:nvSpPr>
        <p:spPr>
          <a:xfrm>
            <a:off x="4038600" y="5320786"/>
            <a:ext cx="8153400" cy="797627"/>
          </a:xfrm>
          <a:prstGeom prst="rect">
            <a:avLst/>
          </a:prstGeom>
        </p:spPr>
        <p:txBody>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微軟正黑體"/>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微軟正黑體"/>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微軟正黑體"/>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微軟正黑體"/>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微軟正黑體"/>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lvl="1" eaLnBrk="1" hangingPunct="1">
              <a:lnSpc>
                <a:spcPct val="80000"/>
              </a:lnSpc>
              <a:spcBef>
                <a:spcPct val="30000"/>
              </a:spcBef>
              <a:defRPr/>
            </a:pPr>
            <a:r>
              <a:rPr lang="en-US" altLang="zh-TW" sz="1600" kern="0" dirty="0">
                <a:cs typeface="Times New Roman" pitchFamily="18" charset="0"/>
              </a:rPr>
              <a:t>Top-down</a:t>
            </a:r>
            <a:r>
              <a:rPr lang="zh-TW" altLang="en-US" sz="1600" kern="0" dirty="0">
                <a:cs typeface="Times New Roman" pitchFamily="18" charset="0"/>
              </a:rPr>
              <a:t>主題：  </a:t>
            </a:r>
            <a:r>
              <a:rPr lang="en-US" altLang="zh-TW" sz="1800" dirty="0">
                <a:effectLst/>
                <a:latin typeface="Arial" panose="020B0604020202020204" pitchFamily="34" charset="0"/>
                <a:ea typeface="微軟正黑體" panose="020B0604030504040204" pitchFamily="34" charset="-120"/>
                <a:cs typeface="Times New Roman" panose="02020603050405020304" pitchFamily="18" charset="0"/>
              </a:rPr>
              <a:t>T-2 </a:t>
            </a:r>
            <a:r>
              <a:rPr lang="zh-TW" altLang="zh-TW" sz="1800" dirty="0">
                <a:effectLst/>
                <a:latin typeface="Arial" panose="020B0604020202020204" pitchFamily="34" charset="0"/>
                <a:ea typeface="微軟正黑體" panose="020B0604030504040204" pitchFamily="34" charset="-120"/>
                <a:cs typeface="Times New Roman" panose="02020603050405020304" pitchFamily="18" charset="0"/>
              </a:rPr>
              <a:t>超導量子電腦關鍵技術與材料檢測</a:t>
            </a:r>
            <a:endParaRPr lang="en-US" altLang="zh-TW" sz="1477" kern="0" dirty="0">
              <a:cs typeface="Times New Roman" pitchFamily="18" charset="0"/>
            </a:endParaRPr>
          </a:p>
          <a:p>
            <a:pPr lvl="1" eaLnBrk="1" hangingPunct="1">
              <a:lnSpc>
                <a:spcPct val="80000"/>
              </a:lnSpc>
              <a:spcBef>
                <a:spcPct val="30000"/>
              </a:spcBef>
              <a:defRPr/>
            </a:pPr>
            <a:r>
              <a:rPr lang="en-US" altLang="zh-TW" sz="1477" kern="0" dirty="0">
                <a:cs typeface="Times New Roman" pitchFamily="18" charset="0"/>
              </a:rPr>
              <a:t>■ </a:t>
            </a:r>
            <a:r>
              <a:rPr lang="zh-TW" altLang="en-US" sz="1477" kern="0" dirty="0">
                <a:cs typeface="Times New Roman" pitchFamily="18" charset="0"/>
              </a:rPr>
              <a:t>主題型計畫</a:t>
            </a:r>
            <a:endParaRPr lang="en-US" altLang="zh-TW" sz="1477" kern="0" dirty="0">
              <a:cs typeface="Times New Roman" pitchFamily="18" charset="0"/>
            </a:endParaRPr>
          </a:p>
          <a:p>
            <a:pPr lvl="1" eaLnBrk="1" hangingPunct="1">
              <a:lnSpc>
                <a:spcPct val="80000"/>
              </a:lnSpc>
              <a:spcBef>
                <a:spcPct val="30000"/>
              </a:spcBef>
              <a:defRPr/>
            </a:pPr>
            <a:r>
              <a:rPr kumimoji="0" lang="zh-TW" altLang="en-US" sz="1477" kern="0" dirty="0">
                <a:cs typeface="Times New Roman" pitchFamily="18" charset="0"/>
              </a:rPr>
              <a:t>申請經費：</a:t>
            </a:r>
            <a:r>
              <a:rPr kumimoji="0" lang="en-US" altLang="zh-TW" sz="1477" kern="0" dirty="0">
                <a:cs typeface="Times New Roman" pitchFamily="18" charset="0"/>
              </a:rPr>
              <a:t>15000</a:t>
            </a:r>
            <a:r>
              <a:rPr kumimoji="0" lang="zh-TW" altLang="en-US" sz="1477" kern="0" dirty="0">
                <a:cs typeface="Times New Roman" pitchFamily="18" charset="0"/>
              </a:rPr>
              <a:t> 千元</a:t>
            </a:r>
            <a:r>
              <a:rPr kumimoji="0" lang="en-US" altLang="zh-TW" sz="1477" kern="0" dirty="0">
                <a:cs typeface="Times New Roman" pitchFamily="18" charset="0"/>
              </a:rPr>
              <a:t>(</a:t>
            </a:r>
            <a:r>
              <a:rPr kumimoji="0" lang="zh-TW" altLang="en-US" sz="1477" kern="0" dirty="0">
                <a:cs typeface="Times New Roman" pitchFamily="18" charset="0"/>
              </a:rPr>
              <a:t>主辦：</a:t>
            </a:r>
            <a:r>
              <a:rPr kumimoji="0" lang="en-US" altLang="zh-TW" sz="1477" kern="0" dirty="0">
                <a:cs typeface="Times New Roman" pitchFamily="18" charset="0"/>
              </a:rPr>
              <a:t>11000</a:t>
            </a:r>
            <a:r>
              <a:rPr kumimoji="0" lang="zh-TW" altLang="en-US" sz="1477" kern="0" dirty="0">
                <a:cs typeface="Times New Roman" pitchFamily="18" charset="0"/>
              </a:rPr>
              <a:t> 千元；協辦：</a:t>
            </a:r>
            <a:r>
              <a:rPr kumimoji="0" lang="en-US" altLang="zh-TW" sz="1477" kern="0" dirty="0">
                <a:cs typeface="Times New Roman" pitchFamily="18" charset="0"/>
              </a:rPr>
              <a:t>4000</a:t>
            </a:r>
            <a:r>
              <a:rPr kumimoji="0" lang="zh-TW" altLang="en-US" sz="1477" kern="0" dirty="0">
                <a:cs typeface="Times New Roman" pitchFamily="18" charset="0"/>
              </a:rPr>
              <a:t>千元</a:t>
            </a:r>
            <a:r>
              <a:rPr kumimoji="0" lang="en-US" altLang="zh-TW" sz="1477" kern="0" dirty="0">
                <a:cs typeface="Times New Roman" pitchFamily="18" charset="0"/>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Outline</a:t>
            </a:r>
            <a:endParaRPr lang="zh-TW" altLang="en-US" dirty="0"/>
          </a:p>
        </p:txBody>
      </p:sp>
      <p:sp>
        <p:nvSpPr>
          <p:cNvPr id="5" name="內容版面配置區 4"/>
          <p:cNvSpPr>
            <a:spLocks noGrp="1"/>
          </p:cNvSpPr>
          <p:nvPr>
            <p:ph idx="1"/>
          </p:nvPr>
        </p:nvSpPr>
        <p:spPr>
          <a:xfrm>
            <a:off x="609601" y="1439864"/>
            <a:ext cx="11420474" cy="4757737"/>
          </a:xfrm>
        </p:spPr>
        <p:txBody>
          <a:bodyPr/>
          <a:lstStyle/>
          <a:p>
            <a:pPr>
              <a:spcBef>
                <a:spcPts val="1800"/>
              </a:spcBef>
            </a:pPr>
            <a:r>
              <a:rPr lang="zh-TW" altLang="en-US" sz="2800" dirty="0"/>
              <a:t>產業需求痛點及待解決的重要問題</a:t>
            </a:r>
            <a:endParaRPr lang="en-US" altLang="zh-TW" sz="2800" dirty="0"/>
          </a:p>
          <a:p>
            <a:pPr>
              <a:spcBef>
                <a:spcPts val="1800"/>
              </a:spcBef>
            </a:pPr>
            <a:r>
              <a:rPr lang="zh-TW" altLang="en-US" sz="2800" dirty="0"/>
              <a:t>挑戰關鍵點</a:t>
            </a:r>
            <a:endParaRPr lang="en-US" altLang="zh-TW" sz="2800" dirty="0"/>
          </a:p>
          <a:p>
            <a:pPr>
              <a:spcBef>
                <a:spcPts val="1800"/>
              </a:spcBef>
            </a:pPr>
            <a:r>
              <a:rPr lang="zh-TW" altLang="en-US" sz="2800" dirty="0"/>
              <a:t>解決方案</a:t>
            </a:r>
            <a:endParaRPr lang="en-US" altLang="zh-TW" sz="2800" dirty="0"/>
          </a:p>
          <a:p>
            <a:pPr>
              <a:spcBef>
                <a:spcPts val="1800"/>
              </a:spcBef>
            </a:pPr>
            <a:r>
              <a:rPr lang="zh-TW" altLang="en-US" sz="2800" dirty="0"/>
              <a:t>跨領域合作架構</a:t>
            </a:r>
            <a:endParaRPr lang="en-US" altLang="zh-TW" sz="2800" dirty="0"/>
          </a:p>
          <a:p>
            <a:pPr>
              <a:spcBef>
                <a:spcPts val="1800"/>
              </a:spcBef>
            </a:pPr>
            <a:r>
              <a:rPr lang="en-US" altLang="zh-TW" sz="2800" dirty="0"/>
              <a:t>Benchmark </a:t>
            </a:r>
            <a:r>
              <a:rPr lang="zh-TW" altLang="zh-TW" sz="2800" dirty="0"/>
              <a:t>比較及競爭性分析</a:t>
            </a:r>
            <a:endParaRPr lang="en-US" altLang="zh-TW" sz="2800" dirty="0"/>
          </a:p>
          <a:p>
            <a:pPr>
              <a:spcBef>
                <a:spcPts val="1800"/>
              </a:spcBef>
            </a:pPr>
            <a:r>
              <a:rPr lang="zh-TW" altLang="en-US" sz="2800" dirty="0"/>
              <a:t>重要專利布局規劃</a:t>
            </a:r>
          </a:p>
          <a:p>
            <a:pPr>
              <a:spcBef>
                <a:spcPts val="1800"/>
              </a:spcBef>
            </a:pPr>
            <a:r>
              <a:rPr lang="zh-TW" altLang="en-US" sz="2800" dirty="0"/>
              <a:t>本計畫對</a:t>
            </a:r>
            <a:r>
              <a:rPr lang="zh-TW" altLang="zh-TW" sz="2800" dirty="0"/>
              <a:t>產業</a:t>
            </a:r>
            <a:r>
              <a:rPr lang="zh-TW" altLang="en-US" sz="2800" dirty="0"/>
              <a:t>創新影響性及</a:t>
            </a:r>
            <a:r>
              <a:rPr lang="zh-TW" altLang="zh-TW" sz="2800" dirty="0"/>
              <a:t>未來</a:t>
            </a:r>
            <a:r>
              <a:rPr lang="zh-TW" altLang="en-US" sz="2800" dirty="0"/>
              <a:t>啟動科專</a:t>
            </a:r>
            <a:r>
              <a:rPr lang="en-US" altLang="zh-TW" sz="2800" dirty="0"/>
              <a:t>or</a:t>
            </a:r>
            <a:r>
              <a:rPr lang="zh-TW" altLang="en-US" sz="2800" dirty="0"/>
              <a:t>新創規劃</a:t>
            </a:r>
          </a:p>
        </p:txBody>
      </p:sp>
      <p:sp>
        <p:nvSpPr>
          <p:cNvPr id="7173" name="投影片編號版面配置區 1"/>
          <p:cNvSpPr>
            <a:spLocks noGrp="1"/>
          </p:cNvSpPr>
          <p:nvPr>
            <p:ph type="sldNum" sz="quarter" idx="4294967295"/>
          </p:nvPr>
        </p:nvSpPr>
        <p:spPr>
          <a:xfrm>
            <a:off x="11430000" y="6619875"/>
            <a:ext cx="762000" cy="238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49A9212D-6406-4E12-8CC4-78DDFE99027F}" type="slidenum">
              <a:rPr lang="en-US" altLang="zh-TW" smtClean="0">
                <a:solidFill>
                  <a:schemeClr val="bg1"/>
                </a:solidFill>
                <a:ea typeface="微軟正黑體" panose="020B0604030504040204" pitchFamily="34" charset="-120"/>
              </a:rPr>
              <a:pPr/>
              <a:t>2</a:t>
            </a:fld>
            <a:endParaRPr lang="en-US" altLang="zh-TW">
              <a:solidFill>
                <a:schemeClr val="bg1"/>
              </a:solidFill>
              <a:ea typeface="微軟正黑體" panose="020B0604030504040204" pitchFamily="34" charset="-12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82878" y="110864"/>
            <a:ext cx="11045923" cy="588151"/>
          </a:xfrm>
        </p:spPr>
        <p:txBody>
          <a:bodyPr/>
          <a:lstStyle/>
          <a:p>
            <a:pPr>
              <a:spcBef>
                <a:spcPts val="1800"/>
              </a:spcBef>
            </a:pPr>
            <a:r>
              <a:rPr lang="zh-TW" altLang="en-US" sz="3600" dirty="0"/>
              <a:t>產業需求痛點</a:t>
            </a:r>
            <a:endParaRPr lang="en-US" altLang="zh-TW" sz="3600" dirty="0"/>
          </a:p>
        </p:txBody>
      </p:sp>
      <p:sp>
        <p:nvSpPr>
          <p:cNvPr id="4" name="投影片編號版面配置區 1">
            <a:extLst>
              <a:ext uri="{FF2B5EF4-FFF2-40B4-BE49-F238E27FC236}">
                <a16:creationId xmlns:a16="http://schemas.microsoft.com/office/drawing/2014/main" id="{5413EB68-4444-44AB-A560-63AB7C6C9CDE}"/>
              </a:ext>
            </a:extLst>
          </p:cNvPr>
          <p:cNvSpPr txBox="1">
            <a:spLocks/>
          </p:cNvSpPr>
          <p:nvPr/>
        </p:nvSpPr>
        <p:spPr bwMode="auto">
          <a:xfrm>
            <a:off x="11430000" y="6619875"/>
            <a:ext cx="762000" cy="238125"/>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zh-TW"/>
            </a:defPPr>
            <a:lvl1pPr algn="r" rtl="0" eaLnBrk="1" fontAlgn="ctr" hangingPunct="1">
              <a:spcBef>
                <a:spcPct val="0"/>
              </a:spcBef>
              <a:spcAft>
                <a:spcPct val="0"/>
              </a:spcAft>
              <a:defRPr kumimoji="1" sz="1200" kern="1200">
                <a:solidFill>
                  <a:schemeClr val="tx1"/>
                </a:solidFill>
                <a:latin typeface="Arial" panose="020B0604020202020204" pitchFamily="34" charset="0"/>
                <a:ea typeface="新細明體" panose="02020500000000000000" pitchFamily="18" charset="-120"/>
                <a:cs typeface="+mn-cs"/>
              </a:defRPr>
            </a:lvl1pPr>
            <a:lvl2pPr marL="742950" indent="-28575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2pPr>
            <a:lvl3pPr marL="1143000" indent="-2286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3pPr>
            <a:lvl4pPr marL="1600200" indent="-2286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4pPr>
            <a:lvl5pPr marL="2057400" indent="-2286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9pPr>
          </a:lstStyle>
          <a:p>
            <a:fld id="{49A9212D-6406-4E12-8CC4-78DDFE99027F}" type="slidenum">
              <a:rPr lang="en-US" altLang="zh-TW" smtClean="0">
                <a:solidFill>
                  <a:schemeClr val="bg1"/>
                </a:solidFill>
                <a:ea typeface="微軟正黑體" panose="020B0604030504040204" pitchFamily="34" charset="-120"/>
              </a:rPr>
              <a:pPr/>
              <a:t>3</a:t>
            </a:fld>
            <a:endParaRPr lang="en-US" altLang="zh-TW">
              <a:solidFill>
                <a:schemeClr val="bg1"/>
              </a:solidFill>
              <a:ea typeface="微軟正黑體" panose="020B0604030504040204" pitchFamily="34" charset="-120"/>
            </a:endParaRPr>
          </a:p>
        </p:txBody>
      </p:sp>
      <p:sp>
        <p:nvSpPr>
          <p:cNvPr id="5" name="矩形 4">
            <a:extLst>
              <a:ext uri="{FF2B5EF4-FFF2-40B4-BE49-F238E27FC236}">
                <a16:creationId xmlns:a16="http://schemas.microsoft.com/office/drawing/2014/main" id="{12978E7D-C7B2-C9E6-0203-2CE0D743F007}"/>
              </a:ext>
            </a:extLst>
          </p:cNvPr>
          <p:cNvSpPr/>
          <p:nvPr/>
        </p:nvSpPr>
        <p:spPr>
          <a:xfrm>
            <a:off x="536476" y="699015"/>
            <a:ext cx="11119048" cy="1308050"/>
          </a:xfrm>
          <a:prstGeom prst="rect">
            <a:avLst/>
          </a:prstGeom>
        </p:spPr>
        <p:txBody>
          <a:bodyPr wrap="square">
            <a:spAutoFit/>
          </a:bodyPr>
          <a:lstStyle/>
          <a:p>
            <a:pPr marL="285750" indent="-285750">
              <a:spcAft>
                <a:spcPts val="600"/>
              </a:spcAft>
              <a:buFont typeface="Wingdings" panose="05000000000000000000" pitchFamily="2" charset="2"/>
              <a:buChar char="n"/>
            </a:pPr>
            <a:r>
              <a:rPr lang="zh-TW" altLang="en-US" sz="2000" b="1" dirty="0">
                <a:solidFill>
                  <a:srgbClr val="00B2B3"/>
                </a:solidFill>
                <a:latin typeface="+mj-ea"/>
                <a:ea typeface="+mj-ea"/>
              </a:rPr>
              <a:t>國內超導量子計算零組件自主開發佈局</a:t>
            </a:r>
            <a:endParaRPr lang="en-US" altLang="zh-TW" sz="2000" b="1" dirty="0">
              <a:solidFill>
                <a:srgbClr val="00B2B3"/>
              </a:solidFill>
              <a:latin typeface="+mj-ea"/>
              <a:ea typeface="+mj-ea"/>
            </a:endParaRPr>
          </a:p>
          <a:p>
            <a:pPr marL="269875" indent="-269875"/>
            <a:r>
              <a:rPr lang="en-US" altLang="zh-TW" dirty="0">
                <a:latin typeface="+mj-lt"/>
                <a:ea typeface="+mj-ea"/>
              </a:rPr>
              <a:t>	</a:t>
            </a:r>
            <a:r>
              <a:rPr lang="zh-TW" altLang="en-US" dirty="0">
                <a:latin typeface="+mj-lt"/>
                <a:ea typeface="+mj-ea"/>
              </a:rPr>
              <a:t>超導量子電腦關鍵零組件開發高度依賴材料與元件於低溫環境下之特性。隨量子系統由數十</a:t>
            </a:r>
            <a:r>
              <a:rPr lang="en-US" altLang="zh-TW" dirty="0">
                <a:latin typeface="+mj-lt"/>
                <a:ea typeface="+mj-ea"/>
              </a:rPr>
              <a:t>qubit</a:t>
            </a:r>
            <a:r>
              <a:rPr lang="zh-TW" altLang="en-US" dirty="0">
                <a:latin typeface="+mj-lt"/>
                <a:ea typeface="+mj-ea"/>
              </a:rPr>
              <a:t>朝大規模發展，</a:t>
            </a:r>
            <a:r>
              <a:rPr lang="en-US" altLang="zh-TW" dirty="0">
                <a:latin typeface="+mj-lt"/>
                <a:ea typeface="+mj-ea"/>
              </a:rPr>
              <a:t>Cryo-CMOS</a:t>
            </a:r>
            <a:r>
              <a:rPr lang="zh-TW" altLang="en-US" dirty="0">
                <a:latin typeface="+mj-lt"/>
                <a:ea typeface="+mj-ea"/>
              </a:rPr>
              <a:t>、超導微波元件與低溫封裝的使用溫度亦由</a:t>
            </a:r>
            <a:r>
              <a:rPr lang="en-US" altLang="zh-TW" dirty="0">
                <a:latin typeface="+mj-lt"/>
                <a:ea typeface="+mj-ea"/>
              </a:rPr>
              <a:t>4 K</a:t>
            </a:r>
            <a:r>
              <a:rPr lang="zh-TW" altLang="en-US" dirty="0">
                <a:latin typeface="+mj-lt"/>
                <a:ea typeface="+mj-ea"/>
              </a:rPr>
              <a:t>逐步向</a:t>
            </a:r>
            <a:r>
              <a:rPr lang="en-US" altLang="zh-TW" dirty="0">
                <a:latin typeface="+mj-lt"/>
                <a:ea typeface="+mj-ea"/>
              </a:rPr>
              <a:t>sub-K</a:t>
            </a:r>
            <a:r>
              <a:rPr lang="zh-TW" altLang="en-US" dirty="0">
                <a:latin typeface="+mj-lt"/>
                <a:ea typeface="+mj-ea"/>
              </a:rPr>
              <a:t>延伸，以減少配線複雜度</a:t>
            </a:r>
            <a:r>
              <a:rPr lang="zh-TW" altLang="en-US" dirty="0">
                <a:latin typeface="微軟正黑體" panose="020B0604030504040204" pitchFamily="34" charset="-120"/>
                <a:ea typeface="微軟正黑體" panose="020B0604030504040204" pitchFamily="34" charset="-120"/>
              </a:rPr>
              <a:t>，</a:t>
            </a:r>
            <a:r>
              <a:rPr lang="zh-TW" altLang="en-US" dirty="0">
                <a:latin typeface="+mj-lt"/>
                <a:ea typeface="+mj-ea"/>
              </a:rPr>
              <a:t>帶動低溫元件量測與模型建立需求。</a:t>
            </a:r>
            <a:endParaRPr lang="en-US" altLang="zh-TW" dirty="0">
              <a:latin typeface="+mj-lt"/>
              <a:ea typeface="+mj-ea"/>
            </a:endParaRPr>
          </a:p>
        </p:txBody>
      </p:sp>
      <p:sp>
        <p:nvSpPr>
          <p:cNvPr id="7" name="文字方塊 6">
            <a:extLst>
              <a:ext uri="{FF2B5EF4-FFF2-40B4-BE49-F238E27FC236}">
                <a16:creationId xmlns:a16="http://schemas.microsoft.com/office/drawing/2014/main" id="{60BA0FA7-8C81-C8D3-741E-595D22468D22}"/>
              </a:ext>
            </a:extLst>
          </p:cNvPr>
          <p:cNvSpPr txBox="1"/>
          <p:nvPr/>
        </p:nvSpPr>
        <p:spPr>
          <a:xfrm>
            <a:off x="482878" y="4218467"/>
            <a:ext cx="11172646" cy="2369880"/>
          </a:xfrm>
          <a:prstGeom prst="rect">
            <a:avLst/>
          </a:prstGeom>
          <a:noFill/>
        </p:spPr>
        <p:txBody>
          <a:bodyPr wrap="square">
            <a:spAutoFit/>
          </a:bodyPr>
          <a:lstStyle/>
          <a:p>
            <a:pPr>
              <a:spcAft>
                <a:spcPts val="600"/>
              </a:spcAft>
            </a:pPr>
            <a:r>
              <a:rPr lang="zh-TW" altLang="en-US" sz="2000" b="1" u="sng" dirty="0">
                <a:latin typeface="+mj-lt"/>
                <a:ea typeface="+mj-ea"/>
              </a:rPr>
              <a:t>產業需求痛點</a:t>
            </a:r>
            <a:endParaRPr lang="en-US" altLang="zh-TW" sz="2000" b="1" u="sng" dirty="0">
              <a:latin typeface="+mj-lt"/>
              <a:ea typeface="+mj-ea"/>
            </a:endParaRPr>
          </a:p>
          <a:p>
            <a:pPr>
              <a:spcAft>
                <a:spcPts val="300"/>
              </a:spcAft>
            </a:pPr>
            <a:r>
              <a:rPr lang="zh-TW" altLang="en-US" b="1" dirty="0">
                <a:latin typeface="+mj-lt"/>
                <a:ea typeface="+mj-ea"/>
              </a:rPr>
              <a:t>需求</a:t>
            </a:r>
            <a:r>
              <a:rPr lang="en-US" altLang="zh-TW" b="1" dirty="0">
                <a:latin typeface="+mj-lt"/>
                <a:ea typeface="+mj-ea"/>
              </a:rPr>
              <a:t>1</a:t>
            </a:r>
            <a:r>
              <a:rPr lang="zh-TW" altLang="en-US" b="1" dirty="0">
                <a:latin typeface="+mj-lt"/>
                <a:ea typeface="+mj-ea"/>
              </a:rPr>
              <a:t>：建立 </a:t>
            </a:r>
            <a:r>
              <a:rPr lang="zh-TW" altLang="en-US" b="1" dirty="0">
                <a:latin typeface="+mj-lt"/>
                <a:ea typeface="+mj-ea"/>
                <a:sym typeface="Symbol" panose="05050102010706020507" pitchFamily="18" charset="2"/>
              </a:rPr>
              <a:t></a:t>
            </a:r>
            <a:r>
              <a:rPr lang="en-US" altLang="zh-TW" b="1" dirty="0">
                <a:latin typeface="+mj-lt"/>
                <a:ea typeface="+mj-ea"/>
              </a:rPr>
              <a:t> 4 K </a:t>
            </a:r>
            <a:r>
              <a:rPr lang="zh-TW" altLang="en-US" b="1" dirty="0">
                <a:latin typeface="+mj-lt"/>
                <a:ea typeface="+mj-ea"/>
              </a:rPr>
              <a:t>之低溫量測與實驗能力</a:t>
            </a:r>
            <a:endParaRPr lang="en-US" altLang="zh-TW" b="1" dirty="0">
              <a:latin typeface="+mj-lt"/>
              <a:ea typeface="+mj-ea"/>
            </a:endParaRPr>
          </a:p>
          <a:p>
            <a:pPr marL="541338" lvl="1" indent="-187325">
              <a:spcAft>
                <a:spcPts val="300"/>
              </a:spcAft>
              <a:buFont typeface="Arial" panose="020B0604020202020204" pitchFamily="34" charset="0"/>
              <a:buChar char="•"/>
            </a:pPr>
            <a:r>
              <a:rPr lang="zh-TW" altLang="en-US" dirty="0">
                <a:latin typeface="+mj-ea"/>
                <a:ea typeface="+mj-ea"/>
              </a:rPr>
              <a:t>材料與元件於 </a:t>
            </a:r>
            <a:r>
              <a:rPr lang="zh-TW" altLang="en-US" b="1" dirty="0">
                <a:latin typeface="+mj-lt"/>
                <a:ea typeface="+mj-ea"/>
                <a:sym typeface="Symbol" panose="05050102010706020507" pitchFamily="18" charset="2"/>
              </a:rPr>
              <a:t></a:t>
            </a:r>
            <a:r>
              <a:rPr lang="zh-TW" altLang="en-US" dirty="0">
                <a:latin typeface="+mj-ea"/>
                <a:ea typeface="+mj-ea"/>
              </a:rPr>
              <a:t> </a:t>
            </a:r>
            <a:r>
              <a:rPr lang="en-US" altLang="zh-TW" dirty="0">
                <a:latin typeface="+mj-ea"/>
                <a:ea typeface="+mj-ea"/>
              </a:rPr>
              <a:t>4 K </a:t>
            </a:r>
            <a:r>
              <a:rPr lang="zh-TW" altLang="en-US" dirty="0">
                <a:latin typeface="+mj-ea"/>
                <a:ea typeface="+mj-ea"/>
              </a:rPr>
              <a:t>的特性參數是設計與模型建立的重要基礎</a:t>
            </a:r>
            <a:r>
              <a:rPr lang="zh-TW" altLang="en-US" dirty="0">
                <a:latin typeface="微軟正黑體" panose="020B0604030504040204" pitchFamily="34" charset="-120"/>
                <a:ea typeface="微軟正黑體" panose="020B0604030504040204" pitchFamily="34" charset="-120"/>
              </a:rPr>
              <a:t>，國內零組件廠商無量測能力</a:t>
            </a:r>
            <a:r>
              <a:rPr lang="zh-TW" altLang="en-US" dirty="0">
                <a:latin typeface="+mj-ea"/>
                <a:ea typeface="+mj-ea"/>
              </a:rPr>
              <a:t>。 </a:t>
            </a:r>
          </a:p>
          <a:p>
            <a:pPr marL="541338" lvl="1" indent="-187325">
              <a:spcAft>
                <a:spcPts val="600"/>
              </a:spcAft>
              <a:buFont typeface="Arial" panose="020B0604020202020204" pitchFamily="34" charset="0"/>
              <a:buChar char="•"/>
            </a:pPr>
            <a:r>
              <a:rPr lang="zh-TW" altLang="en-US" dirty="0">
                <a:latin typeface="+mj-ea"/>
                <a:ea typeface="+mj-ea"/>
              </a:rPr>
              <a:t>極低溫製冷需使用資源稀缺且取得受限之</a:t>
            </a:r>
            <a:r>
              <a:rPr lang="en-US" altLang="zh-TW" dirty="0">
                <a:latin typeface="+mj-ea"/>
                <a:ea typeface="+mj-ea"/>
              </a:rPr>
              <a:t>³He </a:t>
            </a:r>
            <a:r>
              <a:rPr lang="zh-TW" altLang="en-US" dirty="0">
                <a:latin typeface="+mj-ea"/>
                <a:ea typeface="+mj-ea"/>
              </a:rPr>
              <a:t>，使極低溫設備的建置與長期運轉面臨供應風險。 </a:t>
            </a:r>
            <a:endParaRPr lang="en-US" altLang="zh-TW" dirty="0">
              <a:latin typeface="+mj-ea"/>
              <a:ea typeface="+mj-ea"/>
            </a:endParaRPr>
          </a:p>
          <a:p>
            <a:pPr>
              <a:spcAft>
                <a:spcPts val="300"/>
              </a:spcAft>
            </a:pPr>
            <a:r>
              <a:rPr lang="zh-TW" altLang="en-US" b="1" dirty="0">
                <a:latin typeface="+mj-lt"/>
                <a:ea typeface="+mj-ea"/>
              </a:rPr>
              <a:t>需求</a:t>
            </a:r>
            <a:r>
              <a:rPr lang="en-US" altLang="zh-TW" b="1" dirty="0">
                <a:latin typeface="+mj-lt"/>
                <a:ea typeface="+mj-ea"/>
              </a:rPr>
              <a:t>2</a:t>
            </a:r>
            <a:r>
              <a:rPr lang="zh-TW" altLang="en-US" b="1" dirty="0">
                <a:latin typeface="+mj-lt"/>
                <a:ea typeface="+mj-ea"/>
              </a:rPr>
              <a:t>：建立超導量子被動元件實際低溫狀態的量測與模型設計能力</a:t>
            </a:r>
            <a:endParaRPr lang="en-US" altLang="zh-TW" b="1" dirty="0">
              <a:latin typeface="+mj-lt"/>
              <a:ea typeface="+mj-ea"/>
            </a:endParaRPr>
          </a:p>
          <a:p>
            <a:pPr marL="541338" lvl="1" indent="-187325">
              <a:spcAft>
                <a:spcPts val="300"/>
              </a:spcAft>
              <a:buFont typeface="Arial" panose="020B0604020202020204" pitchFamily="34" charset="0"/>
              <a:buChar char="•"/>
            </a:pPr>
            <a:r>
              <a:rPr lang="zh-TW" altLang="en-US" dirty="0">
                <a:latin typeface="+mj-lt"/>
                <a:ea typeface="+mj-ea"/>
              </a:rPr>
              <a:t>業界缺乏參數隨溫度變化的數據庫，須在缺乏精確元件模型的情況下進行低溫電路設計與模擬。</a:t>
            </a:r>
            <a:endParaRPr lang="en-US" altLang="zh-TW" dirty="0">
              <a:latin typeface="+mj-lt"/>
              <a:ea typeface="+mj-ea"/>
            </a:endParaRPr>
          </a:p>
          <a:p>
            <a:pPr marL="541338" lvl="1" indent="-187325">
              <a:buFont typeface="Arial" panose="020B0604020202020204" pitchFamily="34" charset="0"/>
              <a:buChar char="•"/>
            </a:pPr>
            <a:r>
              <a:rPr lang="zh-TW" altLang="en-US" dirty="0">
                <a:latin typeface="+mj-lt"/>
                <a:ea typeface="+mj-ea"/>
              </a:rPr>
              <a:t>需建立以幾何圖形構成的高頻元件於低溫之形變量與電氣特性之模型。</a:t>
            </a:r>
            <a:endParaRPr lang="en-US" altLang="zh-TW" dirty="0">
              <a:latin typeface="+mj-lt"/>
              <a:ea typeface="+mj-ea"/>
            </a:endParaRPr>
          </a:p>
        </p:txBody>
      </p:sp>
      <p:pic>
        <p:nvPicPr>
          <p:cNvPr id="6" name="圖片 5">
            <a:extLst>
              <a:ext uri="{FF2B5EF4-FFF2-40B4-BE49-F238E27FC236}">
                <a16:creationId xmlns:a16="http://schemas.microsoft.com/office/drawing/2014/main" id="{E4C9752B-0228-3996-ED5E-FF209253D8FB}"/>
              </a:ext>
            </a:extLst>
          </p:cNvPr>
          <p:cNvPicPr>
            <a:picLocks noChangeAspect="1"/>
          </p:cNvPicPr>
          <p:nvPr/>
        </p:nvPicPr>
        <p:blipFill>
          <a:blip r:embed="rId3"/>
          <a:srcRect l="27910" t="22958"/>
          <a:stretch/>
        </p:blipFill>
        <p:spPr>
          <a:xfrm>
            <a:off x="5389380" y="3532143"/>
            <a:ext cx="4356057" cy="1193934"/>
          </a:xfrm>
          <a:prstGeom prst="rect">
            <a:avLst/>
          </a:prstGeom>
        </p:spPr>
      </p:pic>
      <p:pic>
        <p:nvPicPr>
          <p:cNvPr id="13" name="圖片 12">
            <a:extLst>
              <a:ext uri="{FF2B5EF4-FFF2-40B4-BE49-F238E27FC236}">
                <a16:creationId xmlns:a16="http://schemas.microsoft.com/office/drawing/2014/main" id="{6C3E7735-BBAC-E93C-C9A6-6A249A38195D}"/>
              </a:ext>
            </a:extLst>
          </p:cNvPr>
          <p:cNvPicPr>
            <a:picLocks noChangeAspect="1"/>
          </p:cNvPicPr>
          <p:nvPr/>
        </p:nvPicPr>
        <p:blipFill>
          <a:blip r:embed="rId4"/>
          <a:stretch>
            <a:fillRect/>
          </a:stretch>
        </p:blipFill>
        <p:spPr>
          <a:xfrm>
            <a:off x="737457" y="2034147"/>
            <a:ext cx="1506260" cy="2082108"/>
          </a:xfrm>
          <a:prstGeom prst="rect">
            <a:avLst/>
          </a:prstGeom>
        </p:spPr>
      </p:pic>
      <p:sp>
        <p:nvSpPr>
          <p:cNvPr id="15" name="文字方塊 14">
            <a:extLst>
              <a:ext uri="{FF2B5EF4-FFF2-40B4-BE49-F238E27FC236}">
                <a16:creationId xmlns:a16="http://schemas.microsoft.com/office/drawing/2014/main" id="{ADAC1054-D607-7BED-4664-673D914E067B}"/>
              </a:ext>
            </a:extLst>
          </p:cNvPr>
          <p:cNvSpPr txBox="1"/>
          <p:nvPr/>
        </p:nvSpPr>
        <p:spPr>
          <a:xfrm>
            <a:off x="2341398" y="2097785"/>
            <a:ext cx="2748690" cy="2031325"/>
          </a:xfrm>
          <a:prstGeom prst="rect">
            <a:avLst/>
          </a:prstGeom>
          <a:noFill/>
        </p:spPr>
        <p:txBody>
          <a:bodyPr wrap="square">
            <a:spAutoFit/>
          </a:bodyPr>
          <a:lstStyle/>
          <a:p>
            <a:pPr algn="l"/>
            <a:r>
              <a:rPr lang="it-IT" altLang="zh-TW" b="1" dirty="0">
                <a:solidFill>
                  <a:srgbClr val="181C1F"/>
                </a:solidFill>
                <a:effectLst/>
              </a:rPr>
              <a:t>Google Quantum AI </a:t>
            </a:r>
          </a:p>
          <a:p>
            <a:pPr algn="l"/>
            <a:r>
              <a:rPr lang="it-IT" altLang="zh-TW" b="1" dirty="0">
                <a:solidFill>
                  <a:srgbClr val="181C1F"/>
                </a:solidFill>
                <a:effectLst/>
              </a:rPr>
              <a:t>(70-qubit computer)</a:t>
            </a:r>
          </a:p>
          <a:p>
            <a:pPr algn="l">
              <a:spcBef>
                <a:spcPts val="600"/>
              </a:spcBef>
            </a:pPr>
            <a:r>
              <a:rPr lang="zh-TW" altLang="en-US" sz="1700" dirty="0">
                <a:solidFill>
                  <a:srgbClr val="181C1F"/>
                </a:solidFill>
                <a:effectLst/>
                <a:latin typeface="+mj-ea"/>
                <a:ea typeface="+mj-ea"/>
              </a:rPr>
              <a:t>控制／讀出訊號路徑已達數百條量級</a:t>
            </a:r>
            <a:endParaRPr lang="en-US" altLang="zh-TW" sz="1700" dirty="0">
              <a:solidFill>
                <a:srgbClr val="181C1F"/>
              </a:solidFill>
              <a:effectLst/>
              <a:latin typeface="+mj-ea"/>
              <a:ea typeface="+mj-ea"/>
            </a:endParaRPr>
          </a:p>
          <a:p>
            <a:pPr algn="l"/>
            <a:r>
              <a:rPr lang="zh-TW" altLang="en-US" sz="1700" dirty="0">
                <a:solidFill>
                  <a:srgbClr val="181C1F"/>
                </a:solidFill>
                <a:effectLst/>
              </a:rPr>
              <a:t>→ </a:t>
            </a:r>
            <a:r>
              <a:rPr lang="en-US" altLang="zh-TW" sz="1700" dirty="0">
                <a:solidFill>
                  <a:srgbClr val="181C1F"/>
                </a:solidFill>
                <a:effectLst/>
                <a:latin typeface="+mn-lt"/>
                <a:ea typeface="+mj-ea"/>
              </a:rPr>
              <a:t>Cryo-CMOS</a:t>
            </a:r>
            <a:r>
              <a:rPr lang="zh-TW" altLang="en-US" sz="1700" dirty="0">
                <a:solidFill>
                  <a:srgbClr val="181C1F"/>
                </a:solidFill>
                <a:effectLst/>
                <a:latin typeface="+mn-lt"/>
                <a:ea typeface="+mj-ea"/>
              </a:rPr>
              <a:t>為降低室溫至</a:t>
            </a:r>
            <a:r>
              <a:rPr lang="en-US" altLang="zh-TW" sz="1700" dirty="0" err="1">
                <a:solidFill>
                  <a:srgbClr val="181C1F"/>
                </a:solidFill>
                <a:effectLst/>
                <a:latin typeface="+mn-lt"/>
                <a:ea typeface="+mj-ea"/>
              </a:rPr>
              <a:t>mK</a:t>
            </a:r>
            <a:r>
              <a:rPr lang="zh-TW" altLang="en-US" sz="1700" dirty="0">
                <a:solidFill>
                  <a:srgbClr val="181C1F"/>
                </a:solidFill>
                <a:effectLst/>
                <a:latin typeface="+mn-lt"/>
                <a:ea typeface="+mj-ea"/>
              </a:rPr>
              <a:t>配線複雜度的關鍵技術。</a:t>
            </a:r>
            <a:endParaRPr lang="it-IT" altLang="zh-TW" sz="1700" dirty="0">
              <a:solidFill>
                <a:srgbClr val="181C1F"/>
              </a:solidFill>
              <a:effectLst/>
              <a:latin typeface="+mn-lt"/>
              <a:ea typeface="+mj-ea"/>
            </a:endParaRPr>
          </a:p>
        </p:txBody>
      </p:sp>
      <p:pic>
        <p:nvPicPr>
          <p:cNvPr id="18" name="圖片 17">
            <a:extLst>
              <a:ext uri="{FF2B5EF4-FFF2-40B4-BE49-F238E27FC236}">
                <a16:creationId xmlns:a16="http://schemas.microsoft.com/office/drawing/2014/main" id="{87B1D979-8DE0-C766-2436-B754EE533A63}"/>
              </a:ext>
            </a:extLst>
          </p:cNvPr>
          <p:cNvPicPr>
            <a:picLocks noChangeAspect="1"/>
          </p:cNvPicPr>
          <p:nvPr/>
        </p:nvPicPr>
        <p:blipFill>
          <a:blip r:embed="rId3"/>
          <a:srcRect t="22958" r="72414"/>
          <a:stretch/>
        </p:blipFill>
        <p:spPr>
          <a:xfrm>
            <a:off x="5659987" y="2034147"/>
            <a:ext cx="2214045" cy="1585831"/>
          </a:xfrm>
          <a:prstGeom prst="rect">
            <a:avLst/>
          </a:prstGeom>
        </p:spPr>
      </p:pic>
      <p:sp>
        <p:nvSpPr>
          <p:cNvPr id="19" name="Chevron 10">
            <a:extLst>
              <a:ext uri="{FF2B5EF4-FFF2-40B4-BE49-F238E27FC236}">
                <a16:creationId xmlns:a16="http://schemas.microsoft.com/office/drawing/2014/main" id="{03B208DD-7CBD-3435-A1EF-AFABC792B56B}"/>
              </a:ext>
            </a:extLst>
          </p:cNvPr>
          <p:cNvSpPr/>
          <p:nvPr/>
        </p:nvSpPr>
        <p:spPr>
          <a:xfrm>
            <a:off x="5060268" y="2834832"/>
            <a:ext cx="566928" cy="411480"/>
          </a:xfrm>
          <a:prstGeom prst="chevron">
            <a:avLst/>
          </a:prstGeom>
          <a:solidFill>
            <a:srgbClr val="E88A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標題 1">
            <a:extLst>
              <a:ext uri="{FF2B5EF4-FFF2-40B4-BE49-F238E27FC236}">
                <a16:creationId xmlns:a16="http://schemas.microsoft.com/office/drawing/2014/main" id="{3A584173-0812-E79C-B065-981EE5BDC3E8}"/>
              </a:ext>
            </a:extLst>
          </p:cNvPr>
          <p:cNvSpPr txBox="1">
            <a:spLocks/>
          </p:cNvSpPr>
          <p:nvPr/>
        </p:nvSpPr>
        <p:spPr bwMode="auto">
          <a:xfrm>
            <a:off x="7906825" y="1837195"/>
            <a:ext cx="4285176" cy="1732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kumimoji="1" sz="3600">
                <a:solidFill>
                  <a:srgbClr val="00B2B3"/>
                </a:solidFill>
                <a:latin typeface="+mj-lt"/>
                <a:ea typeface="+mj-ea"/>
                <a:cs typeface="+mj-cs"/>
              </a:defRPr>
            </a:lvl1pPr>
            <a:lvl2pPr algn="l" rtl="0" eaLnBrk="0" fontAlgn="base" hangingPunct="0">
              <a:spcBef>
                <a:spcPct val="0"/>
              </a:spcBef>
              <a:spcAft>
                <a:spcPct val="0"/>
              </a:spcAft>
              <a:defRPr kumimoji="1" sz="4600">
                <a:solidFill>
                  <a:schemeClr val="tx2"/>
                </a:solidFill>
                <a:latin typeface="Arial" charset="0"/>
                <a:ea typeface="微軟正黑體" pitchFamily="34" charset="-120"/>
              </a:defRPr>
            </a:lvl2pPr>
            <a:lvl3pPr algn="l" rtl="0" eaLnBrk="0" fontAlgn="base" hangingPunct="0">
              <a:spcBef>
                <a:spcPct val="0"/>
              </a:spcBef>
              <a:spcAft>
                <a:spcPct val="0"/>
              </a:spcAft>
              <a:defRPr kumimoji="1" sz="4600">
                <a:solidFill>
                  <a:schemeClr val="tx2"/>
                </a:solidFill>
                <a:latin typeface="Arial" charset="0"/>
                <a:ea typeface="微軟正黑體" pitchFamily="34" charset="-120"/>
              </a:defRPr>
            </a:lvl3pPr>
            <a:lvl4pPr algn="l" rtl="0" eaLnBrk="0" fontAlgn="base" hangingPunct="0">
              <a:spcBef>
                <a:spcPct val="0"/>
              </a:spcBef>
              <a:spcAft>
                <a:spcPct val="0"/>
              </a:spcAft>
              <a:defRPr kumimoji="1" sz="4600">
                <a:solidFill>
                  <a:schemeClr val="tx2"/>
                </a:solidFill>
                <a:latin typeface="Arial" charset="0"/>
                <a:ea typeface="微軟正黑體" pitchFamily="34" charset="-120"/>
              </a:defRPr>
            </a:lvl4pPr>
            <a:lvl5pPr algn="l" rtl="0" eaLnBrk="0" fontAlgn="base" hangingPunct="0">
              <a:spcBef>
                <a:spcPct val="0"/>
              </a:spcBef>
              <a:spcAft>
                <a:spcPct val="0"/>
              </a:spcAft>
              <a:defRPr kumimoji="1" sz="4600">
                <a:solidFill>
                  <a:schemeClr val="tx2"/>
                </a:solidFill>
                <a:latin typeface="Arial" charset="0"/>
                <a:ea typeface="微軟正黑體" pitchFamily="34" charset="-120"/>
              </a:defRPr>
            </a:lvl5pPr>
            <a:lvl6pPr marL="457200" algn="l" rtl="0" fontAlgn="base">
              <a:spcBef>
                <a:spcPct val="0"/>
              </a:spcBef>
              <a:spcAft>
                <a:spcPct val="0"/>
              </a:spcAft>
              <a:defRPr kumimoji="1" sz="4600">
                <a:solidFill>
                  <a:schemeClr val="tx2"/>
                </a:solidFill>
                <a:latin typeface="Arial" charset="0"/>
                <a:ea typeface="微軟正黑體" pitchFamily="34" charset="-120"/>
              </a:defRPr>
            </a:lvl6pPr>
            <a:lvl7pPr marL="914400" algn="l" rtl="0" fontAlgn="base">
              <a:spcBef>
                <a:spcPct val="0"/>
              </a:spcBef>
              <a:spcAft>
                <a:spcPct val="0"/>
              </a:spcAft>
              <a:defRPr kumimoji="1" sz="4600">
                <a:solidFill>
                  <a:schemeClr val="tx2"/>
                </a:solidFill>
                <a:latin typeface="Arial" charset="0"/>
                <a:ea typeface="微軟正黑體" pitchFamily="34" charset="-120"/>
              </a:defRPr>
            </a:lvl7pPr>
            <a:lvl8pPr marL="1371600" algn="l" rtl="0" fontAlgn="base">
              <a:spcBef>
                <a:spcPct val="0"/>
              </a:spcBef>
              <a:spcAft>
                <a:spcPct val="0"/>
              </a:spcAft>
              <a:defRPr kumimoji="1" sz="4600">
                <a:solidFill>
                  <a:schemeClr val="tx2"/>
                </a:solidFill>
                <a:latin typeface="Arial" charset="0"/>
                <a:ea typeface="微軟正黑體" pitchFamily="34" charset="-120"/>
              </a:defRPr>
            </a:lvl8pPr>
            <a:lvl9pPr marL="1828800" algn="l" rtl="0" fontAlgn="base">
              <a:spcBef>
                <a:spcPct val="0"/>
              </a:spcBef>
              <a:spcAft>
                <a:spcPct val="0"/>
              </a:spcAft>
              <a:defRPr kumimoji="1" sz="4600">
                <a:solidFill>
                  <a:schemeClr val="tx2"/>
                </a:solidFill>
                <a:latin typeface="Arial" charset="0"/>
                <a:ea typeface="微軟正黑體" pitchFamily="34" charset="-120"/>
              </a:defRPr>
            </a:lvl9pPr>
          </a:lstStyle>
          <a:p>
            <a:r>
              <a:rPr lang="zh-TW" altLang="en-US" sz="1800" b="1" kern="0" dirty="0">
                <a:solidFill>
                  <a:schemeClr val="tx1"/>
                </a:solidFill>
              </a:rPr>
              <a:t>量子電腦零組件：</a:t>
            </a:r>
            <a:endParaRPr lang="en-US" altLang="zh-TW" sz="1800" b="1" kern="0" dirty="0">
              <a:solidFill>
                <a:schemeClr val="tx1"/>
              </a:solidFill>
            </a:endParaRPr>
          </a:p>
          <a:p>
            <a:pPr marL="177800" indent="-177800">
              <a:buFont typeface="Arial" panose="020B0604020202020204" pitchFamily="34" charset="0"/>
              <a:buChar char="•"/>
            </a:pPr>
            <a:r>
              <a:rPr lang="en-US" altLang="zh-TW" sz="1700" kern="0" dirty="0">
                <a:solidFill>
                  <a:schemeClr val="tx1"/>
                </a:solidFill>
              </a:rPr>
              <a:t>Cryo-CMOS</a:t>
            </a:r>
            <a:r>
              <a:rPr lang="zh-TW" altLang="en-US" sz="1700" kern="0" dirty="0">
                <a:solidFill>
                  <a:schemeClr val="tx1"/>
                </a:solidFill>
              </a:rPr>
              <a:t>：低溫控制與讀出電路</a:t>
            </a:r>
            <a:endParaRPr lang="en-US" altLang="zh-TW" sz="1700" kern="0" dirty="0">
              <a:solidFill>
                <a:schemeClr val="tx1"/>
              </a:solidFill>
            </a:endParaRPr>
          </a:p>
          <a:p>
            <a:pPr marL="177800" indent="-177800">
              <a:buFont typeface="Arial" panose="020B0604020202020204" pitchFamily="34" charset="0"/>
              <a:buChar char="•"/>
            </a:pPr>
            <a:r>
              <a:rPr lang="zh-TW" altLang="en-US" sz="1700" kern="0" dirty="0">
                <a:solidFill>
                  <a:schemeClr val="tx1"/>
                </a:solidFill>
              </a:rPr>
              <a:t>超導微波元件：低損耗訊號傳輸</a:t>
            </a:r>
            <a:endParaRPr lang="en-US" altLang="zh-TW" sz="1700" kern="0" dirty="0">
              <a:solidFill>
                <a:schemeClr val="tx1"/>
              </a:solidFill>
            </a:endParaRPr>
          </a:p>
          <a:p>
            <a:pPr marL="177800" indent="-177800">
              <a:buFont typeface="Arial" panose="020B0604020202020204" pitchFamily="34" charset="0"/>
              <a:buChar char="•"/>
            </a:pPr>
            <a:r>
              <a:rPr lang="zh-TW" altLang="en-US" sz="1700" kern="0" dirty="0">
                <a:solidFill>
                  <a:schemeClr val="tx1"/>
                </a:solidFill>
              </a:rPr>
              <a:t>低溫封裝／互連：高密度、低熱負載整合</a:t>
            </a:r>
            <a:endParaRPr lang="en-US" altLang="zh-TW" sz="1700" kern="0" dirty="0">
              <a:solidFill>
                <a:schemeClr val="tx1"/>
              </a:solidFill>
            </a:endParaRPr>
          </a:p>
          <a:p>
            <a:pPr indent="93663" algn="ctr">
              <a:spcBef>
                <a:spcPts val="300"/>
              </a:spcBef>
            </a:pPr>
            <a:r>
              <a:rPr lang="zh-TW" altLang="en-US" sz="1700" b="1" kern="0" dirty="0">
                <a:solidFill>
                  <a:srgbClr val="C00000"/>
                </a:solidFill>
              </a:rPr>
              <a:t>結合台灣半導體製程、封裝與量測能量，具切入量子硬體供應鏈優勢</a:t>
            </a:r>
            <a:endParaRPr lang="en-US" altLang="zh-TW" sz="1700" b="1" kern="0" dirty="0">
              <a:solidFill>
                <a:srgbClr val="C00000"/>
              </a:solidFill>
            </a:endParaRPr>
          </a:p>
        </p:txBody>
      </p:sp>
      <p:graphicFrame>
        <p:nvGraphicFramePr>
          <p:cNvPr id="3" name="表格 2">
            <a:extLst>
              <a:ext uri="{FF2B5EF4-FFF2-40B4-BE49-F238E27FC236}">
                <a16:creationId xmlns:a16="http://schemas.microsoft.com/office/drawing/2014/main" id="{8FF9CC17-2276-8F1A-57FA-F308B0509CF5}"/>
              </a:ext>
            </a:extLst>
          </p:cNvPr>
          <p:cNvGraphicFramePr>
            <a:graphicFrameLocks noGrp="1"/>
          </p:cNvGraphicFramePr>
          <p:nvPr>
            <p:extLst>
              <p:ext uri="{D42A27DB-BD31-4B8C-83A1-F6EECF244321}">
                <p14:modId xmlns:p14="http://schemas.microsoft.com/office/powerpoint/2010/main" val="643379739"/>
              </p:ext>
            </p:extLst>
          </p:nvPr>
        </p:nvGraphicFramePr>
        <p:xfrm>
          <a:off x="9942693" y="3519442"/>
          <a:ext cx="2027267" cy="1409700"/>
        </p:xfrm>
        <a:graphic>
          <a:graphicData uri="http://schemas.openxmlformats.org/drawingml/2006/table">
            <a:tbl>
              <a:tblPr/>
              <a:tblGrid>
                <a:gridCol w="613253">
                  <a:extLst>
                    <a:ext uri="{9D8B030D-6E8A-4147-A177-3AD203B41FA5}">
                      <a16:colId xmlns:a16="http://schemas.microsoft.com/office/drawing/2014/main" val="1918505094"/>
                    </a:ext>
                  </a:extLst>
                </a:gridCol>
                <a:gridCol w="1414014">
                  <a:extLst>
                    <a:ext uri="{9D8B030D-6E8A-4147-A177-3AD203B41FA5}">
                      <a16:colId xmlns:a16="http://schemas.microsoft.com/office/drawing/2014/main" val="3766761944"/>
                    </a:ext>
                  </a:extLst>
                </a:gridCol>
              </a:tblGrid>
              <a:tr h="147320">
                <a:tc>
                  <a:txBody>
                    <a:bodyPr/>
                    <a:lstStyle/>
                    <a:p>
                      <a:pPr>
                        <a:lnSpc>
                          <a:spcPts val="1500"/>
                        </a:lnSpc>
                      </a:pPr>
                      <a:r>
                        <a:rPr lang="zh-TW" altLang="en-US" sz="1500" b="1" dirty="0"/>
                        <a:t>材料</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1500"/>
                        </a:lnSpc>
                      </a:pPr>
                      <a:r>
                        <a:rPr lang="en-US" altLang="zh-TW" sz="1500" b="1" dirty="0"/>
                        <a:t>T</a:t>
                      </a:r>
                      <a:r>
                        <a:rPr lang="en-US" altLang="zh-TW" sz="1500" b="1" baseline="-25000" dirty="0"/>
                        <a:t>c</a:t>
                      </a:r>
                      <a:endParaRPr lang="en-US" sz="1500" b="1" baseline="-25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70836496"/>
                  </a:ext>
                </a:extLst>
              </a:tr>
              <a:tr h="147320">
                <a:tc>
                  <a:txBody>
                    <a:bodyPr/>
                    <a:lstStyle/>
                    <a:p>
                      <a:pPr>
                        <a:lnSpc>
                          <a:spcPts val="1500"/>
                        </a:lnSpc>
                      </a:pPr>
                      <a:r>
                        <a:rPr lang="en-US" sz="1500" b="1" dirty="0" err="1">
                          <a:latin typeface="+mn-ea"/>
                          <a:ea typeface="+mn-ea"/>
                        </a:rPr>
                        <a:t>TiN</a:t>
                      </a:r>
                      <a:endParaRPr lang="en-US" sz="1500"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ts val="1500"/>
                        </a:lnSpc>
                      </a:pPr>
                      <a:r>
                        <a:rPr lang="zh-TW" altLang="en-US" sz="1500" dirty="0">
                          <a:latin typeface="+mn-ea"/>
                          <a:ea typeface="+mn-ea"/>
                        </a:rPr>
                        <a:t>約 </a:t>
                      </a:r>
                      <a:r>
                        <a:rPr lang="en-US" altLang="zh-TW" sz="1500" b="1" dirty="0">
                          <a:latin typeface="+mn-ea"/>
                          <a:ea typeface="+mn-ea"/>
                        </a:rPr>
                        <a:t>4</a:t>
                      </a:r>
                      <a:r>
                        <a:rPr lang="zh-TW" altLang="en-US" sz="1500" b="1" dirty="0">
                          <a:latin typeface="+mn-ea"/>
                          <a:ea typeface="+mn-ea"/>
                        </a:rPr>
                        <a:t> </a:t>
                      </a:r>
                      <a:r>
                        <a:rPr lang="en-US" altLang="zh-TW" sz="1500" b="1" dirty="0">
                          <a:latin typeface="+mn-ea"/>
                          <a:ea typeface="+mn-ea"/>
                        </a:rPr>
                        <a:t>K–</a:t>
                      </a:r>
                      <a:r>
                        <a:rPr lang="zh-TW" altLang="en-US" sz="1500" b="1" dirty="0">
                          <a:latin typeface="+mn-ea"/>
                          <a:ea typeface="+mn-ea"/>
                        </a:rPr>
                        <a:t> </a:t>
                      </a:r>
                      <a:r>
                        <a:rPr lang="en-US" altLang="zh-TW" sz="1500" b="1" dirty="0">
                          <a:latin typeface="+mn-ea"/>
                          <a:ea typeface="+mn-ea"/>
                        </a:rPr>
                        <a:t>5.5 </a:t>
                      </a:r>
                      <a:r>
                        <a:rPr lang="en-US" sz="1500" b="1" dirty="0">
                          <a:latin typeface="+mn-ea"/>
                          <a:ea typeface="+mn-ea"/>
                        </a:rPr>
                        <a:t>K</a:t>
                      </a:r>
                      <a:endParaRPr lang="en-US" sz="1500"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21006126"/>
                  </a:ext>
                </a:extLst>
              </a:tr>
              <a:tr h="147320">
                <a:tc>
                  <a:txBody>
                    <a:bodyPr/>
                    <a:lstStyle/>
                    <a:p>
                      <a:pPr>
                        <a:lnSpc>
                          <a:spcPts val="1500"/>
                        </a:lnSpc>
                      </a:pPr>
                      <a:r>
                        <a:rPr lang="en-US" sz="1500" b="1">
                          <a:latin typeface="+mn-ea"/>
                          <a:ea typeface="+mn-ea"/>
                        </a:rPr>
                        <a:t>TaN</a:t>
                      </a:r>
                      <a:endParaRPr lang="en-US" sz="150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ts val="1500"/>
                        </a:lnSpc>
                      </a:pPr>
                      <a:r>
                        <a:rPr lang="zh-TW" altLang="en-US" sz="1500" dirty="0">
                          <a:latin typeface="+mn-ea"/>
                          <a:ea typeface="+mn-ea"/>
                        </a:rPr>
                        <a:t>約 </a:t>
                      </a:r>
                      <a:r>
                        <a:rPr lang="en-US" altLang="zh-TW" sz="1500" b="1" dirty="0">
                          <a:latin typeface="+mn-ea"/>
                          <a:ea typeface="+mn-ea"/>
                        </a:rPr>
                        <a:t>5</a:t>
                      </a:r>
                      <a:r>
                        <a:rPr lang="zh-TW" altLang="en-US" sz="1500" b="1" dirty="0">
                          <a:latin typeface="+mn-ea"/>
                          <a:ea typeface="+mn-ea"/>
                        </a:rPr>
                        <a:t> </a:t>
                      </a:r>
                      <a:r>
                        <a:rPr lang="en-US" altLang="zh-TW" sz="1500" b="1" dirty="0">
                          <a:latin typeface="+mn-ea"/>
                          <a:ea typeface="+mn-ea"/>
                        </a:rPr>
                        <a:t>K–</a:t>
                      </a:r>
                      <a:r>
                        <a:rPr lang="zh-TW" altLang="en-US" sz="1500" b="1" dirty="0">
                          <a:latin typeface="+mn-ea"/>
                          <a:ea typeface="+mn-ea"/>
                        </a:rPr>
                        <a:t> </a:t>
                      </a:r>
                      <a:r>
                        <a:rPr lang="en-US" altLang="zh-TW" sz="1500" b="1" dirty="0">
                          <a:latin typeface="+mn-ea"/>
                          <a:ea typeface="+mn-ea"/>
                        </a:rPr>
                        <a:t>6 K</a:t>
                      </a:r>
                      <a:endParaRPr lang="zh-TW" altLang="en-US" sz="1500"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93347482"/>
                  </a:ext>
                </a:extLst>
              </a:tr>
              <a:tr h="147320">
                <a:tc>
                  <a:txBody>
                    <a:bodyPr/>
                    <a:lstStyle/>
                    <a:p>
                      <a:pPr>
                        <a:lnSpc>
                          <a:spcPts val="1500"/>
                        </a:lnSpc>
                      </a:pPr>
                      <a:r>
                        <a:rPr lang="en-US" sz="1500" b="1">
                          <a:latin typeface="+mn-ea"/>
                          <a:ea typeface="+mn-ea"/>
                        </a:rPr>
                        <a:t>In</a:t>
                      </a:r>
                      <a:endParaRPr lang="en-US" sz="150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ts val="1500"/>
                        </a:lnSpc>
                      </a:pPr>
                      <a:r>
                        <a:rPr lang="zh-TW" altLang="en-US" sz="1500" dirty="0">
                          <a:latin typeface="+mn-ea"/>
                          <a:ea typeface="+mn-ea"/>
                        </a:rPr>
                        <a:t>約 </a:t>
                      </a:r>
                      <a:r>
                        <a:rPr lang="en-US" altLang="zh-TW" sz="1500" b="1" dirty="0">
                          <a:latin typeface="+mn-ea"/>
                          <a:ea typeface="+mn-ea"/>
                        </a:rPr>
                        <a:t>3.4 </a:t>
                      </a:r>
                      <a:r>
                        <a:rPr lang="en-US" sz="1500" b="1" dirty="0">
                          <a:latin typeface="+mn-ea"/>
                          <a:ea typeface="+mn-ea"/>
                        </a:rPr>
                        <a:t>K</a:t>
                      </a:r>
                      <a:endParaRPr lang="en-US" sz="1500"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9804382"/>
                  </a:ext>
                </a:extLst>
              </a:tr>
              <a:tr h="147320">
                <a:tc>
                  <a:txBody>
                    <a:bodyPr/>
                    <a:lstStyle/>
                    <a:p>
                      <a:pPr>
                        <a:lnSpc>
                          <a:spcPts val="1500"/>
                        </a:lnSpc>
                      </a:pPr>
                      <a:r>
                        <a:rPr lang="en-US" sz="1500" b="1" dirty="0">
                          <a:latin typeface="+mn-ea"/>
                          <a:ea typeface="+mn-ea"/>
                        </a:rPr>
                        <a:t>Nb</a:t>
                      </a:r>
                      <a:endParaRPr lang="en-US" sz="1500"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ts val="1500"/>
                        </a:lnSpc>
                      </a:pPr>
                      <a:r>
                        <a:rPr lang="zh-TW" altLang="en-US" sz="1500" dirty="0">
                          <a:latin typeface="+mn-ea"/>
                          <a:ea typeface="+mn-ea"/>
                        </a:rPr>
                        <a:t>約 </a:t>
                      </a:r>
                      <a:r>
                        <a:rPr lang="en-US" altLang="zh-TW" sz="1500" b="1" dirty="0">
                          <a:latin typeface="+mn-ea"/>
                          <a:ea typeface="+mn-ea"/>
                        </a:rPr>
                        <a:t>9.2 </a:t>
                      </a:r>
                      <a:r>
                        <a:rPr lang="en-US" sz="1500" b="1" dirty="0">
                          <a:latin typeface="+mn-ea"/>
                          <a:ea typeface="+mn-ea"/>
                        </a:rPr>
                        <a:t>K</a:t>
                      </a:r>
                      <a:endParaRPr lang="en-US" sz="1500"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19108483"/>
                  </a:ext>
                </a:extLst>
              </a:tr>
            </a:tbl>
          </a:graphicData>
        </a:graphic>
      </p:graphicFrame>
    </p:spTree>
    <p:extLst>
      <p:ext uri="{BB962C8B-B14F-4D97-AF65-F5344CB8AC3E}">
        <p14:creationId xmlns:p14="http://schemas.microsoft.com/office/powerpoint/2010/main" val="22034523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2320D77-558A-9E77-59F7-1E5AA14CB2F0}"/>
              </a:ext>
            </a:extLst>
          </p:cNvPr>
          <p:cNvSpPr>
            <a:spLocks noGrp="1"/>
          </p:cNvSpPr>
          <p:nvPr>
            <p:ph type="title"/>
          </p:nvPr>
        </p:nvSpPr>
        <p:spPr>
          <a:xfrm>
            <a:off x="573038" y="135589"/>
            <a:ext cx="11045923" cy="687609"/>
          </a:xfrm>
        </p:spPr>
        <p:txBody>
          <a:bodyPr/>
          <a:lstStyle/>
          <a:p>
            <a:r>
              <a:rPr lang="zh-TW" altLang="en-US" sz="3600" dirty="0"/>
              <a:t>待解決的重要問題</a:t>
            </a:r>
            <a:endParaRPr lang="zh-TW" altLang="en-US" dirty="0"/>
          </a:p>
        </p:txBody>
      </p:sp>
      <p:sp>
        <p:nvSpPr>
          <p:cNvPr id="4" name="文字方塊 3">
            <a:extLst>
              <a:ext uri="{FF2B5EF4-FFF2-40B4-BE49-F238E27FC236}">
                <a16:creationId xmlns:a16="http://schemas.microsoft.com/office/drawing/2014/main" id="{93F740E4-2CB3-F821-DB7F-B184F19B67DA}"/>
              </a:ext>
            </a:extLst>
          </p:cNvPr>
          <p:cNvSpPr txBox="1"/>
          <p:nvPr/>
        </p:nvSpPr>
        <p:spPr>
          <a:xfrm>
            <a:off x="722431" y="744302"/>
            <a:ext cx="11276736" cy="2123658"/>
          </a:xfrm>
          <a:prstGeom prst="rect">
            <a:avLst/>
          </a:prstGeom>
          <a:noFill/>
        </p:spPr>
        <p:txBody>
          <a:bodyPr wrap="square">
            <a:spAutoFit/>
          </a:bodyPr>
          <a:lstStyle/>
          <a:p>
            <a:pPr>
              <a:spcAft>
                <a:spcPts val="600"/>
              </a:spcAft>
            </a:pPr>
            <a:r>
              <a:rPr lang="zh-TW" altLang="en-US" sz="2000" b="1" dirty="0">
                <a:latin typeface="+mj-lt"/>
                <a:ea typeface="+mj-ea"/>
              </a:rPr>
              <a:t>問題</a:t>
            </a:r>
            <a:r>
              <a:rPr lang="en-US" altLang="zh-TW" sz="2000" b="1" dirty="0">
                <a:latin typeface="+mj-lt"/>
                <a:ea typeface="+mj-ea"/>
              </a:rPr>
              <a:t>1</a:t>
            </a:r>
            <a:r>
              <a:rPr lang="zh-TW" altLang="en-US" sz="2000" b="1" dirty="0">
                <a:latin typeface="+mj-lt"/>
                <a:ea typeface="+mj-ea"/>
              </a:rPr>
              <a:t>：如何建立可供樣品量測使用的自主</a:t>
            </a:r>
            <a:r>
              <a:rPr lang="en-US" altLang="zh-TW" sz="2000" b="1" dirty="0">
                <a:latin typeface="+mj-lt"/>
                <a:ea typeface="+mj-ea"/>
              </a:rPr>
              <a:t>&lt; 4 K </a:t>
            </a:r>
            <a:r>
              <a:rPr lang="zh-TW" altLang="en-US" sz="2000" b="1" dirty="0">
                <a:latin typeface="+mj-lt"/>
                <a:ea typeface="+mj-ea"/>
              </a:rPr>
              <a:t>低溫平台</a:t>
            </a:r>
            <a:endParaRPr lang="en-US" altLang="zh-TW" sz="2000" b="1" dirty="0">
              <a:latin typeface="+mj-lt"/>
              <a:ea typeface="+mj-ea"/>
            </a:endParaRPr>
          </a:p>
          <a:p>
            <a:pPr lvl="1" indent="-187325">
              <a:spcAft>
                <a:spcPts val="300"/>
              </a:spcAft>
              <a:buFont typeface="Arial" panose="020B0604020202020204" pitchFamily="34" charset="0"/>
              <a:buChar char="•"/>
            </a:pPr>
            <a:r>
              <a:rPr lang="zh-TW" altLang="en-US" dirty="0">
                <a:latin typeface="+mj-ea"/>
                <a:ea typeface="+mj-ea"/>
              </a:rPr>
              <a:t>如何不使用</a:t>
            </a:r>
            <a:r>
              <a:rPr lang="en-US" altLang="zh-TW" dirty="0">
                <a:latin typeface="+mj-ea"/>
                <a:ea typeface="+mj-ea"/>
              </a:rPr>
              <a:t>³He</a:t>
            </a:r>
            <a:r>
              <a:rPr lang="zh-TW" altLang="en-US" dirty="0">
                <a:latin typeface="+mj-ea"/>
                <a:ea typeface="+mj-ea"/>
              </a:rPr>
              <a:t>達到</a:t>
            </a:r>
            <a:r>
              <a:rPr lang="en-US" altLang="zh-TW" dirty="0">
                <a:latin typeface="+mj-ea"/>
                <a:ea typeface="+mj-ea"/>
              </a:rPr>
              <a:t>&lt; 4 K</a:t>
            </a:r>
            <a:r>
              <a:rPr lang="zh-TW" altLang="en-US" dirty="0">
                <a:latin typeface="+mj-ea"/>
                <a:ea typeface="+mj-ea"/>
              </a:rPr>
              <a:t>製冷能力</a:t>
            </a:r>
            <a:r>
              <a:rPr lang="zh-TW" altLang="en-US" dirty="0">
                <a:latin typeface="微軟正黑體" panose="020B0604030504040204" pitchFamily="34" charset="-120"/>
                <a:ea typeface="微軟正黑體" panose="020B0604030504040204" pitchFamily="34" charset="-120"/>
              </a:rPr>
              <a:t>。</a:t>
            </a:r>
            <a:endParaRPr lang="en-US" altLang="zh-TW" dirty="0">
              <a:latin typeface="+mj-ea"/>
              <a:ea typeface="+mj-ea"/>
            </a:endParaRPr>
          </a:p>
          <a:p>
            <a:pPr lvl="1" indent="-187325">
              <a:buFont typeface="Arial" panose="020B0604020202020204" pitchFamily="34" charset="0"/>
              <a:buChar char="•"/>
            </a:pPr>
            <a:r>
              <a:rPr lang="zh-TW" altLang="en-US" dirty="0">
                <a:latin typeface="+mn-ea"/>
                <a:ea typeface="+mn-ea"/>
              </a:rPr>
              <a:t>專用於量測的平台，可適用不同量測技術</a:t>
            </a:r>
            <a:r>
              <a:rPr lang="zh-TW" altLang="en-US" dirty="0">
                <a:latin typeface="PMingLiU" panose="02020500000000000000" pitchFamily="18" charset="-120"/>
                <a:ea typeface="PMingLiU" panose="02020500000000000000" pitchFamily="18" charset="-120"/>
              </a:rPr>
              <a:t>、可</a:t>
            </a:r>
            <a:r>
              <a:rPr lang="zh-TW" altLang="en-US" dirty="0">
                <a:latin typeface="+mn-ea"/>
                <a:ea typeface="+mn-ea"/>
              </a:rPr>
              <a:t>模組化，百萬級開發預算。</a:t>
            </a:r>
            <a:endParaRPr lang="en-US" altLang="zh-TW" dirty="0">
              <a:latin typeface="+mn-ea"/>
              <a:ea typeface="+mn-ea"/>
            </a:endParaRPr>
          </a:p>
          <a:p>
            <a:pPr>
              <a:spcBef>
                <a:spcPts val="600"/>
              </a:spcBef>
              <a:spcAft>
                <a:spcPts val="600"/>
              </a:spcAft>
            </a:pPr>
            <a:r>
              <a:rPr lang="zh-TW" altLang="en-US" sz="2000" b="1" dirty="0">
                <a:latin typeface="+mj-lt"/>
                <a:ea typeface="+mj-ea"/>
              </a:rPr>
              <a:t>問題</a:t>
            </a:r>
            <a:r>
              <a:rPr lang="en-US" altLang="zh-TW" sz="2000" b="1" dirty="0">
                <a:latin typeface="+mj-lt"/>
                <a:ea typeface="+mj-ea"/>
              </a:rPr>
              <a:t>2</a:t>
            </a:r>
            <a:r>
              <a:rPr lang="zh-TW" altLang="en-US" sz="2000" b="1" dirty="0">
                <a:latin typeface="+mj-lt"/>
                <a:ea typeface="+mj-ea"/>
              </a:rPr>
              <a:t>：如何將低溫尺寸變化與元件電氣特性建立可驗證的關聯</a:t>
            </a:r>
            <a:endParaRPr lang="en-US" altLang="zh-TW" dirty="0">
              <a:latin typeface="+mj-lt"/>
              <a:ea typeface="+mj-ea"/>
            </a:endParaRPr>
          </a:p>
          <a:p>
            <a:pPr marL="447675" lvl="1" indent="-177800">
              <a:spcAft>
                <a:spcPts val="300"/>
              </a:spcAft>
              <a:buFont typeface="Arial" panose="020B0604020202020204" pitchFamily="34" charset="0"/>
              <a:buChar char="•"/>
            </a:pPr>
            <a:r>
              <a:rPr lang="zh-TW" altLang="en-US" dirty="0">
                <a:latin typeface="+mj-lt"/>
                <a:ea typeface="+mj-ea"/>
              </a:rPr>
              <a:t>現有做法多為室溫量尺寸、低溫量電性，缺乏同一元件於實際低溫狀態下的幾何資料。</a:t>
            </a:r>
            <a:endParaRPr lang="en-US" altLang="zh-TW" dirty="0">
              <a:latin typeface="+mj-lt"/>
              <a:ea typeface="+mj-ea"/>
            </a:endParaRPr>
          </a:p>
          <a:p>
            <a:pPr marL="447675" lvl="1" indent="-177800">
              <a:buFont typeface="Arial" panose="020B0604020202020204" pitchFamily="34" charset="0"/>
              <a:buChar char="•"/>
            </a:pPr>
            <a:r>
              <a:rPr lang="zh-TW" altLang="en-US" dirty="0">
                <a:latin typeface="+mj-lt"/>
                <a:ea typeface="+mj-ea"/>
              </a:rPr>
              <a:t>將實測低溫幾何尺寸導入電感、</a:t>
            </a:r>
            <a:r>
              <a:rPr lang="en-US" altLang="zh-TW" dirty="0">
                <a:latin typeface="+mj-lt"/>
                <a:ea typeface="+mj-ea"/>
              </a:rPr>
              <a:t>CPW</a:t>
            </a:r>
            <a:r>
              <a:rPr lang="zh-TW" altLang="en-US" dirty="0">
                <a:latin typeface="+mj-lt"/>
                <a:ea typeface="+mj-ea"/>
              </a:rPr>
              <a:t>及共振器模型，建立尺寸－溫度－電氣特性的可驗證關聯。</a:t>
            </a:r>
            <a:endParaRPr lang="en-US" altLang="zh-TW" dirty="0">
              <a:latin typeface="+mj-lt"/>
              <a:ea typeface="+mj-ea"/>
            </a:endParaRPr>
          </a:p>
        </p:txBody>
      </p:sp>
      <p:graphicFrame>
        <p:nvGraphicFramePr>
          <p:cNvPr id="14" name="表格 13">
            <a:extLst>
              <a:ext uri="{FF2B5EF4-FFF2-40B4-BE49-F238E27FC236}">
                <a16:creationId xmlns:a16="http://schemas.microsoft.com/office/drawing/2014/main" id="{5680572F-4250-B261-6006-3064DF39C6F3}"/>
              </a:ext>
            </a:extLst>
          </p:cNvPr>
          <p:cNvGraphicFramePr>
            <a:graphicFrameLocks noGrp="1"/>
          </p:cNvGraphicFramePr>
          <p:nvPr>
            <p:extLst>
              <p:ext uri="{D42A27DB-BD31-4B8C-83A1-F6EECF244321}">
                <p14:modId xmlns:p14="http://schemas.microsoft.com/office/powerpoint/2010/main" val="1472770450"/>
              </p:ext>
            </p:extLst>
          </p:nvPr>
        </p:nvGraphicFramePr>
        <p:xfrm>
          <a:off x="6046240" y="3634264"/>
          <a:ext cx="5822300" cy="2255520"/>
        </p:xfrm>
        <a:graphic>
          <a:graphicData uri="http://schemas.openxmlformats.org/drawingml/2006/table">
            <a:tbl>
              <a:tblPr firstRow="1" bandRow="1">
                <a:tableStyleId>{5940675A-B579-460E-94D1-54222C63F5DA}</a:tableStyleId>
              </a:tblPr>
              <a:tblGrid>
                <a:gridCol w="1054357">
                  <a:extLst>
                    <a:ext uri="{9D8B030D-6E8A-4147-A177-3AD203B41FA5}">
                      <a16:colId xmlns:a16="http://schemas.microsoft.com/office/drawing/2014/main" val="2022184036"/>
                    </a:ext>
                  </a:extLst>
                </a:gridCol>
                <a:gridCol w="1231641">
                  <a:extLst>
                    <a:ext uri="{9D8B030D-6E8A-4147-A177-3AD203B41FA5}">
                      <a16:colId xmlns:a16="http://schemas.microsoft.com/office/drawing/2014/main" val="2401827875"/>
                    </a:ext>
                  </a:extLst>
                </a:gridCol>
                <a:gridCol w="1791478">
                  <a:extLst>
                    <a:ext uri="{9D8B030D-6E8A-4147-A177-3AD203B41FA5}">
                      <a16:colId xmlns:a16="http://schemas.microsoft.com/office/drawing/2014/main" val="2097791912"/>
                    </a:ext>
                  </a:extLst>
                </a:gridCol>
                <a:gridCol w="1744824">
                  <a:extLst>
                    <a:ext uri="{9D8B030D-6E8A-4147-A177-3AD203B41FA5}">
                      <a16:colId xmlns:a16="http://schemas.microsoft.com/office/drawing/2014/main" val="1926626672"/>
                    </a:ext>
                  </a:extLst>
                </a:gridCol>
              </a:tblGrid>
              <a:tr h="0">
                <a:tc>
                  <a:txBody>
                    <a:bodyPr/>
                    <a:lstStyle/>
                    <a:p>
                      <a:pPr algn="ctr"/>
                      <a:r>
                        <a:rPr lang="zh-TW" altLang="en-US" sz="1600" dirty="0"/>
                        <a:t>⾦屬</a:t>
                      </a:r>
                      <a:endParaRPr lang="en-US" altLang="zh-TW" sz="1600" dirty="0"/>
                    </a:p>
                  </a:txBody>
                  <a:tcPr anchor="ctr"/>
                </a:tc>
                <a:tc>
                  <a:txBody>
                    <a:bodyPr/>
                    <a:lstStyle/>
                    <a:p>
                      <a:pPr algn="ctr"/>
                      <a:r>
                        <a:rPr lang="en-US" altLang="zh-TW" sz="1600" dirty="0"/>
                        <a:t>293 K</a:t>
                      </a:r>
                    </a:p>
                    <a:p>
                      <a:pPr algn="ctr"/>
                      <a:r>
                        <a:rPr lang="en-US" altLang="zh-TW" sz="1600" dirty="0"/>
                        <a:t>(20 </a:t>
                      </a:r>
                      <a:r>
                        <a:rPr lang="en-US" altLang="zh-TW" sz="1600" dirty="0">
                          <a:sym typeface="Symbol" panose="05050102010706020507" pitchFamily="18" charset="2"/>
                        </a:rPr>
                        <a:t>C)</a:t>
                      </a:r>
                      <a:endParaRPr lang="zh-TW" altLang="en-US" sz="1600" dirty="0"/>
                    </a:p>
                  </a:txBody>
                  <a:tcPr/>
                </a:tc>
                <a:tc>
                  <a:txBody>
                    <a:bodyPr/>
                    <a:lstStyle/>
                    <a:p>
                      <a:pPr algn="ctr"/>
                      <a:r>
                        <a:rPr lang="en-US" altLang="zh-TW" sz="1600" dirty="0"/>
                        <a:t>77 K </a:t>
                      </a:r>
                    </a:p>
                    <a:p>
                      <a:pPr algn="ctr"/>
                      <a:r>
                        <a:rPr kumimoji="0" lang="en-US" altLang="zh-TW" sz="1600" b="0" i="0" u="none" strike="noStrike" kern="1200" cap="none" spc="0" normalizeH="0" baseline="0" noProof="0" dirty="0">
                          <a:ln>
                            <a:noFill/>
                          </a:ln>
                          <a:solidFill>
                            <a:srgbClr val="000000"/>
                          </a:solidFill>
                          <a:effectLst/>
                          <a:uLnTx/>
                          <a:uFillTx/>
                          <a:latin typeface="+mn-lt"/>
                          <a:ea typeface="+mn-ea"/>
                          <a:cs typeface="+mn-cs"/>
                        </a:rPr>
                        <a:t>(-196 </a:t>
                      </a:r>
                      <a:r>
                        <a:rPr kumimoji="0" lang="en-US" altLang="zh-TW" sz="1600" b="0" i="0" u="none" strike="noStrike" kern="1200" cap="none" spc="0" normalizeH="0" baseline="0" noProof="0" dirty="0">
                          <a:ln>
                            <a:noFill/>
                          </a:ln>
                          <a:solidFill>
                            <a:srgbClr val="000000"/>
                          </a:solidFill>
                          <a:effectLst/>
                          <a:uLnTx/>
                          <a:uFillTx/>
                          <a:latin typeface="+mn-lt"/>
                          <a:ea typeface="+mn-ea"/>
                          <a:cs typeface="+mn-cs"/>
                          <a:sym typeface="Symbol" panose="05050102010706020507" pitchFamily="18" charset="2"/>
                        </a:rPr>
                        <a:t>C)(</a:t>
                      </a:r>
                      <a:r>
                        <a:rPr kumimoji="0" lang="zh-TW" altLang="en-US" sz="1600" b="0" i="0" u="none" strike="noStrike" kern="1200" cap="none" spc="0" normalizeH="0" baseline="0" noProof="0" dirty="0">
                          <a:ln>
                            <a:noFill/>
                          </a:ln>
                          <a:solidFill>
                            <a:srgbClr val="000000"/>
                          </a:solidFill>
                          <a:effectLst/>
                          <a:uLnTx/>
                          <a:uFillTx/>
                          <a:latin typeface="+mn-lt"/>
                          <a:ea typeface="+mn-ea"/>
                          <a:cs typeface="+mn-cs"/>
                          <a:sym typeface="Symbol" panose="05050102010706020507" pitchFamily="18" charset="2"/>
                        </a:rPr>
                        <a:t>液態氮</a:t>
                      </a:r>
                      <a:r>
                        <a:rPr kumimoji="0" lang="en-US" altLang="zh-TW" sz="1600" b="0" i="0" u="none" strike="noStrike" kern="1200" cap="none" spc="0" normalizeH="0" baseline="0" noProof="0" dirty="0">
                          <a:ln>
                            <a:noFill/>
                          </a:ln>
                          <a:solidFill>
                            <a:srgbClr val="000000"/>
                          </a:solidFill>
                          <a:effectLst/>
                          <a:uLnTx/>
                          <a:uFillTx/>
                          <a:latin typeface="+mn-lt"/>
                          <a:ea typeface="+mn-ea"/>
                          <a:cs typeface="+mn-cs"/>
                          <a:sym typeface="Symbol" panose="05050102010706020507" pitchFamily="18" charset="2"/>
                        </a:rPr>
                        <a:t>)</a:t>
                      </a:r>
                      <a:endParaRPr lang="zh-TW" altLang="en-US"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dirty="0">
                          <a:ln>
                            <a:noFill/>
                          </a:ln>
                          <a:solidFill>
                            <a:srgbClr val="000000"/>
                          </a:solidFill>
                          <a:effectLst/>
                          <a:uLnTx/>
                          <a:uFillTx/>
                          <a:latin typeface="+mn-lt"/>
                          <a:ea typeface="+mn-ea"/>
                          <a:cs typeface="+mn-cs"/>
                        </a:rPr>
                        <a:t>4 K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dirty="0">
                          <a:ln>
                            <a:noFill/>
                          </a:ln>
                          <a:solidFill>
                            <a:srgbClr val="000000"/>
                          </a:solidFill>
                          <a:effectLst/>
                          <a:uLnTx/>
                          <a:uFillTx/>
                          <a:latin typeface="+mn-lt"/>
                          <a:ea typeface="+mn-ea"/>
                          <a:cs typeface="+mn-cs"/>
                        </a:rPr>
                        <a:t>(-269 </a:t>
                      </a:r>
                      <a:r>
                        <a:rPr kumimoji="0" lang="en-US" altLang="zh-TW" sz="1600" b="0" i="0" u="none" strike="noStrike" kern="1200" cap="none" spc="0" normalizeH="0" baseline="0" noProof="0" dirty="0">
                          <a:ln>
                            <a:noFill/>
                          </a:ln>
                          <a:solidFill>
                            <a:srgbClr val="000000"/>
                          </a:solidFill>
                          <a:effectLst/>
                          <a:uLnTx/>
                          <a:uFillTx/>
                          <a:latin typeface="+mn-lt"/>
                          <a:ea typeface="+mn-ea"/>
                          <a:cs typeface="+mn-cs"/>
                          <a:sym typeface="Symbol" panose="05050102010706020507" pitchFamily="18" charset="2"/>
                        </a:rPr>
                        <a:t>C)(</a:t>
                      </a:r>
                      <a:r>
                        <a:rPr kumimoji="0" lang="zh-TW" altLang="en-US" sz="1600" b="0" i="0" u="none" strike="noStrike" kern="1200" cap="none" spc="0" normalizeH="0" baseline="0" noProof="0" dirty="0">
                          <a:ln>
                            <a:noFill/>
                          </a:ln>
                          <a:solidFill>
                            <a:srgbClr val="000000"/>
                          </a:solidFill>
                          <a:effectLst/>
                          <a:uLnTx/>
                          <a:uFillTx/>
                          <a:latin typeface="+mn-lt"/>
                          <a:ea typeface="+mn-ea"/>
                          <a:cs typeface="+mn-cs"/>
                          <a:sym typeface="Symbol" panose="05050102010706020507" pitchFamily="18" charset="2"/>
                        </a:rPr>
                        <a:t>液態氦</a:t>
                      </a:r>
                      <a:r>
                        <a:rPr kumimoji="0" lang="en-US" altLang="zh-TW" sz="1600" b="0" i="0" u="none" strike="noStrike" kern="1200" cap="none" spc="0" normalizeH="0" baseline="0" noProof="0" dirty="0">
                          <a:ln>
                            <a:noFill/>
                          </a:ln>
                          <a:solidFill>
                            <a:srgbClr val="000000"/>
                          </a:solidFill>
                          <a:effectLst/>
                          <a:uLnTx/>
                          <a:uFillTx/>
                          <a:latin typeface="+mn-lt"/>
                          <a:ea typeface="+mn-ea"/>
                          <a:cs typeface="+mn-cs"/>
                          <a:sym typeface="Symbol" panose="05050102010706020507" pitchFamily="18" charset="2"/>
                        </a:rPr>
                        <a:t>)</a:t>
                      </a:r>
                      <a:endParaRPr kumimoji="0" lang="zh-TW" altLang="en-US" sz="1600" b="0" i="0" u="none" strike="noStrike" kern="1200" cap="none" spc="0" normalizeH="0" baseline="0" noProof="0" dirty="0">
                        <a:ln>
                          <a:noFill/>
                        </a:ln>
                        <a:solidFill>
                          <a:srgbClr val="000000"/>
                        </a:solidFill>
                        <a:effectLst/>
                        <a:uLnTx/>
                        <a:uFillTx/>
                        <a:latin typeface="+mn-lt"/>
                        <a:ea typeface="+mn-ea"/>
                        <a:cs typeface="+mn-cs"/>
                      </a:endParaRPr>
                    </a:p>
                  </a:txBody>
                  <a:tcPr/>
                </a:tc>
                <a:extLst>
                  <a:ext uri="{0D108BD9-81ED-4DB2-BD59-A6C34878D82A}">
                    <a16:rowId xmlns:a16="http://schemas.microsoft.com/office/drawing/2014/main" val="303750420"/>
                  </a:ext>
                </a:extLst>
              </a:tr>
              <a:tr h="169905">
                <a:tc>
                  <a:txBody>
                    <a:bodyPr/>
                    <a:lstStyle/>
                    <a:p>
                      <a:pPr algn="ctr"/>
                      <a:r>
                        <a:rPr lang="zh-TW" altLang="en-US" sz="1600" dirty="0"/>
                        <a:t>純鋁 </a:t>
                      </a:r>
                      <a:r>
                        <a:rPr lang="en-US" altLang="zh-TW" sz="1600" dirty="0"/>
                        <a:t>(Al)</a:t>
                      </a:r>
                      <a:endParaRPr lang="zh-TW" altLang="en-US" sz="1600" dirty="0"/>
                    </a:p>
                  </a:txBody>
                  <a:tcPr/>
                </a:tc>
                <a:tc>
                  <a:txBody>
                    <a:bodyPr/>
                    <a:lstStyle/>
                    <a:p>
                      <a:pPr algn="ctr"/>
                      <a:r>
                        <a:rPr lang="en-US" altLang="zh-TW" sz="1600" dirty="0"/>
                        <a:t>23.1</a:t>
                      </a:r>
                      <a:endParaRPr lang="zh-TW" altLang="en-US" sz="1600" dirty="0"/>
                    </a:p>
                  </a:txBody>
                  <a:tcPr/>
                </a:tc>
                <a:tc>
                  <a:txBody>
                    <a:bodyPr/>
                    <a:lstStyle/>
                    <a:p>
                      <a:pPr algn="ctr"/>
                      <a:r>
                        <a:rPr lang="en-US" altLang="zh-TW" sz="1600" dirty="0"/>
                        <a:t>~ 9.0</a:t>
                      </a:r>
                      <a:endParaRPr lang="zh-TW" altLang="en-US" sz="1600" dirty="0"/>
                    </a:p>
                  </a:txBody>
                  <a:tcPr/>
                </a:tc>
                <a:tc>
                  <a:txBody>
                    <a:bodyPr/>
                    <a:lstStyle/>
                    <a:p>
                      <a:pPr algn="ctr"/>
                      <a:r>
                        <a:rPr lang="en-US" altLang="zh-TW" sz="1600" dirty="0"/>
                        <a:t>&lt;</a:t>
                      </a:r>
                      <a:r>
                        <a:rPr lang="zh-TW" altLang="en-US" sz="1600" dirty="0"/>
                        <a:t> </a:t>
                      </a:r>
                      <a:r>
                        <a:rPr lang="en-US" altLang="zh-TW" sz="1600" dirty="0"/>
                        <a:t>0.1</a:t>
                      </a:r>
                      <a:endParaRPr lang="zh-TW" altLang="en-US" sz="1600" dirty="0"/>
                    </a:p>
                  </a:txBody>
                  <a:tcPr/>
                </a:tc>
                <a:extLst>
                  <a:ext uri="{0D108BD9-81ED-4DB2-BD59-A6C34878D82A}">
                    <a16:rowId xmlns:a16="http://schemas.microsoft.com/office/drawing/2014/main" val="1692598224"/>
                  </a:ext>
                </a:extLst>
              </a:tr>
              <a:tr h="169905">
                <a:tc>
                  <a:txBody>
                    <a:bodyPr/>
                    <a:lstStyle/>
                    <a:p>
                      <a:pPr algn="ctr"/>
                      <a:r>
                        <a:rPr lang="zh-TW" altLang="en-US" sz="1600" dirty="0"/>
                        <a:t>純銅 </a:t>
                      </a:r>
                      <a:r>
                        <a:rPr lang="en-US" altLang="zh-TW" sz="1600" dirty="0"/>
                        <a:t>(Cu)</a:t>
                      </a:r>
                      <a:endParaRPr lang="zh-TW" altLang="en-US" sz="1600" dirty="0"/>
                    </a:p>
                  </a:txBody>
                  <a:tcPr/>
                </a:tc>
                <a:tc>
                  <a:txBody>
                    <a:bodyPr/>
                    <a:lstStyle/>
                    <a:p>
                      <a:pPr algn="ctr"/>
                      <a:r>
                        <a:rPr lang="en-US" altLang="zh-TW" sz="1600" dirty="0"/>
                        <a:t>16.5</a:t>
                      </a:r>
                      <a:endParaRPr lang="zh-TW" altLang="en-US" sz="1600" dirty="0"/>
                    </a:p>
                  </a:txBody>
                  <a:tcPr/>
                </a:tc>
                <a:tc>
                  <a:txBody>
                    <a:bodyPr/>
                    <a:lstStyle/>
                    <a:p>
                      <a:pPr algn="ctr"/>
                      <a:r>
                        <a:rPr lang="en-US" altLang="zh-TW" sz="1600" dirty="0"/>
                        <a:t>~ 6.0</a:t>
                      </a:r>
                      <a:endParaRPr lang="zh-TW" altLang="en-US" sz="1600" dirty="0"/>
                    </a:p>
                  </a:txBody>
                  <a:tcPr/>
                </a:tc>
                <a:tc>
                  <a:txBody>
                    <a:bodyPr/>
                    <a:lstStyle/>
                    <a:p>
                      <a:pPr algn="ctr"/>
                      <a:r>
                        <a:rPr lang="en-US" altLang="zh-TW" sz="1600" dirty="0"/>
                        <a:t>&lt; 0.05</a:t>
                      </a:r>
                      <a:endParaRPr lang="zh-TW" altLang="en-US" sz="1600" dirty="0"/>
                    </a:p>
                  </a:txBody>
                  <a:tcPr/>
                </a:tc>
                <a:extLst>
                  <a:ext uri="{0D108BD9-81ED-4DB2-BD59-A6C34878D82A}">
                    <a16:rowId xmlns:a16="http://schemas.microsoft.com/office/drawing/2014/main" val="3614711688"/>
                  </a:ext>
                </a:extLst>
              </a:tr>
              <a:tr h="169905">
                <a:tc>
                  <a:txBody>
                    <a:bodyPr/>
                    <a:lstStyle/>
                    <a:p>
                      <a:pPr algn="ctr"/>
                      <a:r>
                        <a:rPr lang="zh-TW" altLang="en-US" sz="1600" dirty="0"/>
                        <a:t>純鐵 </a:t>
                      </a:r>
                      <a:r>
                        <a:rPr lang="en-US" altLang="zh-TW" sz="1600" dirty="0"/>
                        <a:t>(Fe)</a:t>
                      </a:r>
                      <a:endParaRPr lang="zh-TW" altLang="en-US" sz="1600" dirty="0"/>
                    </a:p>
                  </a:txBody>
                  <a:tcPr/>
                </a:tc>
                <a:tc>
                  <a:txBody>
                    <a:bodyPr/>
                    <a:lstStyle/>
                    <a:p>
                      <a:pPr algn="ctr"/>
                      <a:r>
                        <a:rPr lang="en-US" altLang="zh-TW" sz="1600" dirty="0"/>
                        <a:t>11.8</a:t>
                      </a:r>
                      <a:endParaRPr lang="zh-TW" altLang="en-US" sz="1600" dirty="0"/>
                    </a:p>
                  </a:txBody>
                  <a:tcPr/>
                </a:tc>
                <a:tc>
                  <a:txBody>
                    <a:bodyPr/>
                    <a:lstStyle/>
                    <a:p>
                      <a:pPr algn="ctr"/>
                      <a:r>
                        <a:rPr lang="en-US" altLang="zh-TW" sz="1600" dirty="0"/>
                        <a:t>~ 4.0</a:t>
                      </a:r>
                      <a:endParaRPr lang="zh-TW" altLang="en-US" sz="1600" dirty="0"/>
                    </a:p>
                  </a:txBody>
                  <a:tcPr/>
                </a:tc>
                <a:tc>
                  <a:txBody>
                    <a:bodyPr/>
                    <a:lstStyle/>
                    <a:p>
                      <a:pPr algn="ctr"/>
                      <a:r>
                        <a:rPr lang="en-US" altLang="zh-TW" sz="1600" dirty="0"/>
                        <a:t>~ 0.1</a:t>
                      </a:r>
                      <a:endParaRPr lang="zh-TW" altLang="en-US" sz="1600" dirty="0"/>
                    </a:p>
                  </a:txBody>
                  <a:tcPr/>
                </a:tc>
                <a:extLst>
                  <a:ext uri="{0D108BD9-81ED-4DB2-BD59-A6C34878D82A}">
                    <a16:rowId xmlns:a16="http://schemas.microsoft.com/office/drawing/2014/main" val="2039285041"/>
                  </a:ext>
                </a:extLst>
              </a:tr>
              <a:tr h="169905">
                <a:tc>
                  <a:txBody>
                    <a:bodyPr/>
                    <a:lstStyle/>
                    <a:p>
                      <a:pPr algn="ctr"/>
                      <a:r>
                        <a:rPr lang="zh-TW" altLang="en-US" sz="1600" dirty="0"/>
                        <a:t>鈦 </a:t>
                      </a:r>
                      <a:r>
                        <a:rPr lang="en-US" altLang="zh-TW" sz="1600" dirty="0"/>
                        <a:t>(Ti)</a:t>
                      </a:r>
                      <a:endParaRPr lang="zh-TW" altLang="en-US" sz="1600" dirty="0"/>
                    </a:p>
                  </a:txBody>
                  <a:tcPr/>
                </a:tc>
                <a:tc>
                  <a:txBody>
                    <a:bodyPr/>
                    <a:lstStyle/>
                    <a:p>
                      <a:pPr algn="ctr"/>
                      <a:r>
                        <a:rPr lang="en-US" altLang="zh-TW" sz="1600" dirty="0"/>
                        <a:t>8.6</a:t>
                      </a:r>
                      <a:endParaRPr lang="zh-TW" altLang="en-US" sz="1600" dirty="0"/>
                    </a:p>
                  </a:txBody>
                  <a:tcPr/>
                </a:tc>
                <a:tc>
                  <a:txBody>
                    <a:bodyPr/>
                    <a:lstStyle/>
                    <a:p>
                      <a:pPr algn="ctr"/>
                      <a:r>
                        <a:rPr lang="en-US" altLang="zh-TW" sz="1600" dirty="0"/>
                        <a:t>~ 3.5</a:t>
                      </a:r>
                      <a:endParaRPr lang="zh-TW" altLang="en-US" sz="1600" dirty="0"/>
                    </a:p>
                  </a:txBody>
                  <a:tcPr/>
                </a:tc>
                <a:tc>
                  <a:txBody>
                    <a:bodyPr/>
                    <a:lstStyle/>
                    <a:p>
                      <a:pPr algn="ctr"/>
                      <a:r>
                        <a:rPr lang="en-US" altLang="zh-TW" sz="1600" dirty="0"/>
                        <a:t>~ 0.05</a:t>
                      </a:r>
                      <a:endParaRPr lang="zh-TW" altLang="en-US" sz="1600" dirty="0"/>
                    </a:p>
                  </a:txBody>
                  <a:tcPr/>
                </a:tc>
                <a:extLst>
                  <a:ext uri="{0D108BD9-81ED-4DB2-BD59-A6C34878D82A}">
                    <a16:rowId xmlns:a16="http://schemas.microsoft.com/office/drawing/2014/main" val="599716514"/>
                  </a:ext>
                </a:extLst>
              </a:tr>
              <a:tr h="169905">
                <a:tc>
                  <a:txBody>
                    <a:bodyPr/>
                    <a:lstStyle/>
                    <a:p>
                      <a:pPr algn="ctr"/>
                      <a:r>
                        <a:rPr lang="zh-TW" altLang="en-US" sz="1600" dirty="0"/>
                        <a:t>鎢 </a:t>
                      </a:r>
                      <a:r>
                        <a:rPr lang="en-US" altLang="zh-TW" sz="1600" dirty="0"/>
                        <a:t>(W)</a:t>
                      </a:r>
                      <a:endParaRPr lang="zh-TW" altLang="en-US" sz="1600" dirty="0"/>
                    </a:p>
                  </a:txBody>
                  <a:tcPr/>
                </a:tc>
                <a:tc>
                  <a:txBody>
                    <a:bodyPr/>
                    <a:lstStyle/>
                    <a:p>
                      <a:pPr algn="ctr"/>
                      <a:r>
                        <a:rPr lang="en-US" altLang="zh-TW" sz="1600" dirty="0"/>
                        <a:t>4.5</a:t>
                      </a:r>
                      <a:endParaRPr lang="zh-TW" altLang="en-US" sz="1600" dirty="0"/>
                    </a:p>
                  </a:txBody>
                  <a:tcPr/>
                </a:tc>
                <a:tc>
                  <a:txBody>
                    <a:bodyPr/>
                    <a:lstStyle/>
                    <a:p>
                      <a:pPr algn="ctr"/>
                      <a:r>
                        <a:rPr lang="en-US" altLang="zh-TW" sz="1600" dirty="0"/>
                        <a:t>~ 1.5</a:t>
                      </a:r>
                      <a:endParaRPr lang="zh-TW" altLang="en-US" sz="1600" dirty="0"/>
                    </a:p>
                  </a:txBody>
                  <a:tcPr/>
                </a:tc>
                <a:tc>
                  <a:txBody>
                    <a:bodyPr/>
                    <a:lstStyle/>
                    <a:p>
                      <a:pPr algn="ctr"/>
                      <a:r>
                        <a:rPr lang="en-US" altLang="zh-TW" sz="1600" dirty="0"/>
                        <a:t>~ 0.02</a:t>
                      </a:r>
                      <a:endParaRPr lang="zh-TW" altLang="en-US" sz="1600" dirty="0"/>
                    </a:p>
                  </a:txBody>
                  <a:tcPr/>
                </a:tc>
                <a:extLst>
                  <a:ext uri="{0D108BD9-81ED-4DB2-BD59-A6C34878D82A}">
                    <a16:rowId xmlns:a16="http://schemas.microsoft.com/office/drawing/2014/main" val="3200327777"/>
                  </a:ext>
                </a:extLst>
              </a:tr>
            </a:tbl>
          </a:graphicData>
        </a:graphic>
      </p:graphicFrame>
      <p:sp>
        <p:nvSpPr>
          <p:cNvPr id="15" name="文字方塊 14">
            <a:extLst>
              <a:ext uri="{FF2B5EF4-FFF2-40B4-BE49-F238E27FC236}">
                <a16:creationId xmlns:a16="http://schemas.microsoft.com/office/drawing/2014/main" id="{F1673BB1-4DB1-2E49-367A-A9026ABBF9F0}"/>
              </a:ext>
            </a:extLst>
          </p:cNvPr>
          <p:cNvSpPr txBox="1"/>
          <p:nvPr/>
        </p:nvSpPr>
        <p:spPr>
          <a:xfrm>
            <a:off x="6373847" y="3331769"/>
            <a:ext cx="4988866" cy="338554"/>
          </a:xfrm>
          <a:prstGeom prst="rect">
            <a:avLst/>
          </a:prstGeom>
          <a:noFill/>
        </p:spPr>
        <p:txBody>
          <a:bodyPr wrap="none" rtlCol="0">
            <a:spAutoFit/>
          </a:bodyPr>
          <a:lstStyle/>
          <a:p>
            <a:r>
              <a:rPr lang="zh-TW" altLang="en-US" sz="1600" b="1" dirty="0">
                <a:latin typeface="+mn-ea"/>
                <a:ea typeface="+mn-ea"/>
              </a:rPr>
              <a:t>常見金屬在不同低溫區間的膨脹係數   單位：</a:t>
            </a:r>
            <a:r>
              <a:rPr lang="zh-TW" altLang="en-US" sz="1600" b="1" dirty="0">
                <a:latin typeface="+mn-ea"/>
                <a:ea typeface="+mn-ea"/>
                <a:sym typeface="Symbol" panose="05050102010706020507" pitchFamily="18" charset="2"/>
              </a:rPr>
              <a:t> </a:t>
            </a:r>
            <a:r>
              <a:rPr lang="en-US" altLang="zh-TW" sz="1600" b="1" dirty="0">
                <a:latin typeface="+mn-ea"/>
                <a:ea typeface="+mn-ea"/>
                <a:sym typeface="Symbol" panose="05050102010706020507" pitchFamily="18" charset="2"/>
              </a:rPr>
              <a:t>10</a:t>
            </a:r>
            <a:r>
              <a:rPr lang="en-US" altLang="zh-TW" sz="1600" b="1" baseline="30000" dirty="0">
                <a:latin typeface="+mn-ea"/>
                <a:ea typeface="+mn-ea"/>
                <a:sym typeface="Symbol" panose="05050102010706020507" pitchFamily="18" charset="2"/>
              </a:rPr>
              <a:t>-6</a:t>
            </a:r>
            <a:r>
              <a:rPr lang="en-US" altLang="zh-TW" sz="1600" b="1" dirty="0">
                <a:latin typeface="+mn-ea"/>
                <a:ea typeface="+mn-ea"/>
                <a:sym typeface="Symbol" panose="05050102010706020507" pitchFamily="18" charset="2"/>
              </a:rPr>
              <a:t>/K</a:t>
            </a:r>
            <a:endParaRPr lang="zh-TW" altLang="en-US" sz="1600" b="1" dirty="0">
              <a:latin typeface="+mn-ea"/>
              <a:ea typeface="+mn-ea"/>
            </a:endParaRPr>
          </a:p>
        </p:txBody>
      </p:sp>
      <p:sp>
        <p:nvSpPr>
          <p:cNvPr id="16" name="文字方塊 15">
            <a:extLst>
              <a:ext uri="{FF2B5EF4-FFF2-40B4-BE49-F238E27FC236}">
                <a16:creationId xmlns:a16="http://schemas.microsoft.com/office/drawing/2014/main" id="{99C0839A-13D5-95E3-3558-3FD22FEDA132}"/>
              </a:ext>
            </a:extLst>
          </p:cNvPr>
          <p:cNvSpPr txBox="1"/>
          <p:nvPr/>
        </p:nvSpPr>
        <p:spPr>
          <a:xfrm>
            <a:off x="6146364" y="2929019"/>
            <a:ext cx="5622052" cy="369332"/>
          </a:xfrm>
          <a:prstGeom prst="rect">
            <a:avLst/>
          </a:prstGeom>
          <a:noFill/>
        </p:spPr>
        <p:txBody>
          <a:bodyPr wrap="none" rtlCol="0">
            <a:spAutoFit/>
          </a:bodyPr>
          <a:lstStyle/>
          <a:p>
            <a:r>
              <a:rPr lang="zh-TW" altLang="en-US" b="1" dirty="0">
                <a:solidFill>
                  <a:srgbClr val="0000FF"/>
                </a:solidFill>
                <a:latin typeface="+mn-ea"/>
                <a:ea typeface="+mn-ea"/>
              </a:rPr>
              <a:t>在基板上製作金屬圖案的微波元件其低溫下尺寸為何</a:t>
            </a:r>
            <a:r>
              <a:rPr lang="en-US" altLang="zh-TW" b="1" dirty="0">
                <a:solidFill>
                  <a:srgbClr val="0000FF"/>
                </a:solidFill>
                <a:latin typeface="+mn-ea"/>
                <a:ea typeface="+mn-ea"/>
              </a:rPr>
              <a:t>?</a:t>
            </a:r>
            <a:endParaRPr lang="zh-TW" altLang="en-US" b="1" dirty="0">
              <a:solidFill>
                <a:srgbClr val="0000FF"/>
              </a:solidFill>
              <a:latin typeface="+mn-ea"/>
              <a:ea typeface="+mn-ea"/>
            </a:endParaRPr>
          </a:p>
        </p:txBody>
      </p:sp>
      <p:sp>
        <p:nvSpPr>
          <p:cNvPr id="5" name="投影片編號版面配置區 1">
            <a:extLst>
              <a:ext uri="{FF2B5EF4-FFF2-40B4-BE49-F238E27FC236}">
                <a16:creationId xmlns:a16="http://schemas.microsoft.com/office/drawing/2014/main" id="{AF851ED8-3547-E170-1C8F-CD1A1FECAD6A}"/>
              </a:ext>
            </a:extLst>
          </p:cNvPr>
          <p:cNvSpPr txBox="1">
            <a:spLocks/>
          </p:cNvSpPr>
          <p:nvPr/>
        </p:nvSpPr>
        <p:spPr bwMode="auto">
          <a:xfrm>
            <a:off x="11430000" y="6619875"/>
            <a:ext cx="762000" cy="238125"/>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zh-TW"/>
            </a:defPPr>
            <a:lvl1pPr algn="r" rtl="0" eaLnBrk="1" fontAlgn="ctr" hangingPunct="1">
              <a:spcBef>
                <a:spcPct val="0"/>
              </a:spcBef>
              <a:spcAft>
                <a:spcPct val="0"/>
              </a:spcAft>
              <a:defRPr kumimoji="1" sz="1200" kern="1200">
                <a:solidFill>
                  <a:schemeClr val="tx1"/>
                </a:solidFill>
                <a:latin typeface="Arial" panose="020B0604020202020204" pitchFamily="34" charset="0"/>
                <a:ea typeface="新細明體" panose="02020500000000000000" pitchFamily="18" charset="-120"/>
                <a:cs typeface="+mn-cs"/>
              </a:defRPr>
            </a:lvl1pPr>
            <a:lvl2pPr marL="742950" indent="-28575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2pPr>
            <a:lvl3pPr marL="1143000" indent="-2286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3pPr>
            <a:lvl4pPr marL="1600200" indent="-2286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4pPr>
            <a:lvl5pPr marL="2057400" indent="-2286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9pPr>
          </a:lstStyle>
          <a:p>
            <a:fld id="{49A9212D-6406-4E12-8CC4-78DDFE99027F}" type="slidenum">
              <a:rPr lang="en-US" altLang="zh-TW" smtClean="0">
                <a:solidFill>
                  <a:schemeClr val="bg1"/>
                </a:solidFill>
                <a:ea typeface="微軟正黑體" panose="020B0604030504040204" pitchFamily="34" charset="-120"/>
              </a:rPr>
              <a:pPr/>
              <a:t>4</a:t>
            </a:fld>
            <a:endParaRPr lang="en-US" altLang="zh-TW">
              <a:solidFill>
                <a:schemeClr val="bg1"/>
              </a:solidFill>
              <a:ea typeface="微軟正黑體" panose="020B0604030504040204" pitchFamily="34" charset="-120"/>
            </a:endParaRPr>
          </a:p>
        </p:txBody>
      </p:sp>
      <p:grpSp>
        <p:nvGrpSpPr>
          <p:cNvPr id="6" name="群組 5">
            <a:extLst>
              <a:ext uri="{FF2B5EF4-FFF2-40B4-BE49-F238E27FC236}">
                <a16:creationId xmlns:a16="http://schemas.microsoft.com/office/drawing/2014/main" id="{0C860DCA-A8EB-360D-591F-11D737DFB755}"/>
              </a:ext>
            </a:extLst>
          </p:cNvPr>
          <p:cNvGrpSpPr/>
          <p:nvPr/>
        </p:nvGrpSpPr>
        <p:grpSpPr>
          <a:xfrm>
            <a:off x="844628" y="2929019"/>
            <a:ext cx="4676037" cy="3523233"/>
            <a:chOff x="844628" y="2929019"/>
            <a:chExt cx="4676037" cy="3523233"/>
          </a:xfrm>
        </p:grpSpPr>
        <p:pic>
          <p:nvPicPr>
            <p:cNvPr id="7" name="圖片 6">
              <a:extLst>
                <a:ext uri="{FF2B5EF4-FFF2-40B4-BE49-F238E27FC236}">
                  <a16:creationId xmlns:a16="http://schemas.microsoft.com/office/drawing/2014/main" id="{44D7EA86-E8D8-9747-81EE-E34A378D97E7}"/>
                </a:ext>
              </a:extLst>
            </p:cNvPr>
            <p:cNvPicPr>
              <a:picLocks noChangeAspect="1"/>
            </p:cNvPicPr>
            <p:nvPr/>
          </p:nvPicPr>
          <p:blipFill>
            <a:blip r:embed="rId2"/>
            <a:stretch>
              <a:fillRect/>
            </a:stretch>
          </p:blipFill>
          <p:spPr>
            <a:xfrm>
              <a:off x="844628" y="2996439"/>
              <a:ext cx="4676037" cy="3365284"/>
            </a:xfrm>
            <a:prstGeom prst="rect">
              <a:avLst/>
            </a:prstGeom>
          </p:spPr>
        </p:pic>
        <p:sp>
          <p:nvSpPr>
            <p:cNvPr id="8" name="矩形 7">
              <a:extLst>
                <a:ext uri="{FF2B5EF4-FFF2-40B4-BE49-F238E27FC236}">
                  <a16:creationId xmlns:a16="http://schemas.microsoft.com/office/drawing/2014/main" id="{6E02BAA3-5C0C-7A26-A8FF-0E191B6B1F55}"/>
                </a:ext>
              </a:extLst>
            </p:cNvPr>
            <p:cNvSpPr/>
            <p:nvPr/>
          </p:nvSpPr>
          <p:spPr bwMode="auto">
            <a:xfrm>
              <a:off x="2002665" y="2968580"/>
              <a:ext cx="2569335" cy="170645"/>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a:ln>
                  <a:noFill/>
                </a:ln>
                <a:solidFill>
                  <a:schemeClr val="tx1"/>
                </a:solidFill>
                <a:effectLst/>
                <a:latin typeface="Arial" charset="0"/>
                <a:ea typeface="新細明體" pitchFamily="18" charset="-120"/>
              </a:endParaRPr>
            </a:p>
          </p:txBody>
        </p:sp>
        <p:sp>
          <p:nvSpPr>
            <p:cNvPr id="9" name="文字方塊 8">
              <a:extLst>
                <a:ext uri="{FF2B5EF4-FFF2-40B4-BE49-F238E27FC236}">
                  <a16:creationId xmlns:a16="http://schemas.microsoft.com/office/drawing/2014/main" id="{AEE734A6-CBF0-CA0B-BF36-7186A8C61AA7}"/>
                </a:ext>
              </a:extLst>
            </p:cNvPr>
            <p:cNvSpPr txBox="1"/>
            <p:nvPr/>
          </p:nvSpPr>
          <p:spPr>
            <a:xfrm>
              <a:off x="2488544" y="2929019"/>
              <a:ext cx="1869423" cy="338554"/>
            </a:xfrm>
            <a:prstGeom prst="rect">
              <a:avLst/>
            </a:prstGeom>
            <a:noFill/>
          </p:spPr>
          <p:txBody>
            <a:bodyPr wrap="none" rtlCol="0">
              <a:spAutoFit/>
            </a:bodyPr>
            <a:lstStyle/>
            <a:p>
              <a:r>
                <a:rPr lang="en-US" altLang="zh-TW" sz="1600" b="1" baseline="30000" dirty="0">
                  <a:latin typeface="+mn-ea"/>
                  <a:ea typeface="+mn-ea"/>
                </a:rPr>
                <a:t>3</a:t>
              </a:r>
              <a:r>
                <a:rPr lang="en-US" altLang="zh-TW" sz="1600" b="1" dirty="0">
                  <a:latin typeface="+mn-ea"/>
                  <a:ea typeface="+mn-ea"/>
                </a:rPr>
                <a:t>He/</a:t>
              </a:r>
              <a:r>
                <a:rPr lang="en-US" altLang="zh-TW" sz="1600" b="1" baseline="30000" dirty="0">
                  <a:latin typeface="+mn-ea"/>
                  <a:ea typeface="+mn-ea"/>
                </a:rPr>
                <a:t>4</a:t>
              </a:r>
              <a:r>
                <a:rPr lang="en-US" altLang="zh-TW" sz="1600" b="1" dirty="0">
                  <a:latin typeface="+mn-ea"/>
                  <a:ea typeface="+mn-ea"/>
                </a:rPr>
                <a:t>He </a:t>
              </a:r>
              <a:r>
                <a:rPr lang="zh-TW" altLang="en-US" sz="1600" b="1" dirty="0">
                  <a:latin typeface="+mn-ea"/>
                  <a:ea typeface="+mn-ea"/>
                </a:rPr>
                <a:t>混和相圖</a:t>
              </a:r>
            </a:p>
          </p:txBody>
        </p:sp>
        <p:sp>
          <p:nvSpPr>
            <p:cNvPr id="10" name="矩形 9">
              <a:extLst>
                <a:ext uri="{FF2B5EF4-FFF2-40B4-BE49-F238E27FC236}">
                  <a16:creationId xmlns:a16="http://schemas.microsoft.com/office/drawing/2014/main" id="{3517BA0E-464B-61A6-B7F3-74A126EE847E}"/>
                </a:ext>
              </a:extLst>
            </p:cNvPr>
            <p:cNvSpPr/>
            <p:nvPr/>
          </p:nvSpPr>
          <p:spPr bwMode="auto">
            <a:xfrm>
              <a:off x="2103128" y="6233375"/>
              <a:ext cx="2569335" cy="170645"/>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a:ln>
                  <a:noFill/>
                </a:ln>
                <a:solidFill>
                  <a:schemeClr val="tx1"/>
                </a:solidFill>
                <a:effectLst/>
                <a:latin typeface="Arial" charset="0"/>
                <a:ea typeface="新細明體" pitchFamily="18" charset="-120"/>
              </a:endParaRPr>
            </a:p>
          </p:txBody>
        </p:sp>
        <p:sp>
          <p:nvSpPr>
            <p:cNvPr id="11" name="文字方塊 10">
              <a:extLst>
                <a:ext uri="{FF2B5EF4-FFF2-40B4-BE49-F238E27FC236}">
                  <a16:creationId xmlns:a16="http://schemas.microsoft.com/office/drawing/2014/main" id="{1AA9F84A-27D2-FEE7-D29D-C1EE84B1385D}"/>
                </a:ext>
              </a:extLst>
            </p:cNvPr>
            <p:cNvSpPr txBox="1"/>
            <p:nvPr/>
          </p:nvSpPr>
          <p:spPr>
            <a:xfrm>
              <a:off x="2746773" y="6113698"/>
              <a:ext cx="1285929" cy="338554"/>
            </a:xfrm>
            <a:prstGeom prst="rect">
              <a:avLst/>
            </a:prstGeom>
            <a:noFill/>
          </p:spPr>
          <p:txBody>
            <a:bodyPr wrap="none" rtlCol="0">
              <a:spAutoFit/>
            </a:bodyPr>
            <a:lstStyle/>
            <a:p>
              <a:r>
                <a:rPr lang="en-US" altLang="zh-TW" sz="1600" b="1" baseline="30000" dirty="0">
                  <a:latin typeface="+mn-ea"/>
                  <a:ea typeface="+mn-ea"/>
                </a:rPr>
                <a:t>3</a:t>
              </a:r>
              <a:r>
                <a:rPr lang="en-US" altLang="zh-TW" sz="1600" b="1" dirty="0">
                  <a:latin typeface="+mn-ea"/>
                  <a:ea typeface="+mn-ea"/>
                </a:rPr>
                <a:t>He</a:t>
              </a:r>
              <a:r>
                <a:rPr lang="zh-TW" altLang="en-US" sz="1600" b="1" dirty="0">
                  <a:latin typeface="+mn-ea"/>
                  <a:ea typeface="+mn-ea"/>
                </a:rPr>
                <a:t>濃度</a:t>
              </a:r>
              <a:r>
                <a:rPr lang="en-US" altLang="zh-TW" sz="1600" b="1" dirty="0">
                  <a:latin typeface="+mn-ea"/>
                  <a:ea typeface="+mn-ea"/>
                </a:rPr>
                <a:t>(%)</a:t>
              </a:r>
              <a:endParaRPr lang="zh-TW" altLang="en-US" sz="1600" b="1" dirty="0">
                <a:latin typeface="+mn-ea"/>
                <a:ea typeface="+mn-ea"/>
              </a:endParaRPr>
            </a:p>
          </p:txBody>
        </p:sp>
      </p:grpSp>
    </p:spTree>
    <p:extLst>
      <p:ext uri="{BB962C8B-B14F-4D97-AF65-F5344CB8AC3E}">
        <p14:creationId xmlns:p14="http://schemas.microsoft.com/office/powerpoint/2010/main" val="24121636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84077" y="150943"/>
            <a:ext cx="11045923" cy="615088"/>
          </a:xfrm>
        </p:spPr>
        <p:txBody>
          <a:bodyPr/>
          <a:lstStyle/>
          <a:p>
            <a:pPr>
              <a:spcBef>
                <a:spcPts val="1800"/>
              </a:spcBef>
            </a:pPr>
            <a:r>
              <a:rPr lang="zh-TW" altLang="en-US" sz="3600" dirty="0"/>
              <a:t>挑戰關鍵點</a:t>
            </a:r>
            <a:endParaRPr lang="en-US" altLang="zh-TW" sz="3600" dirty="0"/>
          </a:p>
        </p:txBody>
      </p:sp>
      <p:sp>
        <p:nvSpPr>
          <p:cNvPr id="4" name="投影片編號版面配置區 1">
            <a:extLst>
              <a:ext uri="{FF2B5EF4-FFF2-40B4-BE49-F238E27FC236}">
                <a16:creationId xmlns:a16="http://schemas.microsoft.com/office/drawing/2014/main" id="{CBE45E11-521D-40EE-8119-7A0690386FA9}"/>
              </a:ext>
            </a:extLst>
          </p:cNvPr>
          <p:cNvSpPr txBox="1">
            <a:spLocks/>
          </p:cNvSpPr>
          <p:nvPr/>
        </p:nvSpPr>
        <p:spPr bwMode="auto">
          <a:xfrm>
            <a:off x="12363527" y="6646058"/>
            <a:ext cx="762000" cy="238125"/>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zh-TW"/>
            </a:defPPr>
            <a:lvl1pPr algn="r" rtl="0" eaLnBrk="1" fontAlgn="ctr" hangingPunct="1">
              <a:spcBef>
                <a:spcPct val="0"/>
              </a:spcBef>
              <a:spcAft>
                <a:spcPct val="0"/>
              </a:spcAft>
              <a:defRPr kumimoji="1" sz="1200" kern="1200">
                <a:solidFill>
                  <a:schemeClr val="tx1"/>
                </a:solidFill>
                <a:latin typeface="Arial" panose="020B0604020202020204" pitchFamily="34" charset="0"/>
                <a:ea typeface="新細明體" panose="02020500000000000000" pitchFamily="18" charset="-120"/>
                <a:cs typeface="+mn-cs"/>
              </a:defRPr>
            </a:lvl1pPr>
            <a:lvl2pPr marL="742950" indent="-28575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2pPr>
            <a:lvl3pPr marL="1143000" indent="-2286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3pPr>
            <a:lvl4pPr marL="1600200" indent="-2286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4pPr>
            <a:lvl5pPr marL="2057400" indent="-2286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9pPr>
          </a:lstStyle>
          <a:p>
            <a:fld id="{49A9212D-6406-4E12-8CC4-78DDFE99027F}" type="slidenum">
              <a:rPr lang="en-US" altLang="zh-TW" smtClean="0">
                <a:solidFill>
                  <a:schemeClr val="bg1"/>
                </a:solidFill>
                <a:ea typeface="微軟正黑體" panose="020B0604030504040204" pitchFamily="34" charset="-120"/>
              </a:rPr>
              <a:pPr/>
              <a:t>5</a:t>
            </a:fld>
            <a:endParaRPr lang="en-US" altLang="zh-TW">
              <a:solidFill>
                <a:schemeClr val="bg1"/>
              </a:solidFill>
              <a:ea typeface="微軟正黑體" panose="020B0604030504040204" pitchFamily="34" charset="-120"/>
            </a:endParaRPr>
          </a:p>
        </p:txBody>
      </p:sp>
      <p:sp>
        <p:nvSpPr>
          <p:cNvPr id="6" name="文字方塊 5">
            <a:extLst>
              <a:ext uri="{FF2B5EF4-FFF2-40B4-BE49-F238E27FC236}">
                <a16:creationId xmlns:a16="http://schemas.microsoft.com/office/drawing/2014/main" id="{D393923F-059E-C060-B271-673365BFE24B}"/>
              </a:ext>
            </a:extLst>
          </p:cNvPr>
          <p:cNvSpPr txBox="1"/>
          <p:nvPr/>
        </p:nvSpPr>
        <p:spPr>
          <a:xfrm>
            <a:off x="384077" y="722096"/>
            <a:ext cx="11478729" cy="3031599"/>
          </a:xfrm>
          <a:prstGeom prst="rect">
            <a:avLst/>
          </a:prstGeom>
          <a:noFill/>
        </p:spPr>
        <p:txBody>
          <a:bodyPr wrap="square">
            <a:spAutoFit/>
          </a:bodyPr>
          <a:lstStyle/>
          <a:p>
            <a:pPr>
              <a:spcAft>
                <a:spcPts val="600"/>
              </a:spcAft>
            </a:pPr>
            <a:r>
              <a:rPr lang="zh-TW" altLang="en-US" sz="2000" b="1" dirty="0">
                <a:latin typeface="+mn-ea"/>
                <a:ea typeface="+mn-ea"/>
              </a:rPr>
              <a:t>關鍵</a:t>
            </a:r>
            <a:r>
              <a:rPr lang="en-US" altLang="zh-TW" sz="2000" b="1" dirty="0">
                <a:latin typeface="+mn-ea"/>
                <a:ea typeface="+mn-ea"/>
              </a:rPr>
              <a:t>1</a:t>
            </a:r>
            <a:r>
              <a:rPr lang="zh-TW" altLang="en-US" sz="2000" b="1" dirty="0">
                <a:latin typeface="+mn-ea"/>
                <a:ea typeface="+mn-ea"/>
              </a:rPr>
              <a:t>：建立兼顧低溫冷量與多元量測介面並具 </a:t>
            </a:r>
            <a:r>
              <a:rPr lang="en-US" altLang="zh-TW" sz="2000" b="1" dirty="0">
                <a:latin typeface="+mn-ea"/>
                <a:ea typeface="+mn-ea"/>
              </a:rPr>
              <a:t>sub-K </a:t>
            </a:r>
            <a:r>
              <a:rPr lang="zh-TW" altLang="en-US" sz="2000" b="1" dirty="0">
                <a:latin typeface="+mn-ea"/>
                <a:ea typeface="+mn-ea"/>
              </a:rPr>
              <a:t>擴充之絕熱去磁製冷</a:t>
            </a:r>
            <a:r>
              <a:rPr lang="en-US" altLang="zh-TW" sz="2000" b="1" dirty="0">
                <a:latin typeface="+mn-ea"/>
                <a:ea typeface="+mn-ea"/>
              </a:rPr>
              <a:t>(ADR)</a:t>
            </a:r>
            <a:r>
              <a:rPr lang="zh-TW" altLang="en-US" sz="2000" b="1" dirty="0">
                <a:latin typeface="+mn-ea"/>
                <a:ea typeface="+mn-ea"/>
              </a:rPr>
              <a:t>量測平台</a:t>
            </a:r>
            <a:endParaRPr lang="en-US" altLang="zh-TW" sz="2000" b="1" dirty="0">
              <a:latin typeface="+mn-ea"/>
              <a:ea typeface="+mn-ea"/>
            </a:endParaRPr>
          </a:p>
          <a:p>
            <a:pPr marL="541338" lvl="1" indent="-187325">
              <a:spcAft>
                <a:spcPts val="300"/>
              </a:spcAft>
              <a:buFont typeface="Arial" panose="020B0604020202020204" pitchFamily="34" charset="0"/>
              <a:buChar char="•"/>
            </a:pPr>
            <a:r>
              <a:rPr lang="en-US" altLang="zh-TW" dirty="0">
                <a:latin typeface="+mn-ea"/>
                <a:ea typeface="+mn-ea"/>
              </a:rPr>
              <a:t>ADR</a:t>
            </a:r>
            <a:r>
              <a:rPr lang="zh-TW" altLang="en-US" dirty="0">
                <a:latin typeface="+mn-ea"/>
                <a:ea typeface="+mn-ea"/>
              </a:rPr>
              <a:t>製冷技術不需使用</a:t>
            </a:r>
            <a:r>
              <a:rPr lang="en-US" altLang="zh-TW" baseline="30000" dirty="0">
                <a:latin typeface="+mn-ea"/>
                <a:ea typeface="+mn-ea"/>
              </a:rPr>
              <a:t>3</a:t>
            </a:r>
            <a:r>
              <a:rPr lang="en-US" altLang="zh-TW" dirty="0">
                <a:latin typeface="+mn-ea"/>
                <a:ea typeface="+mn-ea"/>
              </a:rPr>
              <a:t>He</a:t>
            </a:r>
            <a:r>
              <a:rPr lang="zh-TW" altLang="en-US" dirty="0">
                <a:latin typeface="+mn-ea"/>
                <a:ea typeface="+mn-ea"/>
              </a:rPr>
              <a:t>，雖已發展多年，仍持續精進於磁性材料、減少系統複雜度、提升效率等。</a:t>
            </a:r>
            <a:endParaRPr lang="en-US" altLang="zh-TW" dirty="0">
              <a:latin typeface="+mn-ea"/>
              <a:ea typeface="+mn-ea"/>
            </a:endParaRPr>
          </a:p>
          <a:p>
            <a:pPr marL="541338" lvl="1" indent="-187325">
              <a:spcAft>
                <a:spcPts val="300"/>
              </a:spcAft>
              <a:buFont typeface="Arial" panose="020B0604020202020204" pitchFamily="34" charset="0"/>
              <a:buChar char="•"/>
            </a:pPr>
            <a:r>
              <a:rPr lang="zh-TW" altLang="en-US" dirty="0">
                <a:latin typeface="+mn-ea"/>
                <a:ea typeface="+mn-ea"/>
              </a:rPr>
              <a:t>於</a:t>
            </a:r>
            <a:r>
              <a:rPr lang="en-US" altLang="zh-TW" dirty="0">
                <a:latin typeface="+mn-ea"/>
                <a:ea typeface="+mn-ea"/>
              </a:rPr>
              <a:t>ADR</a:t>
            </a:r>
            <a:r>
              <a:rPr lang="zh-TW" altLang="en-US" dirty="0">
                <a:latin typeface="+mn-ea"/>
                <a:ea typeface="+mn-ea"/>
              </a:rPr>
              <a:t>系統將光學、</a:t>
            </a:r>
            <a:r>
              <a:rPr lang="en-US" altLang="zh-TW" dirty="0">
                <a:latin typeface="+mn-ea"/>
                <a:ea typeface="+mn-ea"/>
              </a:rPr>
              <a:t>DC</a:t>
            </a:r>
            <a:r>
              <a:rPr lang="zh-TW" altLang="en-US" dirty="0">
                <a:latin typeface="+mn-ea"/>
                <a:ea typeface="+mn-ea"/>
              </a:rPr>
              <a:t>／</a:t>
            </a:r>
            <a:r>
              <a:rPr lang="en-US" altLang="zh-TW" dirty="0">
                <a:latin typeface="+mn-ea"/>
                <a:ea typeface="+mn-ea"/>
              </a:rPr>
              <a:t>RF</a:t>
            </a:r>
            <a:r>
              <a:rPr lang="zh-TW" altLang="en-US" dirty="0">
                <a:latin typeface="+mn-ea"/>
                <a:ea typeface="+mn-ea"/>
              </a:rPr>
              <a:t>介面及量測導入熱負載納入共同設計，建立可更換樣品模組與標準化熱介面</a:t>
            </a:r>
            <a:r>
              <a:rPr lang="zh-TW" altLang="en-US" dirty="0">
                <a:latin typeface="微軟正黑體" panose="020B0604030504040204" pitchFamily="34" charset="-120"/>
                <a:ea typeface="微軟正黑體" panose="020B0604030504040204" pitchFamily="34" charset="-120"/>
              </a:rPr>
              <a:t>。</a:t>
            </a:r>
            <a:endParaRPr lang="en-US" altLang="zh-TW" dirty="0">
              <a:latin typeface="+mn-ea"/>
              <a:ea typeface="+mn-ea"/>
            </a:endParaRPr>
          </a:p>
          <a:p>
            <a:pPr marL="541338" lvl="1" indent="-187325">
              <a:spcAft>
                <a:spcPts val="300"/>
              </a:spcAft>
              <a:buFont typeface="Arial" panose="020B0604020202020204" pitchFamily="34" charset="0"/>
              <a:buChar char="•"/>
            </a:pPr>
            <a:r>
              <a:rPr lang="zh-TW" altLang="en-US" dirty="0">
                <a:latin typeface="+mn-ea"/>
                <a:ea typeface="+mn-ea"/>
              </a:rPr>
              <a:t>預留後續磁熱級串接能力，使量測架構可進一步延伸至</a:t>
            </a:r>
            <a:r>
              <a:rPr lang="en-US" altLang="zh-TW" dirty="0">
                <a:latin typeface="+mn-ea"/>
                <a:ea typeface="+mn-ea"/>
              </a:rPr>
              <a:t>sub-K</a:t>
            </a:r>
            <a:r>
              <a:rPr lang="zh-TW" altLang="en-US" dirty="0">
                <a:latin typeface="+mn-ea"/>
                <a:ea typeface="+mn-ea"/>
              </a:rPr>
              <a:t>。</a:t>
            </a:r>
            <a:endParaRPr lang="en-US" altLang="zh-TW" dirty="0">
              <a:latin typeface="+mn-ea"/>
              <a:ea typeface="+mn-ea"/>
            </a:endParaRPr>
          </a:p>
          <a:p>
            <a:pPr>
              <a:spcBef>
                <a:spcPts val="600"/>
              </a:spcBef>
              <a:spcAft>
                <a:spcPts val="600"/>
              </a:spcAft>
            </a:pPr>
            <a:r>
              <a:rPr lang="zh-TW" altLang="en-US" sz="2000" b="1" dirty="0">
                <a:latin typeface="+mn-ea"/>
                <a:ea typeface="+mn-ea"/>
              </a:rPr>
              <a:t>關鍵</a:t>
            </a:r>
            <a:r>
              <a:rPr lang="en-US" altLang="zh-TW" sz="2000" b="1" dirty="0">
                <a:latin typeface="+mn-ea"/>
                <a:ea typeface="+mn-ea"/>
              </a:rPr>
              <a:t>2</a:t>
            </a:r>
            <a:r>
              <a:rPr lang="zh-TW" altLang="en-US" sz="2000" b="1" dirty="0">
                <a:latin typeface="+mn-ea"/>
                <a:ea typeface="+mn-ea"/>
              </a:rPr>
              <a:t>：在低熱擾動下取得實際低溫尺寸，並建立尺寸－電氣特性關聯</a:t>
            </a:r>
            <a:endParaRPr lang="en-US" altLang="zh-TW" sz="2000" b="1" dirty="0">
              <a:effectLst/>
              <a:latin typeface="+mn-ea"/>
              <a:ea typeface="+mn-ea"/>
              <a:cs typeface="Times New Roman" panose="02020603050405020304" pitchFamily="18" charset="0"/>
            </a:endParaRPr>
          </a:p>
          <a:p>
            <a:pPr marL="541338" lvl="1" indent="-187325">
              <a:spcAft>
                <a:spcPts val="300"/>
              </a:spcAft>
              <a:buFont typeface="Arial" panose="020B0604020202020204" pitchFamily="34" charset="0"/>
              <a:buChar char="•"/>
            </a:pPr>
            <a:r>
              <a:rPr lang="en-US" altLang="zh-TW" dirty="0">
                <a:latin typeface="+mj-lt"/>
                <a:ea typeface="+mj-ea"/>
              </a:rPr>
              <a:t>Cryo-CMOS</a:t>
            </a:r>
            <a:r>
              <a:rPr lang="zh-TW" altLang="en-US" dirty="0">
                <a:latin typeface="+mj-lt"/>
                <a:ea typeface="+mj-ea"/>
              </a:rPr>
              <a:t>及超導微波元件特性同時受材料與實際低溫幾何尺寸影響，現有電氣量測缺乏 </a:t>
            </a:r>
            <a:r>
              <a:rPr lang="en-US" altLang="zh-TW" dirty="0">
                <a:latin typeface="+mj-lt"/>
                <a:ea typeface="+mj-ea"/>
              </a:rPr>
              <a:t>Geometry(T) </a:t>
            </a:r>
            <a:r>
              <a:rPr lang="zh-TW" altLang="en-US" dirty="0">
                <a:latin typeface="+mj-lt"/>
                <a:ea typeface="+mj-ea"/>
              </a:rPr>
              <a:t>實測資料。</a:t>
            </a:r>
            <a:endParaRPr lang="en-US" altLang="zh-TW" dirty="0">
              <a:latin typeface="+mj-lt"/>
              <a:ea typeface="+mj-ea"/>
            </a:endParaRPr>
          </a:p>
          <a:p>
            <a:pPr marL="541338" lvl="1" indent="-187325">
              <a:spcAft>
                <a:spcPts val="300"/>
              </a:spcAft>
              <a:buFont typeface="Arial" panose="020B0604020202020204" pitchFamily="34" charset="0"/>
              <a:buChar char="•"/>
            </a:pPr>
            <a:r>
              <a:rPr lang="zh-TW" altLang="en-US" dirty="0">
                <a:latin typeface="+mj-lt"/>
                <a:ea typeface="+mj-ea"/>
              </a:rPr>
              <a:t>低溫光學照明產生熱負載，</a:t>
            </a:r>
            <a:r>
              <a:rPr lang="en-US" altLang="zh-TW" dirty="0">
                <a:latin typeface="+mj-lt"/>
                <a:ea typeface="+mj-ea"/>
              </a:rPr>
              <a:t>pulse-tube</a:t>
            </a:r>
            <a:r>
              <a:rPr lang="zh-TW" altLang="en-US" dirty="0">
                <a:latin typeface="+mj-lt"/>
                <a:ea typeface="+mj-ea"/>
              </a:rPr>
              <a:t>週期震動造成影像模糊，需突破低光熱、震動同步與跨溫尺寸校正技術。</a:t>
            </a:r>
            <a:endParaRPr lang="en-US" altLang="zh-TW" dirty="0">
              <a:latin typeface="+mj-lt"/>
              <a:ea typeface="+mj-ea"/>
            </a:endParaRPr>
          </a:p>
        </p:txBody>
      </p:sp>
      <p:pic>
        <p:nvPicPr>
          <p:cNvPr id="3" name="圖片 2">
            <a:extLst>
              <a:ext uri="{FF2B5EF4-FFF2-40B4-BE49-F238E27FC236}">
                <a16:creationId xmlns:a16="http://schemas.microsoft.com/office/drawing/2014/main" id="{32A0EBB1-23F3-64DB-F62F-324E936D318E}"/>
              </a:ext>
            </a:extLst>
          </p:cNvPr>
          <p:cNvPicPr>
            <a:picLocks noChangeAspect="1"/>
          </p:cNvPicPr>
          <p:nvPr/>
        </p:nvPicPr>
        <p:blipFill>
          <a:blip r:embed="rId3"/>
          <a:stretch>
            <a:fillRect/>
          </a:stretch>
        </p:blipFill>
        <p:spPr>
          <a:xfrm>
            <a:off x="8592369" y="4074420"/>
            <a:ext cx="2273090" cy="2009098"/>
          </a:xfrm>
          <a:prstGeom prst="rect">
            <a:avLst/>
          </a:prstGeom>
        </p:spPr>
      </p:pic>
      <p:sp>
        <p:nvSpPr>
          <p:cNvPr id="8" name="文字方塊 7">
            <a:extLst>
              <a:ext uri="{FF2B5EF4-FFF2-40B4-BE49-F238E27FC236}">
                <a16:creationId xmlns:a16="http://schemas.microsoft.com/office/drawing/2014/main" id="{566CE253-03B7-2E8A-EA94-3918195B2801}"/>
              </a:ext>
            </a:extLst>
          </p:cNvPr>
          <p:cNvSpPr txBox="1"/>
          <p:nvPr/>
        </p:nvSpPr>
        <p:spPr>
          <a:xfrm>
            <a:off x="8047486" y="3695951"/>
            <a:ext cx="3139112" cy="338554"/>
          </a:xfrm>
          <a:prstGeom prst="rect">
            <a:avLst/>
          </a:prstGeom>
          <a:noFill/>
        </p:spPr>
        <p:txBody>
          <a:bodyPr wrap="square">
            <a:spAutoFit/>
          </a:bodyPr>
          <a:lstStyle/>
          <a:p>
            <a:pPr algn="ctr"/>
            <a:r>
              <a:rPr lang="zh-TW" altLang="en-US" sz="1600" b="1" dirty="0">
                <a:latin typeface="+mn-lt"/>
                <a:ea typeface="+mj-ea"/>
              </a:rPr>
              <a:t>高頻</a:t>
            </a:r>
            <a:r>
              <a:rPr lang="en-US" altLang="zh-TW" sz="1600" b="1" dirty="0">
                <a:latin typeface="+mn-lt"/>
                <a:ea typeface="+mj-ea"/>
              </a:rPr>
              <a:t>2D</a:t>
            </a:r>
            <a:r>
              <a:rPr lang="zh-TW" altLang="en-US" sz="1600" b="1" dirty="0">
                <a:latin typeface="+mn-lt"/>
                <a:ea typeface="+mj-ea"/>
              </a:rPr>
              <a:t>電感</a:t>
            </a:r>
            <a:r>
              <a:rPr lang="en-US" altLang="zh-TW" sz="1600" b="1" dirty="0">
                <a:latin typeface="+mn-lt"/>
                <a:ea typeface="+mj-ea"/>
              </a:rPr>
              <a:t>pattern</a:t>
            </a:r>
          </a:p>
        </p:txBody>
      </p:sp>
      <p:grpSp>
        <p:nvGrpSpPr>
          <p:cNvPr id="77" name="群組 76">
            <a:extLst>
              <a:ext uri="{FF2B5EF4-FFF2-40B4-BE49-F238E27FC236}">
                <a16:creationId xmlns:a16="http://schemas.microsoft.com/office/drawing/2014/main" id="{09140851-9220-524A-A85F-6212BB37C065}"/>
              </a:ext>
            </a:extLst>
          </p:cNvPr>
          <p:cNvGrpSpPr/>
          <p:nvPr/>
        </p:nvGrpSpPr>
        <p:grpSpPr>
          <a:xfrm>
            <a:off x="184310" y="4692896"/>
            <a:ext cx="3736610" cy="1566280"/>
            <a:chOff x="378726" y="3937570"/>
            <a:chExt cx="3736610" cy="1566280"/>
          </a:xfrm>
        </p:grpSpPr>
        <p:sp>
          <p:nvSpPr>
            <p:cNvPr id="5" name="矩形 4">
              <a:extLst>
                <a:ext uri="{FF2B5EF4-FFF2-40B4-BE49-F238E27FC236}">
                  <a16:creationId xmlns:a16="http://schemas.microsoft.com/office/drawing/2014/main" id="{B41CE7E7-C9FC-7FB4-1920-E56899EE0D3C}"/>
                </a:ext>
              </a:extLst>
            </p:cNvPr>
            <p:cNvSpPr/>
            <p:nvPr/>
          </p:nvSpPr>
          <p:spPr bwMode="auto">
            <a:xfrm>
              <a:off x="1091681" y="4525347"/>
              <a:ext cx="1054359" cy="84908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a:ln>
                  <a:noFill/>
                </a:ln>
                <a:solidFill>
                  <a:schemeClr val="tx1"/>
                </a:solidFill>
                <a:effectLst/>
                <a:latin typeface="Arial" charset="0"/>
                <a:ea typeface="新細明體" pitchFamily="18" charset="-120"/>
              </a:endParaRPr>
            </a:p>
          </p:txBody>
        </p:sp>
        <p:cxnSp>
          <p:nvCxnSpPr>
            <p:cNvPr id="11" name="直線單箭頭接點 10">
              <a:extLst>
                <a:ext uri="{FF2B5EF4-FFF2-40B4-BE49-F238E27FC236}">
                  <a16:creationId xmlns:a16="http://schemas.microsoft.com/office/drawing/2014/main" id="{C6D61FA2-EDA4-4A2B-4415-3A28859DC93F}"/>
                </a:ext>
              </a:extLst>
            </p:cNvPr>
            <p:cNvCxnSpPr/>
            <p:nvPr/>
          </p:nvCxnSpPr>
          <p:spPr bwMode="auto">
            <a:xfrm flipV="1">
              <a:off x="1147363" y="4594369"/>
              <a:ext cx="233265" cy="24259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2" name="直線單箭頭接點 11">
              <a:extLst>
                <a:ext uri="{FF2B5EF4-FFF2-40B4-BE49-F238E27FC236}">
                  <a16:creationId xmlns:a16="http://schemas.microsoft.com/office/drawing/2014/main" id="{F28108FE-F115-ECBC-005F-8059C957698A}"/>
                </a:ext>
              </a:extLst>
            </p:cNvPr>
            <p:cNvCxnSpPr>
              <a:cxnSpLocks/>
            </p:cNvCxnSpPr>
            <p:nvPr/>
          </p:nvCxnSpPr>
          <p:spPr bwMode="auto">
            <a:xfrm flipV="1">
              <a:off x="1199795" y="4945799"/>
              <a:ext cx="269843" cy="9457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3" name="直線單箭頭接點 12">
              <a:extLst>
                <a:ext uri="{FF2B5EF4-FFF2-40B4-BE49-F238E27FC236}">
                  <a16:creationId xmlns:a16="http://schemas.microsoft.com/office/drawing/2014/main" id="{7868C966-BD0E-6BCF-5C3E-93F39CD77F8E}"/>
                </a:ext>
              </a:extLst>
            </p:cNvPr>
            <p:cNvCxnSpPr>
              <a:cxnSpLocks/>
            </p:cNvCxnSpPr>
            <p:nvPr/>
          </p:nvCxnSpPr>
          <p:spPr bwMode="auto">
            <a:xfrm flipV="1">
              <a:off x="1352195" y="4993086"/>
              <a:ext cx="195720" cy="28423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5" name="直線單箭頭接點 14">
              <a:extLst>
                <a:ext uri="{FF2B5EF4-FFF2-40B4-BE49-F238E27FC236}">
                  <a16:creationId xmlns:a16="http://schemas.microsoft.com/office/drawing/2014/main" id="{3C6F0DE3-6430-47C7-2B67-8FDD7E6DA10C}"/>
                </a:ext>
              </a:extLst>
            </p:cNvPr>
            <p:cNvCxnSpPr>
              <a:cxnSpLocks/>
            </p:cNvCxnSpPr>
            <p:nvPr/>
          </p:nvCxnSpPr>
          <p:spPr bwMode="auto">
            <a:xfrm>
              <a:off x="1573181" y="4669306"/>
              <a:ext cx="235839" cy="17763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6" name="直線單箭頭接點 15">
              <a:extLst>
                <a:ext uri="{FF2B5EF4-FFF2-40B4-BE49-F238E27FC236}">
                  <a16:creationId xmlns:a16="http://schemas.microsoft.com/office/drawing/2014/main" id="{436E952B-E05E-3FF7-C99B-3F19571D91EC}"/>
                </a:ext>
              </a:extLst>
            </p:cNvPr>
            <p:cNvCxnSpPr>
              <a:cxnSpLocks/>
            </p:cNvCxnSpPr>
            <p:nvPr/>
          </p:nvCxnSpPr>
          <p:spPr bwMode="auto">
            <a:xfrm flipV="1">
              <a:off x="1330777" y="4754964"/>
              <a:ext cx="265662" cy="8021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7" name="直線單箭頭接點 16">
              <a:extLst>
                <a:ext uri="{FF2B5EF4-FFF2-40B4-BE49-F238E27FC236}">
                  <a16:creationId xmlns:a16="http://schemas.microsoft.com/office/drawing/2014/main" id="{516FA084-D45C-F038-4350-19DED44E5A23}"/>
                </a:ext>
              </a:extLst>
            </p:cNvPr>
            <p:cNvCxnSpPr/>
            <p:nvPr/>
          </p:nvCxnSpPr>
          <p:spPr bwMode="auto">
            <a:xfrm flipV="1">
              <a:off x="1857497" y="5078628"/>
              <a:ext cx="233265" cy="24259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2" name="直線單箭頭接點 21">
              <a:extLst>
                <a:ext uri="{FF2B5EF4-FFF2-40B4-BE49-F238E27FC236}">
                  <a16:creationId xmlns:a16="http://schemas.microsoft.com/office/drawing/2014/main" id="{D2EECF12-3ACE-28D5-FD70-2AF82E725AE1}"/>
                </a:ext>
              </a:extLst>
            </p:cNvPr>
            <p:cNvCxnSpPr>
              <a:cxnSpLocks/>
            </p:cNvCxnSpPr>
            <p:nvPr/>
          </p:nvCxnSpPr>
          <p:spPr bwMode="auto">
            <a:xfrm>
              <a:off x="1809020" y="4615504"/>
              <a:ext cx="302564" cy="12006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3" name="直線單箭頭接點 22">
              <a:extLst>
                <a:ext uri="{FF2B5EF4-FFF2-40B4-BE49-F238E27FC236}">
                  <a16:creationId xmlns:a16="http://schemas.microsoft.com/office/drawing/2014/main" id="{49899BFE-4AC5-6EC7-27DC-69E29711C676}"/>
                </a:ext>
              </a:extLst>
            </p:cNvPr>
            <p:cNvCxnSpPr/>
            <p:nvPr/>
          </p:nvCxnSpPr>
          <p:spPr bwMode="auto">
            <a:xfrm flipV="1">
              <a:off x="1541173" y="4919075"/>
              <a:ext cx="233265" cy="24259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4" name="直線單箭頭接點 23">
              <a:extLst>
                <a:ext uri="{FF2B5EF4-FFF2-40B4-BE49-F238E27FC236}">
                  <a16:creationId xmlns:a16="http://schemas.microsoft.com/office/drawing/2014/main" id="{2D80FCD9-7ECC-DC34-9686-BC893249A447}"/>
                </a:ext>
              </a:extLst>
            </p:cNvPr>
            <p:cNvCxnSpPr>
              <a:cxnSpLocks/>
            </p:cNvCxnSpPr>
            <p:nvPr/>
          </p:nvCxnSpPr>
          <p:spPr bwMode="auto">
            <a:xfrm flipV="1">
              <a:off x="1736893" y="5035019"/>
              <a:ext cx="59160" cy="28620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7" name="直線單箭頭接點 26">
              <a:extLst>
                <a:ext uri="{FF2B5EF4-FFF2-40B4-BE49-F238E27FC236}">
                  <a16:creationId xmlns:a16="http://schemas.microsoft.com/office/drawing/2014/main" id="{EC67A8CC-A6ED-7633-026C-711FD6930B93}"/>
                </a:ext>
              </a:extLst>
            </p:cNvPr>
            <p:cNvCxnSpPr>
              <a:cxnSpLocks/>
            </p:cNvCxnSpPr>
            <p:nvPr/>
          </p:nvCxnSpPr>
          <p:spPr bwMode="auto">
            <a:xfrm flipV="1">
              <a:off x="1912388" y="4814765"/>
              <a:ext cx="127827" cy="28750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0" name="直線單箭頭接點 29">
              <a:extLst>
                <a:ext uri="{FF2B5EF4-FFF2-40B4-BE49-F238E27FC236}">
                  <a16:creationId xmlns:a16="http://schemas.microsoft.com/office/drawing/2014/main" id="{F3F26ED2-3687-409A-BE5E-B90E45734423}"/>
                </a:ext>
              </a:extLst>
            </p:cNvPr>
            <p:cNvCxnSpPr/>
            <p:nvPr/>
          </p:nvCxnSpPr>
          <p:spPr bwMode="auto">
            <a:xfrm flipV="1">
              <a:off x="1236373" y="4614275"/>
              <a:ext cx="233265" cy="24259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31" name="文字方塊 30">
              <a:extLst>
                <a:ext uri="{FF2B5EF4-FFF2-40B4-BE49-F238E27FC236}">
                  <a16:creationId xmlns:a16="http://schemas.microsoft.com/office/drawing/2014/main" id="{A42300BC-0A71-3440-8E0E-39B4DA0373F1}"/>
                </a:ext>
              </a:extLst>
            </p:cNvPr>
            <p:cNvSpPr txBox="1"/>
            <p:nvPr/>
          </p:nvSpPr>
          <p:spPr>
            <a:xfrm>
              <a:off x="410172" y="4919075"/>
              <a:ext cx="595035" cy="584775"/>
            </a:xfrm>
            <a:prstGeom prst="rect">
              <a:avLst/>
            </a:prstGeom>
            <a:noFill/>
          </p:spPr>
          <p:txBody>
            <a:bodyPr wrap="none" rtlCol="0">
              <a:spAutoFit/>
            </a:bodyPr>
            <a:lstStyle/>
            <a:p>
              <a:r>
                <a:rPr lang="zh-TW" altLang="en-US" sz="1600" dirty="0">
                  <a:latin typeface="微軟正黑體" panose="020B0604030504040204" pitchFamily="34" charset="-120"/>
                  <a:ea typeface="微軟正黑體" panose="020B0604030504040204" pitchFamily="34" charset="-120"/>
                </a:rPr>
                <a:t>磁性</a:t>
              </a:r>
              <a:endParaRPr lang="en-US" altLang="zh-TW" sz="1600" dirty="0">
                <a:latin typeface="微軟正黑體" panose="020B0604030504040204" pitchFamily="34" charset="-120"/>
                <a:ea typeface="微軟正黑體" panose="020B0604030504040204" pitchFamily="34" charset="-120"/>
              </a:endParaRPr>
            </a:p>
            <a:p>
              <a:r>
                <a:rPr lang="zh-TW" altLang="en-US" sz="1600" dirty="0">
                  <a:latin typeface="微軟正黑體" panose="020B0604030504040204" pitchFamily="34" charset="-120"/>
                  <a:ea typeface="微軟正黑體" panose="020B0604030504040204" pitchFamily="34" charset="-120"/>
                </a:rPr>
                <a:t>材料</a:t>
              </a:r>
            </a:p>
          </p:txBody>
        </p:sp>
        <p:sp>
          <p:nvSpPr>
            <p:cNvPr id="32" name="文字方塊 31">
              <a:extLst>
                <a:ext uri="{FF2B5EF4-FFF2-40B4-BE49-F238E27FC236}">
                  <a16:creationId xmlns:a16="http://schemas.microsoft.com/office/drawing/2014/main" id="{90D0DFAE-6997-A44E-1C56-BF869ED43A9B}"/>
                </a:ext>
              </a:extLst>
            </p:cNvPr>
            <p:cNvSpPr txBox="1"/>
            <p:nvPr/>
          </p:nvSpPr>
          <p:spPr>
            <a:xfrm>
              <a:off x="378726" y="4594369"/>
              <a:ext cx="595035" cy="338554"/>
            </a:xfrm>
            <a:prstGeom prst="rect">
              <a:avLst/>
            </a:prstGeom>
            <a:noFill/>
          </p:spPr>
          <p:txBody>
            <a:bodyPr wrap="none" rtlCol="0">
              <a:spAutoFit/>
            </a:bodyPr>
            <a:lstStyle/>
            <a:p>
              <a:r>
                <a:rPr lang="zh-TW" altLang="en-US" sz="1600" dirty="0">
                  <a:latin typeface="微軟正黑體" panose="020B0604030504040204" pitchFamily="34" charset="-120"/>
                  <a:ea typeface="微軟正黑體" panose="020B0604030504040204" pitchFamily="34" charset="-120"/>
                </a:rPr>
                <a:t>磁矩</a:t>
              </a:r>
            </a:p>
          </p:txBody>
        </p:sp>
        <p:sp>
          <p:nvSpPr>
            <p:cNvPr id="33" name="箭號: 向下 32">
              <a:extLst>
                <a:ext uri="{FF2B5EF4-FFF2-40B4-BE49-F238E27FC236}">
                  <a16:creationId xmlns:a16="http://schemas.microsoft.com/office/drawing/2014/main" id="{43193D92-DEEA-1741-DE8E-6268E327264C}"/>
                </a:ext>
              </a:extLst>
            </p:cNvPr>
            <p:cNvSpPr/>
            <p:nvPr/>
          </p:nvSpPr>
          <p:spPr bwMode="auto">
            <a:xfrm>
              <a:off x="1489295" y="4259977"/>
              <a:ext cx="259130" cy="236435"/>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a:ln>
                  <a:noFill/>
                </a:ln>
                <a:solidFill>
                  <a:schemeClr val="tx1"/>
                </a:solidFill>
                <a:effectLst/>
                <a:latin typeface="Arial" charset="0"/>
                <a:ea typeface="新細明體" pitchFamily="18" charset="-120"/>
              </a:endParaRPr>
            </a:p>
          </p:txBody>
        </p:sp>
        <p:sp>
          <p:nvSpPr>
            <p:cNvPr id="34" name="文字方塊 33">
              <a:extLst>
                <a:ext uri="{FF2B5EF4-FFF2-40B4-BE49-F238E27FC236}">
                  <a16:creationId xmlns:a16="http://schemas.microsoft.com/office/drawing/2014/main" id="{3D8660F2-65E1-4F9F-6750-5FBD4F4FC7C0}"/>
                </a:ext>
              </a:extLst>
            </p:cNvPr>
            <p:cNvSpPr txBox="1"/>
            <p:nvPr/>
          </p:nvSpPr>
          <p:spPr>
            <a:xfrm>
              <a:off x="1100872" y="3941661"/>
              <a:ext cx="1005403" cy="338554"/>
            </a:xfrm>
            <a:prstGeom prst="rect">
              <a:avLst/>
            </a:prstGeom>
            <a:noFill/>
          </p:spPr>
          <p:txBody>
            <a:bodyPr wrap="none" rtlCol="0">
              <a:spAutoFit/>
            </a:bodyPr>
            <a:lstStyle/>
            <a:p>
              <a:r>
                <a:rPr lang="zh-TW" altLang="en-US" sz="1600" dirty="0">
                  <a:latin typeface="微軟正黑體" panose="020B0604030504040204" pitchFamily="34" charset="-120"/>
                  <a:ea typeface="微軟正黑體" panose="020B0604030504040204" pitchFamily="34" charset="-120"/>
                </a:rPr>
                <a:t>從外吸熱</a:t>
              </a:r>
            </a:p>
          </p:txBody>
        </p:sp>
        <p:cxnSp>
          <p:nvCxnSpPr>
            <p:cNvPr id="38" name="直線接點 37">
              <a:extLst>
                <a:ext uri="{FF2B5EF4-FFF2-40B4-BE49-F238E27FC236}">
                  <a16:creationId xmlns:a16="http://schemas.microsoft.com/office/drawing/2014/main" id="{5373A104-115C-ADA6-9F9E-895DDECCF2EA}"/>
                </a:ext>
              </a:extLst>
            </p:cNvPr>
            <p:cNvCxnSpPr>
              <a:cxnSpLocks/>
              <a:stCxn id="32" idx="3"/>
            </p:cNvCxnSpPr>
            <p:nvPr/>
          </p:nvCxnSpPr>
          <p:spPr bwMode="auto">
            <a:xfrm flipV="1">
              <a:off x="973761" y="4735573"/>
              <a:ext cx="253648" cy="28073"/>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40" name="直線接點 39">
              <a:extLst>
                <a:ext uri="{FF2B5EF4-FFF2-40B4-BE49-F238E27FC236}">
                  <a16:creationId xmlns:a16="http://schemas.microsoft.com/office/drawing/2014/main" id="{CAAAC21E-50A9-43A0-6C10-1521B39CE25A}"/>
                </a:ext>
              </a:extLst>
            </p:cNvPr>
            <p:cNvCxnSpPr>
              <a:stCxn id="31" idx="3"/>
              <a:endCxn id="31" idx="3"/>
            </p:cNvCxnSpPr>
            <p:nvPr/>
          </p:nvCxnSpPr>
          <p:spPr bwMode="auto">
            <a:xfrm>
              <a:off x="1005207" y="5211463"/>
              <a:ext cx="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42" name="直線接點 41">
              <a:extLst>
                <a:ext uri="{FF2B5EF4-FFF2-40B4-BE49-F238E27FC236}">
                  <a16:creationId xmlns:a16="http://schemas.microsoft.com/office/drawing/2014/main" id="{9C94FFAE-FCB6-B666-80BE-FE98137BE441}"/>
                </a:ext>
              </a:extLst>
            </p:cNvPr>
            <p:cNvCxnSpPr/>
            <p:nvPr/>
          </p:nvCxnSpPr>
          <p:spPr bwMode="auto">
            <a:xfrm flipV="1">
              <a:off x="918734" y="5135204"/>
              <a:ext cx="281061" cy="64722"/>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46" name="矩形 45">
              <a:extLst>
                <a:ext uri="{FF2B5EF4-FFF2-40B4-BE49-F238E27FC236}">
                  <a16:creationId xmlns:a16="http://schemas.microsoft.com/office/drawing/2014/main" id="{1164FFAB-13C9-37BF-AF19-AB0E64AEA929}"/>
                </a:ext>
              </a:extLst>
            </p:cNvPr>
            <p:cNvSpPr/>
            <p:nvPr/>
          </p:nvSpPr>
          <p:spPr bwMode="auto">
            <a:xfrm>
              <a:off x="3060977" y="4521256"/>
              <a:ext cx="1054359" cy="84908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a:ln>
                  <a:noFill/>
                </a:ln>
                <a:solidFill>
                  <a:schemeClr val="tx1"/>
                </a:solidFill>
                <a:effectLst/>
                <a:latin typeface="Arial" charset="0"/>
                <a:ea typeface="新細明體" pitchFamily="18" charset="-120"/>
              </a:endParaRPr>
            </a:p>
          </p:txBody>
        </p:sp>
        <p:cxnSp>
          <p:nvCxnSpPr>
            <p:cNvPr id="47" name="直線單箭頭接點 46">
              <a:extLst>
                <a:ext uri="{FF2B5EF4-FFF2-40B4-BE49-F238E27FC236}">
                  <a16:creationId xmlns:a16="http://schemas.microsoft.com/office/drawing/2014/main" id="{9A281034-4C23-1252-590C-96F5964BEEA0}"/>
                </a:ext>
              </a:extLst>
            </p:cNvPr>
            <p:cNvCxnSpPr>
              <a:cxnSpLocks/>
            </p:cNvCxnSpPr>
            <p:nvPr/>
          </p:nvCxnSpPr>
          <p:spPr bwMode="auto">
            <a:xfrm>
              <a:off x="3200402" y="4637931"/>
              <a:ext cx="321113"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58" name="箭號: 向下 57">
              <a:extLst>
                <a:ext uri="{FF2B5EF4-FFF2-40B4-BE49-F238E27FC236}">
                  <a16:creationId xmlns:a16="http://schemas.microsoft.com/office/drawing/2014/main" id="{CA5FBC25-CA6C-3A64-59AC-AE4B03A4317F}"/>
                </a:ext>
              </a:extLst>
            </p:cNvPr>
            <p:cNvSpPr/>
            <p:nvPr/>
          </p:nvSpPr>
          <p:spPr bwMode="auto">
            <a:xfrm rot="10800000">
              <a:off x="3458591" y="4255886"/>
              <a:ext cx="259130" cy="236435"/>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dirty="0">
                <a:ln>
                  <a:noFill/>
                </a:ln>
                <a:solidFill>
                  <a:schemeClr val="tx1"/>
                </a:solidFill>
                <a:effectLst/>
                <a:latin typeface="Arial" charset="0"/>
                <a:ea typeface="新細明體" pitchFamily="18" charset="-120"/>
              </a:endParaRPr>
            </a:p>
          </p:txBody>
        </p:sp>
        <p:sp>
          <p:nvSpPr>
            <p:cNvPr id="59" name="文字方塊 58">
              <a:extLst>
                <a:ext uri="{FF2B5EF4-FFF2-40B4-BE49-F238E27FC236}">
                  <a16:creationId xmlns:a16="http://schemas.microsoft.com/office/drawing/2014/main" id="{CC4C6DE3-6F76-B87A-B035-28FE905942C5}"/>
                </a:ext>
              </a:extLst>
            </p:cNvPr>
            <p:cNvSpPr txBox="1"/>
            <p:nvPr/>
          </p:nvSpPr>
          <p:spPr>
            <a:xfrm>
              <a:off x="3070168" y="3937570"/>
              <a:ext cx="1005403" cy="338554"/>
            </a:xfrm>
            <a:prstGeom prst="rect">
              <a:avLst/>
            </a:prstGeom>
            <a:noFill/>
          </p:spPr>
          <p:txBody>
            <a:bodyPr wrap="none" rtlCol="0">
              <a:spAutoFit/>
            </a:bodyPr>
            <a:lstStyle/>
            <a:p>
              <a:r>
                <a:rPr lang="zh-TW" altLang="en-US" sz="1600" dirty="0">
                  <a:latin typeface="微軟正黑體" panose="020B0604030504040204" pitchFamily="34" charset="-120"/>
                  <a:ea typeface="微軟正黑體" panose="020B0604030504040204" pitchFamily="34" charset="-120"/>
                </a:rPr>
                <a:t>向外放熱</a:t>
              </a:r>
            </a:p>
          </p:txBody>
        </p:sp>
        <p:cxnSp>
          <p:nvCxnSpPr>
            <p:cNvPr id="61" name="直線單箭頭接點 60">
              <a:extLst>
                <a:ext uri="{FF2B5EF4-FFF2-40B4-BE49-F238E27FC236}">
                  <a16:creationId xmlns:a16="http://schemas.microsoft.com/office/drawing/2014/main" id="{69B40004-1997-DD0A-54B1-F0B01196EFB5}"/>
                </a:ext>
              </a:extLst>
            </p:cNvPr>
            <p:cNvCxnSpPr>
              <a:cxnSpLocks/>
            </p:cNvCxnSpPr>
            <p:nvPr/>
          </p:nvCxnSpPr>
          <p:spPr bwMode="auto">
            <a:xfrm>
              <a:off x="3200402" y="4796720"/>
              <a:ext cx="321113"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2" name="直線單箭頭接點 61">
              <a:extLst>
                <a:ext uri="{FF2B5EF4-FFF2-40B4-BE49-F238E27FC236}">
                  <a16:creationId xmlns:a16="http://schemas.microsoft.com/office/drawing/2014/main" id="{9C0E5CC1-AFEA-8BD1-0DE3-3F63924093FF}"/>
                </a:ext>
              </a:extLst>
            </p:cNvPr>
            <p:cNvCxnSpPr>
              <a:cxnSpLocks/>
            </p:cNvCxnSpPr>
            <p:nvPr/>
          </p:nvCxnSpPr>
          <p:spPr bwMode="auto">
            <a:xfrm>
              <a:off x="3200401" y="4945799"/>
              <a:ext cx="321113"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3" name="直線單箭頭接點 62">
              <a:extLst>
                <a:ext uri="{FF2B5EF4-FFF2-40B4-BE49-F238E27FC236}">
                  <a16:creationId xmlns:a16="http://schemas.microsoft.com/office/drawing/2014/main" id="{22423905-16EA-B825-7ECC-EEB55F728FBE}"/>
                </a:ext>
              </a:extLst>
            </p:cNvPr>
            <p:cNvCxnSpPr>
              <a:cxnSpLocks/>
            </p:cNvCxnSpPr>
            <p:nvPr/>
          </p:nvCxnSpPr>
          <p:spPr bwMode="auto">
            <a:xfrm>
              <a:off x="3200400" y="5116921"/>
              <a:ext cx="321113"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4" name="直線單箭頭接點 63">
              <a:extLst>
                <a:ext uri="{FF2B5EF4-FFF2-40B4-BE49-F238E27FC236}">
                  <a16:creationId xmlns:a16="http://schemas.microsoft.com/office/drawing/2014/main" id="{EA6BE2EA-84A2-AEA2-39BC-FB7CACED97E2}"/>
                </a:ext>
              </a:extLst>
            </p:cNvPr>
            <p:cNvCxnSpPr>
              <a:cxnSpLocks/>
            </p:cNvCxnSpPr>
            <p:nvPr/>
          </p:nvCxnSpPr>
          <p:spPr bwMode="auto">
            <a:xfrm>
              <a:off x="3200399" y="5277323"/>
              <a:ext cx="321113"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5" name="直線單箭頭接點 64">
              <a:extLst>
                <a:ext uri="{FF2B5EF4-FFF2-40B4-BE49-F238E27FC236}">
                  <a16:creationId xmlns:a16="http://schemas.microsoft.com/office/drawing/2014/main" id="{2F124BCC-865C-3A5E-9DDD-6707F1EC16F3}"/>
                </a:ext>
              </a:extLst>
            </p:cNvPr>
            <p:cNvCxnSpPr>
              <a:cxnSpLocks/>
            </p:cNvCxnSpPr>
            <p:nvPr/>
          </p:nvCxnSpPr>
          <p:spPr bwMode="auto">
            <a:xfrm>
              <a:off x="3664825" y="4637931"/>
              <a:ext cx="321113"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6" name="直線單箭頭接點 65">
              <a:extLst>
                <a:ext uri="{FF2B5EF4-FFF2-40B4-BE49-F238E27FC236}">
                  <a16:creationId xmlns:a16="http://schemas.microsoft.com/office/drawing/2014/main" id="{0F4C9788-B9ED-6871-DF99-85E2C4291922}"/>
                </a:ext>
              </a:extLst>
            </p:cNvPr>
            <p:cNvCxnSpPr>
              <a:cxnSpLocks/>
            </p:cNvCxnSpPr>
            <p:nvPr/>
          </p:nvCxnSpPr>
          <p:spPr bwMode="auto">
            <a:xfrm>
              <a:off x="3664825" y="4796720"/>
              <a:ext cx="321113"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7" name="直線單箭頭接點 66">
              <a:extLst>
                <a:ext uri="{FF2B5EF4-FFF2-40B4-BE49-F238E27FC236}">
                  <a16:creationId xmlns:a16="http://schemas.microsoft.com/office/drawing/2014/main" id="{178216DF-A109-1AB3-C4EA-FE3CECE28FDC}"/>
                </a:ext>
              </a:extLst>
            </p:cNvPr>
            <p:cNvCxnSpPr>
              <a:cxnSpLocks/>
            </p:cNvCxnSpPr>
            <p:nvPr/>
          </p:nvCxnSpPr>
          <p:spPr bwMode="auto">
            <a:xfrm>
              <a:off x="3664824" y="4945799"/>
              <a:ext cx="321113"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8" name="直線單箭頭接點 67">
              <a:extLst>
                <a:ext uri="{FF2B5EF4-FFF2-40B4-BE49-F238E27FC236}">
                  <a16:creationId xmlns:a16="http://schemas.microsoft.com/office/drawing/2014/main" id="{B0FD7754-E4A3-75B7-E79E-AE8F3F8F1BA0}"/>
                </a:ext>
              </a:extLst>
            </p:cNvPr>
            <p:cNvCxnSpPr>
              <a:cxnSpLocks/>
            </p:cNvCxnSpPr>
            <p:nvPr/>
          </p:nvCxnSpPr>
          <p:spPr bwMode="auto">
            <a:xfrm>
              <a:off x="3664823" y="5116921"/>
              <a:ext cx="321113"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9" name="直線單箭頭接點 68">
              <a:extLst>
                <a:ext uri="{FF2B5EF4-FFF2-40B4-BE49-F238E27FC236}">
                  <a16:creationId xmlns:a16="http://schemas.microsoft.com/office/drawing/2014/main" id="{C7AA8A6F-26E2-2875-3CF8-F0298C7DB01A}"/>
                </a:ext>
              </a:extLst>
            </p:cNvPr>
            <p:cNvCxnSpPr>
              <a:cxnSpLocks/>
            </p:cNvCxnSpPr>
            <p:nvPr/>
          </p:nvCxnSpPr>
          <p:spPr bwMode="auto">
            <a:xfrm>
              <a:off x="3664822" y="5277323"/>
              <a:ext cx="321113"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70" name="箭號: 向下 69">
              <a:extLst>
                <a:ext uri="{FF2B5EF4-FFF2-40B4-BE49-F238E27FC236}">
                  <a16:creationId xmlns:a16="http://schemas.microsoft.com/office/drawing/2014/main" id="{B37BDEAC-B607-59AF-CDB7-B86AA54BD799}"/>
                </a:ext>
              </a:extLst>
            </p:cNvPr>
            <p:cNvSpPr/>
            <p:nvPr/>
          </p:nvSpPr>
          <p:spPr bwMode="auto">
            <a:xfrm rot="16200000">
              <a:off x="2520619" y="4255042"/>
              <a:ext cx="200313" cy="816891"/>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dirty="0">
                <a:ln>
                  <a:noFill/>
                </a:ln>
                <a:solidFill>
                  <a:schemeClr val="tx1"/>
                </a:solidFill>
                <a:effectLst/>
                <a:latin typeface="Arial" charset="0"/>
                <a:ea typeface="新細明體" pitchFamily="18" charset="-120"/>
              </a:endParaRPr>
            </a:p>
          </p:txBody>
        </p:sp>
        <p:sp>
          <p:nvSpPr>
            <p:cNvPr id="72" name="箭號: 向下 71">
              <a:extLst>
                <a:ext uri="{FF2B5EF4-FFF2-40B4-BE49-F238E27FC236}">
                  <a16:creationId xmlns:a16="http://schemas.microsoft.com/office/drawing/2014/main" id="{903A76EF-1540-0B25-D87C-E3A0EE1A05FE}"/>
                </a:ext>
              </a:extLst>
            </p:cNvPr>
            <p:cNvSpPr/>
            <p:nvPr/>
          </p:nvSpPr>
          <p:spPr bwMode="auto">
            <a:xfrm rot="5400000">
              <a:off x="2513313" y="4694924"/>
              <a:ext cx="200313" cy="831503"/>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dirty="0">
                <a:ln>
                  <a:noFill/>
                </a:ln>
                <a:solidFill>
                  <a:schemeClr val="tx1"/>
                </a:solidFill>
                <a:effectLst/>
                <a:latin typeface="Arial" charset="0"/>
                <a:ea typeface="新細明體" pitchFamily="18" charset="-120"/>
              </a:endParaRPr>
            </a:p>
          </p:txBody>
        </p:sp>
        <p:sp>
          <p:nvSpPr>
            <p:cNvPr id="73" name="文字方塊 72">
              <a:extLst>
                <a:ext uri="{FF2B5EF4-FFF2-40B4-BE49-F238E27FC236}">
                  <a16:creationId xmlns:a16="http://schemas.microsoft.com/office/drawing/2014/main" id="{303F5D66-9B3F-CED9-706E-AA44F49151FC}"/>
                </a:ext>
              </a:extLst>
            </p:cNvPr>
            <p:cNvSpPr txBox="1"/>
            <p:nvPr/>
          </p:nvSpPr>
          <p:spPr>
            <a:xfrm>
              <a:off x="2095338" y="4282418"/>
              <a:ext cx="1005403" cy="338554"/>
            </a:xfrm>
            <a:prstGeom prst="rect">
              <a:avLst/>
            </a:prstGeom>
            <a:noFill/>
          </p:spPr>
          <p:txBody>
            <a:bodyPr wrap="none" rtlCol="0">
              <a:spAutoFit/>
            </a:bodyPr>
            <a:lstStyle/>
            <a:p>
              <a:r>
                <a:rPr lang="zh-TW" altLang="en-US" sz="1600" dirty="0">
                  <a:latin typeface="微軟正黑體" panose="020B0604030504040204" pitchFamily="34" charset="-120"/>
                  <a:ea typeface="微軟正黑體" panose="020B0604030504040204" pitchFamily="34" charset="-120"/>
                </a:rPr>
                <a:t>增加磁場</a:t>
              </a:r>
            </a:p>
          </p:txBody>
        </p:sp>
        <p:sp>
          <p:nvSpPr>
            <p:cNvPr id="74" name="文字方塊 73">
              <a:extLst>
                <a:ext uri="{FF2B5EF4-FFF2-40B4-BE49-F238E27FC236}">
                  <a16:creationId xmlns:a16="http://schemas.microsoft.com/office/drawing/2014/main" id="{06F433B4-111A-DC36-B06D-93E9BCCBBF27}"/>
                </a:ext>
              </a:extLst>
            </p:cNvPr>
            <p:cNvSpPr txBox="1"/>
            <p:nvPr/>
          </p:nvSpPr>
          <p:spPr>
            <a:xfrm>
              <a:off x="2118074" y="5159317"/>
              <a:ext cx="1005403" cy="338554"/>
            </a:xfrm>
            <a:prstGeom prst="rect">
              <a:avLst/>
            </a:prstGeom>
            <a:noFill/>
          </p:spPr>
          <p:txBody>
            <a:bodyPr wrap="none" rtlCol="0">
              <a:spAutoFit/>
            </a:bodyPr>
            <a:lstStyle/>
            <a:p>
              <a:r>
                <a:rPr lang="zh-TW" altLang="en-US" sz="1600" dirty="0">
                  <a:latin typeface="微軟正黑體" panose="020B0604030504040204" pitchFamily="34" charset="-120"/>
                  <a:ea typeface="微軟正黑體" panose="020B0604030504040204" pitchFamily="34" charset="-120"/>
                </a:rPr>
                <a:t>減少磁場</a:t>
              </a:r>
            </a:p>
          </p:txBody>
        </p:sp>
      </p:grpSp>
      <p:sp>
        <p:nvSpPr>
          <p:cNvPr id="9" name="文字方塊 8">
            <a:extLst>
              <a:ext uri="{FF2B5EF4-FFF2-40B4-BE49-F238E27FC236}">
                <a16:creationId xmlns:a16="http://schemas.microsoft.com/office/drawing/2014/main" id="{C6FFADC8-609C-F33C-9030-3E6ADE8BCEE7}"/>
              </a:ext>
            </a:extLst>
          </p:cNvPr>
          <p:cNvSpPr txBox="1"/>
          <p:nvPr/>
        </p:nvSpPr>
        <p:spPr>
          <a:xfrm>
            <a:off x="4550297" y="6285359"/>
            <a:ext cx="3827947" cy="276999"/>
          </a:xfrm>
          <a:prstGeom prst="rect">
            <a:avLst/>
          </a:prstGeom>
          <a:noFill/>
        </p:spPr>
        <p:txBody>
          <a:bodyPr wrap="square">
            <a:spAutoFit/>
          </a:bodyPr>
          <a:lstStyle/>
          <a:p>
            <a:r>
              <a:rPr lang="fr-FR" altLang="zh-TW" sz="1200" dirty="0"/>
              <a:t>Source: K. Li et al., Acta Phys. Sin. 72, 190702 (2023)</a:t>
            </a:r>
            <a:endParaRPr lang="zh-TW" altLang="en-US" sz="1200" dirty="0"/>
          </a:p>
        </p:txBody>
      </p:sp>
      <p:sp>
        <p:nvSpPr>
          <p:cNvPr id="10" name="標題 1">
            <a:extLst>
              <a:ext uri="{FF2B5EF4-FFF2-40B4-BE49-F238E27FC236}">
                <a16:creationId xmlns:a16="http://schemas.microsoft.com/office/drawing/2014/main" id="{6EDBD321-A4D8-06C2-DEDC-6FD049DD3BAE}"/>
              </a:ext>
            </a:extLst>
          </p:cNvPr>
          <p:cNvSpPr txBox="1">
            <a:spLocks/>
          </p:cNvSpPr>
          <p:nvPr/>
        </p:nvSpPr>
        <p:spPr bwMode="auto">
          <a:xfrm>
            <a:off x="477093" y="4022389"/>
            <a:ext cx="3353056" cy="591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kumimoji="1" sz="3600">
                <a:solidFill>
                  <a:srgbClr val="00B2B3"/>
                </a:solidFill>
                <a:latin typeface="+mj-lt"/>
                <a:ea typeface="+mj-ea"/>
                <a:cs typeface="+mj-cs"/>
              </a:defRPr>
            </a:lvl1pPr>
            <a:lvl2pPr algn="l" rtl="0" eaLnBrk="0" fontAlgn="base" hangingPunct="0">
              <a:spcBef>
                <a:spcPct val="0"/>
              </a:spcBef>
              <a:spcAft>
                <a:spcPct val="0"/>
              </a:spcAft>
              <a:defRPr kumimoji="1" sz="4600">
                <a:solidFill>
                  <a:schemeClr val="tx2"/>
                </a:solidFill>
                <a:latin typeface="Arial" charset="0"/>
                <a:ea typeface="微軟正黑體" pitchFamily="34" charset="-120"/>
              </a:defRPr>
            </a:lvl2pPr>
            <a:lvl3pPr algn="l" rtl="0" eaLnBrk="0" fontAlgn="base" hangingPunct="0">
              <a:spcBef>
                <a:spcPct val="0"/>
              </a:spcBef>
              <a:spcAft>
                <a:spcPct val="0"/>
              </a:spcAft>
              <a:defRPr kumimoji="1" sz="4600">
                <a:solidFill>
                  <a:schemeClr val="tx2"/>
                </a:solidFill>
                <a:latin typeface="Arial" charset="0"/>
                <a:ea typeface="微軟正黑體" pitchFamily="34" charset="-120"/>
              </a:defRPr>
            </a:lvl3pPr>
            <a:lvl4pPr algn="l" rtl="0" eaLnBrk="0" fontAlgn="base" hangingPunct="0">
              <a:spcBef>
                <a:spcPct val="0"/>
              </a:spcBef>
              <a:spcAft>
                <a:spcPct val="0"/>
              </a:spcAft>
              <a:defRPr kumimoji="1" sz="4600">
                <a:solidFill>
                  <a:schemeClr val="tx2"/>
                </a:solidFill>
                <a:latin typeface="Arial" charset="0"/>
                <a:ea typeface="微軟正黑體" pitchFamily="34" charset="-120"/>
              </a:defRPr>
            </a:lvl4pPr>
            <a:lvl5pPr algn="l" rtl="0" eaLnBrk="0" fontAlgn="base" hangingPunct="0">
              <a:spcBef>
                <a:spcPct val="0"/>
              </a:spcBef>
              <a:spcAft>
                <a:spcPct val="0"/>
              </a:spcAft>
              <a:defRPr kumimoji="1" sz="4600">
                <a:solidFill>
                  <a:schemeClr val="tx2"/>
                </a:solidFill>
                <a:latin typeface="Arial" charset="0"/>
                <a:ea typeface="微軟正黑體" pitchFamily="34" charset="-120"/>
              </a:defRPr>
            </a:lvl5pPr>
            <a:lvl6pPr marL="457200" algn="l" rtl="0" fontAlgn="base">
              <a:spcBef>
                <a:spcPct val="0"/>
              </a:spcBef>
              <a:spcAft>
                <a:spcPct val="0"/>
              </a:spcAft>
              <a:defRPr kumimoji="1" sz="4600">
                <a:solidFill>
                  <a:schemeClr val="tx2"/>
                </a:solidFill>
                <a:latin typeface="Arial" charset="0"/>
                <a:ea typeface="微軟正黑體" pitchFamily="34" charset="-120"/>
              </a:defRPr>
            </a:lvl6pPr>
            <a:lvl7pPr marL="914400" algn="l" rtl="0" fontAlgn="base">
              <a:spcBef>
                <a:spcPct val="0"/>
              </a:spcBef>
              <a:spcAft>
                <a:spcPct val="0"/>
              </a:spcAft>
              <a:defRPr kumimoji="1" sz="4600">
                <a:solidFill>
                  <a:schemeClr val="tx2"/>
                </a:solidFill>
                <a:latin typeface="Arial" charset="0"/>
                <a:ea typeface="微軟正黑體" pitchFamily="34" charset="-120"/>
              </a:defRPr>
            </a:lvl7pPr>
            <a:lvl8pPr marL="1371600" algn="l" rtl="0" fontAlgn="base">
              <a:spcBef>
                <a:spcPct val="0"/>
              </a:spcBef>
              <a:spcAft>
                <a:spcPct val="0"/>
              </a:spcAft>
              <a:defRPr kumimoji="1" sz="4600">
                <a:solidFill>
                  <a:schemeClr val="tx2"/>
                </a:solidFill>
                <a:latin typeface="Arial" charset="0"/>
                <a:ea typeface="微軟正黑體" pitchFamily="34" charset="-120"/>
              </a:defRPr>
            </a:lvl8pPr>
            <a:lvl9pPr marL="1828800" algn="l" rtl="0" fontAlgn="base">
              <a:spcBef>
                <a:spcPct val="0"/>
              </a:spcBef>
              <a:spcAft>
                <a:spcPct val="0"/>
              </a:spcAft>
              <a:defRPr kumimoji="1" sz="4600">
                <a:solidFill>
                  <a:schemeClr val="tx2"/>
                </a:solidFill>
                <a:latin typeface="Arial" charset="0"/>
                <a:ea typeface="微軟正黑體" pitchFamily="34" charset="-120"/>
              </a:defRPr>
            </a:lvl9pPr>
          </a:lstStyle>
          <a:p>
            <a:pPr marL="285750" indent="-285750">
              <a:buFontTx/>
              <a:buChar char="-"/>
            </a:pPr>
            <a:r>
              <a:rPr lang="zh-TW" altLang="en-US" sz="1600" kern="0" dirty="0">
                <a:solidFill>
                  <a:schemeClr val="tx1"/>
                </a:solidFill>
                <a:latin typeface="+mn-ea"/>
                <a:ea typeface="+mn-ea"/>
              </a:rPr>
              <a:t>磁矩從排序到失序</a:t>
            </a:r>
            <a:r>
              <a:rPr lang="en-US" altLang="zh-TW" sz="1600" kern="0" dirty="0">
                <a:solidFill>
                  <a:schemeClr val="tx1"/>
                </a:solidFill>
                <a:latin typeface="+mn-ea"/>
                <a:ea typeface="+mn-ea"/>
              </a:rPr>
              <a:t>(</a:t>
            </a:r>
            <a:r>
              <a:rPr lang="zh-TW" altLang="en-US" sz="1600" kern="0" dirty="0">
                <a:solidFill>
                  <a:schemeClr val="tx1"/>
                </a:solidFill>
                <a:latin typeface="+mn-ea"/>
                <a:ea typeface="+mn-ea"/>
              </a:rPr>
              <a:t>增熵</a:t>
            </a:r>
            <a:r>
              <a:rPr lang="en-US" altLang="zh-TW" sz="1600" kern="0" dirty="0">
                <a:solidFill>
                  <a:schemeClr val="tx1"/>
                </a:solidFill>
                <a:latin typeface="+mn-ea"/>
                <a:ea typeface="+mn-ea"/>
              </a:rPr>
              <a:t>)</a:t>
            </a:r>
            <a:r>
              <a:rPr lang="zh-TW" altLang="en-US" sz="1600" kern="0" dirty="0">
                <a:solidFill>
                  <a:schemeClr val="tx1"/>
                </a:solidFill>
                <a:latin typeface="+mn-ea"/>
                <a:ea typeface="+mn-ea"/>
              </a:rPr>
              <a:t>，吸熱</a:t>
            </a:r>
            <a:endParaRPr lang="en-US" altLang="zh-TW" sz="1600" kern="0" dirty="0">
              <a:solidFill>
                <a:schemeClr val="tx1"/>
              </a:solidFill>
              <a:latin typeface="+mn-ea"/>
              <a:ea typeface="+mn-ea"/>
            </a:endParaRPr>
          </a:p>
          <a:p>
            <a:pPr marL="285750" indent="-285750">
              <a:buFontTx/>
              <a:buChar char="-"/>
            </a:pPr>
            <a:r>
              <a:rPr lang="zh-TW" altLang="en-US" sz="1600" kern="0" dirty="0">
                <a:solidFill>
                  <a:schemeClr val="tx1"/>
                </a:solidFill>
                <a:latin typeface="+mn-ea"/>
                <a:ea typeface="+mn-ea"/>
              </a:rPr>
              <a:t>透過熱開關，隔離</a:t>
            </a:r>
            <a:r>
              <a:rPr lang="en-US" altLang="zh-TW" sz="1600" kern="0" dirty="0">
                <a:solidFill>
                  <a:schemeClr val="tx1"/>
                </a:solidFill>
                <a:latin typeface="+mn-ea"/>
                <a:ea typeface="+mn-ea"/>
              </a:rPr>
              <a:t>4K</a:t>
            </a:r>
            <a:r>
              <a:rPr lang="zh-TW" altLang="en-US" sz="1600" kern="0" dirty="0">
                <a:solidFill>
                  <a:schemeClr val="tx1"/>
                </a:solidFill>
                <a:latin typeface="+mn-ea"/>
                <a:ea typeface="+mn-ea"/>
              </a:rPr>
              <a:t>的預冷機</a:t>
            </a:r>
          </a:p>
        </p:txBody>
      </p:sp>
      <p:pic>
        <p:nvPicPr>
          <p:cNvPr id="14" name="圖片 13">
            <a:extLst>
              <a:ext uri="{FF2B5EF4-FFF2-40B4-BE49-F238E27FC236}">
                <a16:creationId xmlns:a16="http://schemas.microsoft.com/office/drawing/2014/main" id="{D0B78B60-5BCE-E2D6-55A9-1798D066F884}"/>
              </a:ext>
            </a:extLst>
          </p:cNvPr>
          <p:cNvPicPr>
            <a:picLocks noChangeAspect="1"/>
          </p:cNvPicPr>
          <p:nvPr/>
        </p:nvPicPr>
        <p:blipFill>
          <a:blip r:embed="rId4"/>
          <a:stretch>
            <a:fillRect/>
          </a:stretch>
        </p:blipFill>
        <p:spPr>
          <a:xfrm>
            <a:off x="5275396" y="3907555"/>
            <a:ext cx="2111899" cy="2380077"/>
          </a:xfrm>
          <a:prstGeom prst="rect">
            <a:avLst/>
          </a:prstGeom>
        </p:spPr>
      </p:pic>
      <p:sp>
        <p:nvSpPr>
          <p:cNvPr id="18" name="文字方塊 17">
            <a:extLst>
              <a:ext uri="{FF2B5EF4-FFF2-40B4-BE49-F238E27FC236}">
                <a16:creationId xmlns:a16="http://schemas.microsoft.com/office/drawing/2014/main" id="{BDAF5F19-C166-3B4C-6032-E6FB0D1014CC}"/>
              </a:ext>
            </a:extLst>
          </p:cNvPr>
          <p:cNvSpPr txBox="1"/>
          <p:nvPr/>
        </p:nvSpPr>
        <p:spPr>
          <a:xfrm>
            <a:off x="911137" y="3720421"/>
            <a:ext cx="2382388" cy="369332"/>
          </a:xfrm>
          <a:prstGeom prst="rect">
            <a:avLst/>
          </a:prstGeom>
          <a:noFill/>
        </p:spPr>
        <p:txBody>
          <a:bodyPr wrap="square">
            <a:spAutoFit/>
          </a:bodyPr>
          <a:lstStyle/>
          <a:p>
            <a:pPr algn="ctr"/>
            <a:r>
              <a:rPr lang="zh-TW" altLang="en-US" b="1" dirty="0">
                <a:latin typeface="微軟正黑體" panose="020B0604030504040204" pitchFamily="34" charset="-120"/>
                <a:ea typeface="微軟正黑體" panose="020B0604030504040204" pitchFamily="34" charset="-120"/>
              </a:rPr>
              <a:t>絕熱去磁製冷原理</a:t>
            </a:r>
          </a:p>
        </p:txBody>
      </p:sp>
      <p:sp>
        <p:nvSpPr>
          <p:cNvPr id="19" name="文字方塊 18">
            <a:extLst>
              <a:ext uri="{FF2B5EF4-FFF2-40B4-BE49-F238E27FC236}">
                <a16:creationId xmlns:a16="http://schemas.microsoft.com/office/drawing/2014/main" id="{41A4FB04-4461-DEAF-02E8-474622341E8A}"/>
              </a:ext>
            </a:extLst>
          </p:cNvPr>
          <p:cNvSpPr txBox="1"/>
          <p:nvPr/>
        </p:nvSpPr>
        <p:spPr>
          <a:xfrm>
            <a:off x="5350195" y="3590838"/>
            <a:ext cx="1005403" cy="338554"/>
          </a:xfrm>
          <a:prstGeom prst="rect">
            <a:avLst/>
          </a:prstGeom>
          <a:noFill/>
        </p:spPr>
        <p:txBody>
          <a:bodyPr wrap="none" rtlCol="0">
            <a:spAutoFit/>
          </a:bodyPr>
          <a:lstStyle/>
          <a:p>
            <a:r>
              <a:rPr lang="zh-TW" altLang="en-US" sz="1600" b="1" dirty="0">
                <a:latin typeface="微軟正黑體" panose="020B0604030504040204" pitchFamily="34" charset="-120"/>
                <a:ea typeface="微軟正黑體" panose="020B0604030504040204" pitchFamily="34" charset="-120"/>
              </a:rPr>
              <a:t>架構簡圖</a:t>
            </a:r>
          </a:p>
        </p:txBody>
      </p:sp>
      <p:sp>
        <p:nvSpPr>
          <p:cNvPr id="20" name="文字方塊 19">
            <a:extLst>
              <a:ext uri="{FF2B5EF4-FFF2-40B4-BE49-F238E27FC236}">
                <a16:creationId xmlns:a16="http://schemas.microsoft.com/office/drawing/2014/main" id="{4F6A2272-C2AB-5BD2-A3E1-1C80BE4C050E}"/>
              </a:ext>
            </a:extLst>
          </p:cNvPr>
          <p:cNvSpPr txBox="1"/>
          <p:nvPr/>
        </p:nvSpPr>
        <p:spPr>
          <a:xfrm>
            <a:off x="6335933" y="5957650"/>
            <a:ext cx="1252266" cy="338554"/>
          </a:xfrm>
          <a:prstGeom prst="rect">
            <a:avLst/>
          </a:prstGeom>
          <a:noFill/>
        </p:spPr>
        <p:txBody>
          <a:bodyPr wrap="none" rtlCol="0">
            <a:spAutoFit/>
          </a:bodyPr>
          <a:lstStyle/>
          <a:p>
            <a:r>
              <a:rPr lang="en-US" altLang="zh-TW" sz="1600" dirty="0">
                <a:latin typeface="微軟正黑體" panose="020B0604030504040204" pitchFamily="34" charset="-120"/>
                <a:ea typeface="微軟正黑體" panose="020B0604030504040204" pitchFamily="34" charset="-120"/>
              </a:rPr>
              <a:t>(</a:t>
            </a:r>
            <a:r>
              <a:rPr lang="zh-TW" altLang="en-US" sz="1600" dirty="0">
                <a:latin typeface="微軟正黑體" panose="020B0604030504040204" pitchFamily="34" charset="-120"/>
                <a:ea typeface="微軟正黑體" panose="020B0604030504040204" pitchFamily="34" charset="-120"/>
              </a:rPr>
              <a:t>冷端</a:t>
            </a:r>
            <a:r>
              <a:rPr lang="en-US" altLang="zh-TW" sz="1600" dirty="0">
                <a:latin typeface="微軟正黑體" panose="020B0604030504040204" pitchFamily="34" charset="-120"/>
                <a:ea typeface="微軟正黑體" panose="020B0604030504040204" pitchFamily="34" charset="-120"/>
              </a:rPr>
              <a:t>&lt;</a:t>
            </a:r>
            <a:r>
              <a:rPr lang="zh-TW" altLang="en-US" sz="1600" dirty="0">
                <a:latin typeface="微軟正黑體" panose="020B0604030504040204" pitchFamily="34" charset="-120"/>
                <a:ea typeface="微軟正黑體" panose="020B0604030504040204" pitchFamily="34" charset="-120"/>
              </a:rPr>
              <a:t> </a:t>
            </a:r>
            <a:r>
              <a:rPr lang="en-US" altLang="zh-TW" sz="1600" dirty="0">
                <a:latin typeface="微軟正黑體" panose="020B0604030504040204" pitchFamily="34" charset="-120"/>
                <a:ea typeface="微軟正黑體" panose="020B0604030504040204" pitchFamily="34" charset="-120"/>
              </a:rPr>
              <a:t>4 K)</a:t>
            </a:r>
            <a:endParaRPr lang="zh-TW" altLang="en-US" sz="1600" dirty="0">
              <a:latin typeface="微軟正黑體" panose="020B0604030504040204" pitchFamily="34" charset="-120"/>
              <a:ea typeface="微軟正黑體" panose="020B0604030504040204" pitchFamily="34" charset="-120"/>
            </a:endParaRPr>
          </a:p>
        </p:txBody>
      </p:sp>
      <p:sp>
        <p:nvSpPr>
          <p:cNvPr id="25" name="文字方塊 24">
            <a:extLst>
              <a:ext uri="{FF2B5EF4-FFF2-40B4-BE49-F238E27FC236}">
                <a16:creationId xmlns:a16="http://schemas.microsoft.com/office/drawing/2014/main" id="{716F156C-EEDB-2CE8-E207-88D38BC52FF1}"/>
              </a:ext>
            </a:extLst>
          </p:cNvPr>
          <p:cNvSpPr txBox="1"/>
          <p:nvPr/>
        </p:nvSpPr>
        <p:spPr>
          <a:xfrm>
            <a:off x="8753560" y="6116082"/>
            <a:ext cx="2111899" cy="338554"/>
          </a:xfrm>
          <a:prstGeom prst="rect">
            <a:avLst/>
          </a:prstGeom>
          <a:noFill/>
        </p:spPr>
        <p:txBody>
          <a:bodyPr wrap="square">
            <a:spAutoFit/>
          </a:bodyPr>
          <a:lstStyle/>
          <a:p>
            <a:pPr algn="ctr"/>
            <a:r>
              <a:rPr lang="en-US" altLang="zh-TW" sz="1600" dirty="0">
                <a:latin typeface="+mn-lt"/>
                <a:ea typeface="+mj-ea"/>
              </a:rPr>
              <a:t>(</a:t>
            </a:r>
            <a:r>
              <a:rPr lang="zh-TW" altLang="en-US" sz="1600" dirty="0">
                <a:latin typeface="+mn-lt"/>
                <a:ea typeface="+mj-ea"/>
              </a:rPr>
              <a:t>電光所提供</a:t>
            </a:r>
            <a:r>
              <a:rPr lang="en-US" altLang="zh-TW" sz="1600" dirty="0">
                <a:latin typeface="+mn-lt"/>
                <a:ea typeface="+mj-ea"/>
              </a:rPr>
              <a:t>)</a:t>
            </a:r>
            <a:endParaRPr lang="zh-TW" altLang="en-US" sz="1600" dirty="0">
              <a:latin typeface="+mn-lt"/>
              <a:ea typeface="+mj-ea"/>
            </a:endParaRPr>
          </a:p>
        </p:txBody>
      </p:sp>
    </p:spTree>
    <p:extLst>
      <p:ext uri="{BB962C8B-B14F-4D97-AF65-F5344CB8AC3E}">
        <p14:creationId xmlns:p14="http://schemas.microsoft.com/office/powerpoint/2010/main" val="37188920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39224" y="193282"/>
            <a:ext cx="9455738" cy="713167"/>
          </a:xfrm>
        </p:spPr>
        <p:txBody>
          <a:bodyPr/>
          <a:lstStyle/>
          <a:p>
            <a:pPr>
              <a:spcBef>
                <a:spcPts val="1800"/>
              </a:spcBef>
            </a:pPr>
            <a:r>
              <a:rPr lang="zh-TW" altLang="en-US" sz="3600" dirty="0"/>
              <a:t>解決方案</a:t>
            </a:r>
            <a:endParaRPr lang="en-US" altLang="zh-TW" sz="3600" dirty="0"/>
          </a:p>
        </p:txBody>
      </p:sp>
      <p:sp>
        <p:nvSpPr>
          <p:cNvPr id="4" name="投影片編號版面配置區 1">
            <a:extLst>
              <a:ext uri="{FF2B5EF4-FFF2-40B4-BE49-F238E27FC236}">
                <a16:creationId xmlns:a16="http://schemas.microsoft.com/office/drawing/2014/main" id="{CBE45E11-521D-40EE-8119-7A0690386FA9}"/>
              </a:ext>
            </a:extLst>
          </p:cNvPr>
          <p:cNvSpPr txBox="1">
            <a:spLocks/>
          </p:cNvSpPr>
          <p:nvPr/>
        </p:nvSpPr>
        <p:spPr bwMode="auto">
          <a:xfrm>
            <a:off x="11430000" y="6619875"/>
            <a:ext cx="762000" cy="238125"/>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zh-TW"/>
            </a:defPPr>
            <a:lvl1pPr algn="r" rtl="0" eaLnBrk="1" fontAlgn="ctr" hangingPunct="1">
              <a:spcBef>
                <a:spcPct val="0"/>
              </a:spcBef>
              <a:spcAft>
                <a:spcPct val="0"/>
              </a:spcAft>
              <a:defRPr kumimoji="1" sz="1200" kern="1200">
                <a:solidFill>
                  <a:schemeClr val="tx1"/>
                </a:solidFill>
                <a:latin typeface="Arial" panose="020B0604020202020204" pitchFamily="34" charset="0"/>
                <a:ea typeface="新細明體" panose="02020500000000000000" pitchFamily="18" charset="-120"/>
                <a:cs typeface="+mn-cs"/>
              </a:defRPr>
            </a:lvl1pPr>
            <a:lvl2pPr marL="742950" indent="-28575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2pPr>
            <a:lvl3pPr marL="1143000" indent="-2286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3pPr>
            <a:lvl4pPr marL="1600200" indent="-2286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4pPr>
            <a:lvl5pPr marL="2057400" indent="-2286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9pPr>
          </a:lstStyle>
          <a:p>
            <a:fld id="{49A9212D-6406-4E12-8CC4-78DDFE99027F}" type="slidenum">
              <a:rPr lang="en-US" altLang="zh-TW" smtClean="0">
                <a:solidFill>
                  <a:schemeClr val="bg1"/>
                </a:solidFill>
                <a:ea typeface="微軟正黑體" panose="020B0604030504040204" pitchFamily="34" charset="-120"/>
              </a:rPr>
              <a:pPr/>
              <a:t>6</a:t>
            </a:fld>
            <a:endParaRPr lang="en-US" altLang="zh-TW">
              <a:solidFill>
                <a:schemeClr val="bg1"/>
              </a:solidFill>
              <a:ea typeface="微軟正黑體" panose="020B0604030504040204" pitchFamily="34" charset="-120"/>
            </a:endParaRPr>
          </a:p>
        </p:txBody>
      </p:sp>
      <p:sp>
        <p:nvSpPr>
          <p:cNvPr id="5" name="文字方塊 4">
            <a:extLst>
              <a:ext uri="{FF2B5EF4-FFF2-40B4-BE49-F238E27FC236}">
                <a16:creationId xmlns:a16="http://schemas.microsoft.com/office/drawing/2014/main" id="{8D5DEBA3-09E8-3D1E-8C03-8FB440E97468}"/>
              </a:ext>
            </a:extLst>
          </p:cNvPr>
          <p:cNvSpPr txBox="1"/>
          <p:nvPr/>
        </p:nvSpPr>
        <p:spPr>
          <a:xfrm>
            <a:off x="758037" y="877017"/>
            <a:ext cx="11052963" cy="1661993"/>
          </a:xfrm>
          <a:prstGeom prst="rect">
            <a:avLst/>
          </a:prstGeom>
          <a:noFill/>
        </p:spPr>
        <p:txBody>
          <a:bodyPr wrap="square">
            <a:spAutoFit/>
          </a:bodyPr>
          <a:lstStyle/>
          <a:p>
            <a:pPr>
              <a:spcAft>
                <a:spcPts val="600"/>
              </a:spcAft>
            </a:pPr>
            <a:r>
              <a:rPr lang="zh-TW" altLang="en-US" sz="2000" b="1" dirty="0">
                <a:latin typeface="微軟正黑體" panose="020B0604030504040204" pitchFamily="34" charset="-120"/>
                <a:ea typeface="微軟正黑體" panose="020B0604030504040204" pitchFamily="34" charset="-120"/>
              </a:rPr>
              <a:t>本徵方案</a:t>
            </a:r>
            <a:r>
              <a:rPr lang="en-US" altLang="zh-TW" sz="2000" b="1" dirty="0">
                <a:latin typeface="微軟正黑體" panose="020B0604030504040204" pitchFamily="34" charset="-120"/>
                <a:ea typeface="微軟正黑體" panose="020B0604030504040204" pitchFamily="34" charset="-120"/>
              </a:rPr>
              <a:t>1</a:t>
            </a:r>
            <a:r>
              <a:rPr lang="zh-TW" altLang="en-US" sz="2000" b="1" dirty="0">
                <a:latin typeface="微軟正黑體" panose="020B0604030504040204" pitchFamily="34" charset="-120"/>
                <a:ea typeface="微軟正黑體" panose="020B0604030504040204" pitchFamily="34" charset="-120"/>
              </a:rPr>
              <a:t>：</a:t>
            </a:r>
            <a:r>
              <a:rPr lang="zh-TW" altLang="en-US" sz="2000" b="1" dirty="0">
                <a:effectLst/>
                <a:latin typeface="微軟正黑體" panose="020B0604030504040204" pitchFamily="34" charset="-120"/>
                <a:ea typeface="微軟正黑體" panose="020B0604030504040204" pitchFamily="34" charset="-120"/>
                <a:cs typeface="Times New Roman" panose="02020603050405020304" pitchFamily="18" charset="0"/>
              </a:rPr>
              <a:t>建立可向 </a:t>
            </a:r>
            <a:r>
              <a:rPr lang="en-US" altLang="zh-TW" sz="2000" b="1" dirty="0">
                <a:effectLst/>
                <a:latin typeface="微軟正黑體" panose="020B0604030504040204" pitchFamily="34" charset="-120"/>
                <a:ea typeface="微軟正黑體" panose="020B0604030504040204" pitchFamily="34" charset="-120"/>
                <a:cs typeface="Times New Roman" panose="02020603050405020304" pitchFamily="18" charset="0"/>
              </a:rPr>
              <a:t>sub-K </a:t>
            </a:r>
            <a:r>
              <a:rPr lang="zh-TW" altLang="en-US" sz="2000" b="1" dirty="0">
                <a:effectLst/>
                <a:latin typeface="微軟正黑體" panose="020B0604030504040204" pitchFamily="34" charset="-120"/>
                <a:ea typeface="微軟正黑體" panose="020B0604030504040204" pitchFamily="34" charset="-120"/>
                <a:cs typeface="Times New Roman" panose="02020603050405020304" pitchFamily="18" charset="0"/>
              </a:rPr>
              <a:t>擴充之模組化 </a:t>
            </a:r>
            <a:r>
              <a:rPr lang="en-US" altLang="zh-TW" sz="2000" b="1" dirty="0">
                <a:effectLst/>
                <a:latin typeface="微軟正黑體" panose="020B0604030504040204" pitchFamily="34" charset="-120"/>
                <a:ea typeface="微軟正黑體" panose="020B0604030504040204" pitchFamily="34" charset="-120"/>
                <a:cs typeface="Times New Roman" panose="02020603050405020304" pitchFamily="18" charset="0"/>
              </a:rPr>
              <a:t>ADR </a:t>
            </a:r>
            <a:r>
              <a:rPr lang="zh-TW" altLang="en-US" sz="2000" b="1" dirty="0">
                <a:effectLst/>
                <a:latin typeface="微軟正黑體" panose="020B0604030504040204" pitchFamily="34" charset="-120"/>
                <a:ea typeface="微軟正黑體" panose="020B0604030504040204" pitchFamily="34" charset="-120"/>
                <a:cs typeface="Times New Roman" panose="02020603050405020304" pitchFamily="18" charset="0"/>
              </a:rPr>
              <a:t>量測平台</a:t>
            </a:r>
            <a:endParaRPr lang="en-US" altLang="zh-TW" sz="2000" b="1" dirty="0">
              <a:latin typeface="微軟正黑體" panose="020B0604030504040204" pitchFamily="34" charset="-120"/>
              <a:ea typeface="微軟正黑體" panose="020B0604030504040204" pitchFamily="34" charset="-120"/>
            </a:endParaRPr>
          </a:p>
          <a:p>
            <a:pPr marL="628650" lvl="1" indent="-271463">
              <a:spcAft>
                <a:spcPts val="300"/>
              </a:spcAft>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建立絕熱去磁製冷技術數值模擬能力，透過數學模型及計算方法模擬流場行為，以最佳化結構設計。並將光學、</a:t>
            </a:r>
            <a:r>
              <a:rPr lang="en-US" altLang="zh-TW" dirty="0">
                <a:latin typeface="微軟正黑體" panose="020B0604030504040204" pitchFamily="34" charset="-120"/>
                <a:ea typeface="微軟正黑體" panose="020B0604030504040204" pitchFamily="34" charset="-120"/>
              </a:rPr>
              <a:t>DC</a:t>
            </a:r>
            <a:r>
              <a:rPr lang="zh-TW" altLang="en-US"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RF</a:t>
            </a:r>
            <a:r>
              <a:rPr lang="zh-TW" altLang="en-US" dirty="0">
                <a:latin typeface="微軟正黑體" panose="020B0604030504040204" pitchFamily="34" charset="-120"/>
                <a:ea typeface="微軟正黑體" panose="020B0604030504040204" pitchFamily="34" charset="-120"/>
              </a:rPr>
              <a:t>介面及量測機構熱負載納入共同設計，建立可更換樣品模組與標準化熱介面。</a:t>
            </a:r>
            <a:endParaRPr lang="en-US" altLang="zh-TW" dirty="0">
              <a:latin typeface="微軟正黑體" panose="020B0604030504040204" pitchFamily="34" charset="-120"/>
              <a:ea typeface="微軟正黑體" panose="020B0604030504040204" pitchFamily="34" charset="-120"/>
            </a:endParaRPr>
          </a:p>
          <a:p>
            <a:pPr marL="628650" lvl="1" indent="-271463">
              <a:spcAft>
                <a:spcPts val="300"/>
              </a:spcAft>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建立單級</a:t>
            </a:r>
            <a:r>
              <a:rPr lang="en-US" altLang="zh-TW" dirty="0">
                <a:latin typeface="微軟正黑體" panose="020B0604030504040204" pitchFamily="34" charset="-120"/>
                <a:ea typeface="微軟正黑體" panose="020B0604030504040204" pitchFamily="34" charset="-120"/>
              </a:rPr>
              <a:t>(single stage)ADR</a:t>
            </a:r>
            <a:r>
              <a:rPr lang="zh-TW" altLang="en-US" dirty="0">
                <a:latin typeface="微軟正黑體" panose="020B0604030504040204" pitchFamily="34" charset="-120"/>
                <a:ea typeface="微軟正黑體" panose="020B0604030504040204" pitchFamily="34" charset="-120"/>
              </a:rPr>
              <a:t>模組，驗證設計規格</a:t>
            </a:r>
            <a:endParaRPr lang="en-US" altLang="zh-TW" dirty="0">
              <a:latin typeface="微軟正黑體" panose="020B0604030504040204" pitchFamily="34" charset="-120"/>
              <a:ea typeface="微軟正黑體" panose="020B0604030504040204" pitchFamily="34" charset="-120"/>
            </a:endParaRPr>
          </a:p>
          <a:p>
            <a:pPr marL="628650" lvl="1" indent="-271463">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預留後續磁熱級串接能力，使量測架構可進一步延伸至</a:t>
            </a:r>
            <a:r>
              <a:rPr lang="en-US" altLang="zh-TW" dirty="0">
                <a:latin typeface="微軟正黑體" panose="020B0604030504040204" pitchFamily="34" charset="-120"/>
                <a:ea typeface="微軟正黑體" panose="020B0604030504040204" pitchFamily="34" charset="-120"/>
              </a:rPr>
              <a:t>sub-K</a:t>
            </a:r>
            <a:r>
              <a:rPr lang="zh-TW" altLang="en-US"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p:txBody>
      </p:sp>
      <p:sp>
        <p:nvSpPr>
          <p:cNvPr id="49" name="文字方塊 48">
            <a:extLst>
              <a:ext uri="{FF2B5EF4-FFF2-40B4-BE49-F238E27FC236}">
                <a16:creationId xmlns:a16="http://schemas.microsoft.com/office/drawing/2014/main" id="{2654AA84-57FB-6384-9082-B07546A39611}"/>
              </a:ext>
            </a:extLst>
          </p:cNvPr>
          <p:cNvSpPr txBox="1"/>
          <p:nvPr/>
        </p:nvSpPr>
        <p:spPr>
          <a:xfrm>
            <a:off x="853571" y="2540063"/>
            <a:ext cx="4193279" cy="1315745"/>
          </a:xfrm>
          <a:prstGeom prst="rect">
            <a:avLst/>
          </a:prstGeom>
          <a:noFill/>
        </p:spPr>
        <p:txBody>
          <a:bodyPr wrap="square">
            <a:spAutoFit/>
          </a:bodyPr>
          <a:lstStyle/>
          <a:p>
            <a:pPr>
              <a:spcAft>
                <a:spcPts val="300"/>
              </a:spcAft>
            </a:pPr>
            <a:r>
              <a:rPr lang="en-US" altLang="zh-TW" b="1" dirty="0">
                <a:latin typeface="+mn-ea"/>
                <a:ea typeface="+mn-ea"/>
              </a:rPr>
              <a:t>ADR stage</a:t>
            </a:r>
            <a:r>
              <a:rPr lang="zh-TW" altLang="en-US" b="1" dirty="0">
                <a:latin typeface="+mn-ea"/>
                <a:ea typeface="+mn-ea"/>
              </a:rPr>
              <a:t>規格：</a:t>
            </a:r>
            <a:endParaRPr lang="en-US" altLang="zh-TW" b="1" dirty="0">
              <a:latin typeface="+mn-ea"/>
              <a:ea typeface="+mn-ea"/>
            </a:endParaRPr>
          </a:p>
          <a:p>
            <a:pPr marL="285750" indent="-285750">
              <a:spcAft>
                <a:spcPts val="300"/>
              </a:spcAft>
              <a:buFont typeface="Arial" panose="020B0604020202020204" pitchFamily="34" charset="0"/>
              <a:buChar char="•"/>
            </a:pPr>
            <a:r>
              <a:rPr lang="en-US" altLang="zh-TW" dirty="0">
                <a:latin typeface="+mn-ea"/>
                <a:ea typeface="+mn-ea"/>
              </a:rPr>
              <a:t>Temperature</a:t>
            </a:r>
            <a:r>
              <a:rPr lang="zh-TW" altLang="en-US" dirty="0">
                <a:latin typeface="+mn-ea"/>
                <a:ea typeface="+mn-ea"/>
              </a:rPr>
              <a:t>：</a:t>
            </a:r>
            <a:r>
              <a:rPr lang="en-US" altLang="zh-TW" dirty="0">
                <a:latin typeface="+mn-ea"/>
                <a:ea typeface="+mn-ea"/>
              </a:rPr>
              <a:t>4 K → 1 K</a:t>
            </a:r>
          </a:p>
          <a:p>
            <a:pPr marL="285750" indent="-285750">
              <a:spcAft>
                <a:spcPts val="300"/>
              </a:spcAft>
              <a:buFont typeface="Arial" panose="020B0604020202020204" pitchFamily="34" charset="0"/>
              <a:buChar char="•"/>
            </a:pPr>
            <a:r>
              <a:rPr lang="en-US" altLang="zh-TW" dirty="0">
                <a:latin typeface="+mn-ea"/>
                <a:ea typeface="+mn-ea"/>
              </a:rPr>
              <a:t>Magnet: 1 T to 4 T</a:t>
            </a:r>
          </a:p>
          <a:p>
            <a:pPr marL="285750" indent="-285750">
              <a:spcAft>
                <a:spcPts val="300"/>
              </a:spcAft>
              <a:buFont typeface="Arial" panose="020B0604020202020204" pitchFamily="34" charset="0"/>
              <a:buChar char="•"/>
            </a:pPr>
            <a:r>
              <a:rPr lang="en-US" altLang="zh-TW" dirty="0">
                <a:latin typeface="+mn-ea"/>
                <a:ea typeface="+mn-ea"/>
              </a:rPr>
              <a:t>Sample stage</a:t>
            </a:r>
            <a:r>
              <a:rPr lang="zh-TW" altLang="en-US" dirty="0">
                <a:latin typeface="+mn-ea"/>
                <a:ea typeface="+mn-ea"/>
              </a:rPr>
              <a:t>：</a:t>
            </a:r>
            <a:r>
              <a:rPr lang="en-US" altLang="zh-TW" dirty="0">
                <a:latin typeface="+mn-ea"/>
                <a:ea typeface="+mn-ea"/>
              </a:rPr>
              <a:t>Optical / DC / RF</a:t>
            </a:r>
          </a:p>
        </p:txBody>
      </p:sp>
      <p:grpSp>
        <p:nvGrpSpPr>
          <p:cNvPr id="46" name="群組 45">
            <a:extLst>
              <a:ext uri="{FF2B5EF4-FFF2-40B4-BE49-F238E27FC236}">
                <a16:creationId xmlns:a16="http://schemas.microsoft.com/office/drawing/2014/main" id="{98E5472F-A62C-AE4B-3081-34D930956EA1}"/>
              </a:ext>
            </a:extLst>
          </p:cNvPr>
          <p:cNvGrpSpPr/>
          <p:nvPr/>
        </p:nvGrpSpPr>
        <p:grpSpPr>
          <a:xfrm>
            <a:off x="5626746" y="3135638"/>
            <a:ext cx="6184254" cy="3249045"/>
            <a:chOff x="5936255" y="2828835"/>
            <a:chExt cx="6184254" cy="3249045"/>
          </a:xfrm>
        </p:grpSpPr>
        <p:pic>
          <p:nvPicPr>
            <p:cNvPr id="40" name="圖片 39">
              <a:extLst>
                <a:ext uri="{FF2B5EF4-FFF2-40B4-BE49-F238E27FC236}">
                  <a16:creationId xmlns:a16="http://schemas.microsoft.com/office/drawing/2014/main" id="{88E6BD7F-26E6-F21A-DA3B-5CF5DD3797BD}"/>
                </a:ext>
              </a:extLst>
            </p:cNvPr>
            <p:cNvPicPr>
              <a:picLocks noChangeAspect="1"/>
            </p:cNvPicPr>
            <p:nvPr/>
          </p:nvPicPr>
          <p:blipFill>
            <a:blip r:embed="rId3" cstate="print">
              <a:extLst>
                <a:ext uri="{28A0092B-C50C-407E-A947-70E740481C1C}">
                  <a14:useLocalDpi xmlns:a14="http://schemas.microsoft.com/office/drawing/2010/main" val="0"/>
                </a:ext>
              </a:extLst>
            </a:blip>
            <a:srcRect t="10023"/>
            <a:stretch/>
          </p:blipFill>
          <p:spPr>
            <a:xfrm>
              <a:off x="5936255" y="2828835"/>
              <a:ext cx="4412540" cy="3249045"/>
            </a:xfrm>
            <a:prstGeom prst="rect">
              <a:avLst/>
            </a:prstGeom>
          </p:spPr>
        </p:pic>
        <p:pic>
          <p:nvPicPr>
            <p:cNvPr id="6" name="圖片 5">
              <a:extLst>
                <a:ext uri="{FF2B5EF4-FFF2-40B4-BE49-F238E27FC236}">
                  <a16:creationId xmlns:a16="http://schemas.microsoft.com/office/drawing/2014/main" id="{78F17604-3FCD-9F65-1428-24B5046F6391}"/>
                </a:ext>
              </a:extLst>
            </p:cNvPr>
            <p:cNvPicPr>
              <a:picLocks noChangeAspect="1"/>
            </p:cNvPicPr>
            <p:nvPr/>
          </p:nvPicPr>
          <p:blipFill>
            <a:blip r:embed="rId4"/>
            <a:stretch>
              <a:fillRect/>
            </a:stretch>
          </p:blipFill>
          <p:spPr>
            <a:xfrm rot="10800000">
              <a:off x="10777085" y="3711474"/>
              <a:ext cx="1213209" cy="1835055"/>
            </a:xfrm>
            <a:prstGeom prst="rect">
              <a:avLst/>
            </a:prstGeom>
          </p:spPr>
        </p:pic>
        <p:sp>
          <p:nvSpPr>
            <p:cNvPr id="7" name="文字方塊 6">
              <a:extLst>
                <a:ext uri="{FF2B5EF4-FFF2-40B4-BE49-F238E27FC236}">
                  <a16:creationId xmlns:a16="http://schemas.microsoft.com/office/drawing/2014/main" id="{83BAC8B6-E969-C998-F900-92D2278A28A6}"/>
                </a:ext>
              </a:extLst>
            </p:cNvPr>
            <p:cNvSpPr txBox="1"/>
            <p:nvPr/>
          </p:nvSpPr>
          <p:spPr>
            <a:xfrm>
              <a:off x="10739490" y="5500744"/>
              <a:ext cx="1381019" cy="338554"/>
            </a:xfrm>
            <a:prstGeom prst="rect">
              <a:avLst/>
            </a:prstGeom>
            <a:noFill/>
          </p:spPr>
          <p:txBody>
            <a:bodyPr wrap="none" rtlCol="0">
              <a:spAutoFit/>
            </a:bodyPr>
            <a:lstStyle/>
            <a:p>
              <a:r>
                <a:rPr lang="en-US" altLang="zh-TW" sz="1600" b="1" dirty="0">
                  <a:latin typeface="微軟正黑體" panose="020B0604030504040204" pitchFamily="34" charset="-120"/>
                  <a:ea typeface="微軟正黑體" panose="020B0604030504040204" pitchFamily="34" charset="-120"/>
                </a:rPr>
                <a:t>To 4 K Stage</a:t>
              </a:r>
              <a:endParaRPr lang="zh-TW" altLang="en-US" sz="1600" b="1" dirty="0">
                <a:latin typeface="微軟正黑體" panose="020B0604030504040204" pitchFamily="34" charset="-120"/>
                <a:ea typeface="微軟正黑體" panose="020B0604030504040204" pitchFamily="34" charset="-120"/>
              </a:endParaRPr>
            </a:p>
          </p:txBody>
        </p:sp>
        <p:cxnSp>
          <p:nvCxnSpPr>
            <p:cNvPr id="10" name="直線單箭頭接點 9">
              <a:extLst>
                <a:ext uri="{FF2B5EF4-FFF2-40B4-BE49-F238E27FC236}">
                  <a16:creationId xmlns:a16="http://schemas.microsoft.com/office/drawing/2014/main" id="{564EB72B-B6FC-F457-CF0B-A5C5578C4118}"/>
                </a:ext>
              </a:extLst>
            </p:cNvPr>
            <p:cNvCxnSpPr>
              <a:cxnSpLocks/>
            </p:cNvCxnSpPr>
            <p:nvPr/>
          </p:nvCxnSpPr>
          <p:spPr bwMode="auto">
            <a:xfrm flipH="1">
              <a:off x="10265312" y="4347740"/>
              <a:ext cx="595257" cy="843212"/>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cxnSp>
          <p:nvCxnSpPr>
            <p:cNvPr id="12" name="直線單箭頭接點 11">
              <a:extLst>
                <a:ext uri="{FF2B5EF4-FFF2-40B4-BE49-F238E27FC236}">
                  <a16:creationId xmlns:a16="http://schemas.microsoft.com/office/drawing/2014/main" id="{9C248A0F-6E80-FDF3-A498-C8EEB0FD016D}"/>
                </a:ext>
              </a:extLst>
            </p:cNvPr>
            <p:cNvCxnSpPr>
              <a:cxnSpLocks/>
            </p:cNvCxnSpPr>
            <p:nvPr/>
          </p:nvCxnSpPr>
          <p:spPr bwMode="auto">
            <a:xfrm flipH="1" flipV="1">
              <a:off x="10215225" y="4466449"/>
              <a:ext cx="561860" cy="592584"/>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cxnSp>
          <p:nvCxnSpPr>
            <p:cNvPr id="18" name="直線單箭頭接點 17">
              <a:extLst>
                <a:ext uri="{FF2B5EF4-FFF2-40B4-BE49-F238E27FC236}">
                  <a16:creationId xmlns:a16="http://schemas.microsoft.com/office/drawing/2014/main" id="{F1AD8E71-6DDF-705F-B967-F81C9BFFF444}"/>
                </a:ext>
              </a:extLst>
            </p:cNvPr>
            <p:cNvCxnSpPr>
              <a:cxnSpLocks/>
            </p:cNvCxnSpPr>
            <p:nvPr/>
          </p:nvCxnSpPr>
          <p:spPr bwMode="auto">
            <a:xfrm flipH="1">
              <a:off x="7903140" y="4105835"/>
              <a:ext cx="2068690" cy="87207"/>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cxnSp>
          <p:nvCxnSpPr>
            <p:cNvPr id="28" name="直線接點 27">
              <a:extLst>
                <a:ext uri="{FF2B5EF4-FFF2-40B4-BE49-F238E27FC236}">
                  <a16:creationId xmlns:a16="http://schemas.microsoft.com/office/drawing/2014/main" id="{50E8D9B5-2AEA-1802-8CD1-6935B6A4BE86}"/>
                </a:ext>
              </a:extLst>
            </p:cNvPr>
            <p:cNvCxnSpPr>
              <a:cxnSpLocks/>
            </p:cNvCxnSpPr>
            <p:nvPr/>
          </p:nvCxnSpPr>
          <p:spPr bwMode="auto">
            <a:xfrm>
              <a:off x="9971830" y="4105835"/>
              <a:ext cx="938826" cy="54458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3" name="直線單箭頭接點 42">
              <a:extLst>
                <a:ext uri="{FF2B5EF4-FFF2-40B4-BE49-F238E27FC236}">
                  <a16:creationId xmlns:a16="http://schemas.microsoft.com/office/drawing/2014/main" id="{EF60403C-EFC8-B2A2-FE2E-482947A2F19F}"/>
                </a:ext>
              </a:extLst>
            </p:cNvPr>
            <p:cNvCxnSpPr>
              <a:cxnSpLocks/>
            </p:cNvCxnSpPr>
            <p:nvPr/>
          </p:nvCxnSpPr>
          <p:spPr bwMode="auto">
            <a:xfrm flipH="1" flipV="1">
              <a:off x="10413904" y="3560296"/>
              <a:ext cx="765201" cy="184699"/>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grpSp>
      <p:sp>
        <p:nvSpPr>
          <p:cNvPr id="52" name="文字方塊 51">
            <a:extLst>
              <a:ext uri="{FF2B5EF4-FFF2-40B4-BE49-F238E27FC236}">
                <a16:creationId xmlns:a16="http://schemas.microsoft.com/office/drawing/2014/main" id="{B595CA1B-202F-D790-70D9-BBB6A1808DEE}"/>
              </a:ext>
            </a:extLst>
          </p:cNvPr>
          <p:cNvSpPr txBox="1"/>
          <p:nvPr/>
        </p:nvSpPr>
        <p:spPr>
          <a:xfrm>
            <a:off x="6133042" y="2825779"/>
            <a:ext cx="5104189" cy="369332"/>
          </a:xfrm>
          <a:prstGeom prst="rect">
            <a:avLst/>
          </a:prstGeom>
          <a:noFill/>
        </p:spPr>
        <p:txBody>
          <a:bodyPr wrap="square">
            <a:spAutoFit/>
          </a:bodyPr>
          <a:lstStyle/>
          <a:p>
            <a:pPr algn="ctr"/>
            <a:r>
              <a:rPr lang="en-US" altLang="zh-TW" b="1" dirty="0">
                <a:latin typeface="微軟正黑體" panose="020B0604030504040204" pitchFamily="34" charset="-120"/>
                <a:ea typeface="微軟正黑體" panose="020B0604030504040204" pitchFamily="34" charset="-120"/>
              </a:rPr>
              <a:t>Single stage ADR</a:t>
            </a:r>
            <a:r>
              <a:rPr lang="zh-TW" altLang="en-US" b="1" dirty="0">
                <a:latin typeface="微軟正黑體" panose="020B0604030504040204" pitchFamily="34" charset="-120"/>
                <a:ea typeface="微軟正黑體" panose="020B0604030504040204" pitchFamily="34" charset="-120"/>
              </a:rPr>
              <a:t>實體與結構簡圖的對應</a:t>
            </a:r>
            <a:endParaRPr lang="zh-TW" altLang="en-US" dirty="0">
              <a:latin typeface="微軟正黑體" panose="020B0604030504040204" pitchFamily="34" charset="-120"/>
              <a:ea typeface="微軟正黑體" panose="020B0604030504040204" pitchFamily="34" charset="-120"/>
            </a:endParaRPr>
          </a:p>
        </p:txBody>
      </p:sp>
      <p:grpSp>
        <p:nvGrpSpPr>
          <p:cNvPr id="68" name="群組 67">
            <a:extLst>
              <a:ext uri="{FF2B5EF4-FFF2-40B4-BE49-F238E27FC236}">
                <a16:creationId xmlns:a16="http://schemas.microsoft.com/office/drawing/2014/main" id="{58ED09CB-D371-1A71-723D-EC4BDE0864B7}"/>
              </a:ext>
            </a:extLst>
          </p:cNvPr>
          <p:cNvGrpSpPr/>
          <p:nvPr/>
        </p:nvGrpSpPr>
        <p:grpSpPr>
          <a:xfrm>
            <a:off x="184842" y="4100059"/>
            <a:ext cx="5358420" cy="2414930"/>
            <a:chOff x="184842" y="4100059"/>
            <a:chExt cx="5358420" cy="2414930"/>
          </a:xfrm>
        </p:grpSpPr>
        <p:pic>
          <p:nvPicPr>
            <p:cNvPr id="56" name="圖片 43">
              <a:extLst>
                <a:ext uri="{FF2B5EF4-FFF2-40B4-BE49-F238E27FC236}">
                  <a16:creationId xmlns:a16="http://schemas.microsoft.com/office/drawing/2014/main" id="{E3D4AE84-9D1B-08F0-DEC3-F6841B5A550E}"/>
                </a:ext>
              </a:extLst>
            </p:cNvPr>
            <p:cNvPicPr>
              <a:picLocks noChangeAspect="1"/>
            </p:cNvPicPr>
            <p:nvPr/>
          </p:nvPicPr>
          <p:blipFill>
            <a:blip r:embed="rId5"/>
            <a:stretch/>
          </p:blipFill>
          <p:spPr>
            <a:xfrm>
              <a:off x="2473478" y="4719904"/>
              <a:ext cx="1291708" cy="1795085"/>
            </a:xfrm>
            <a:prstGeom prst="rect">
              <a:avLst/>
            </a:prstGeom>
          </p:spPr>
        </p:pic>
        <p:pic>
          <p:nvPicPr>
            <p:cNvPr id="59" name="圖片 48">
              <a:extLst>
                <a:ext uri="{FF2B5EF4-FFF2-40B4-BE49-F238E27FC236}">
                  <a16:creationId xmlns:a16="http://schemas.microsoft.com/office/drawing/2014/main" id="{CFE3F9C1-65A7-0415-C9D7-E953C24CCFEA}"/>
                </a:ext>
              </a:extLst>
            </p:cNvPr>
            <p:cNvPicPr>
              <a:picLocks noChangeAspect="1"/>
            </p:cNvPicPr>
            <p:nvPr/>
          </p:nvPicPr>
          <p:blipFill>
            <a:blip r:embed="rId6"/>
            <a:stretch/>
          </p:blipFill>
          <p:spPr>
            <a:xfrm rot="19832134">
              <a:off x="3863870" y="4941154"/>
              <a:ext cx="1462703" cy="1462703"/>
            </a:xfrm>
            <a:prstGeom prst="rect">
              <a:avLst/>
            </a:prstGeom>
          </p:spPr>
        </p:pic>
        <p:sp>
          <p:nvSpPr>
            <p:cNvPr id="62" name="標題 1">
              <a:extLst>
                <a:ext uri="{FF2B5EF4-FFF2-40B4-BE49-F238E27FC236}">
                  <a16:creationId xmlns:a16="http://schemas.microsoft.com/office/drawing/2014/main" id="{8BC0A0B5-D33A-6C7F-F88B-3F30DCDEFCB1}"/>
                </a:ext>
              </a:extLst>
            </p:cNvPr>
            <p:cNvSpPr txBox="1">
              <a:spLocks/>
            </p:cNvSpPr>
            <p:nvPr/>
          </p:nvSpPr>
          <p:spPr bwMode="auto">
            <a:xfrm>
              <a:off x="448340" y="4412638"/>
              <a:ext cx="1857376" cy="43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kumimoji="1" sz="3600">
                  <a:solidFill>
                    <a:srgbClr val="00B2B3"/>
                  </a:solidFill>
                  <a:latin typeface="+mj-lt"/>
                  <a:ea typeface="+mj-ea"/>
                  <a:cs typeface="+mj-cs"/>
                </a:defRPr>
              </a:lvl1pPr>
              <a:lvl2pPr algn="l" rtl="0" eaLnBrk="0" fontAlgn="base" hangingPunct="0">
                <a:spcBef>
                  <a:spcPct val="0"/>
                </a:spcBef>
                <a:spcAft>
                  <a:spcPct val="0"/>
                </a:spcAft>
                <a:defRPr kumimoji="1" sz="4600">
                  <a:solidFill>
                    <a:schemeClr val="tx2"/>
                  </a:solidFill>
                  <a:latin typeface="Arial" charset="0"/>
                  <a:ea typeface="微軟正黑體" pitchFamily="34" charset="-120"/>
                </a:defRPr>
              </a:lvl2pPr>
              <a:lvl3pPr algn="l" rtl="0" eaLnBrk="0" fontAlgn="base" hangingPunct="0">
                <a:spcBef>
                  <a:spcPct val="0"/>
                </a:spcBef>
                <a:spcAft>
                  <a:spcPct val="0"/>
                </a:spcAft>
                <a:defRPr kumimoji="1" sz="4600">
                  <a:solidFill>
                    <a:schemeClr val="tx2"/>
                  </a:solidFill>
                  <a:latin typeface="Arial" charset="0"/>
                  <a:ea typeface="微軟正黑體" pitchFamily="34" charset="-120"/>
                </a:defRPr>
              </a:lvl3pPr>
              <a:lvl4pPr algn="l" rtl="0" eaLnBrk="0" fontAlgn="base" hangingPunct="0">
                <a:spcBef>
                  <a:spcPct val="0"/>
                </a:spcBef>
                <a:spcAft>
                  <a:spcPct val="0"/>
                </a:spcAft>
                <a:defRPr kumimoji="1" sz="4600">
                  <a:solidFill>
                    <a:schemeClr val="tx2"/>
                  </a:solidFill>
                  <a:latin typeface="Arial" charset="0"/>
                  <a:ea typeface="微軟正黑體" pitchFamily="34" charset="-120"/>
                </a:defRPr>
              </a:lvl4pPr>
              <a:lvl5pPr algn="l" rtl="0" eaLnBrk="0" fontAlgn="base" hangingPunct="0">
                <a:spcBef>
                  <a:spcPct val="0"/>
                </a:spcBef>
                <a:spcAft>
                  <a:spcPct val="0"/>
                </a:spcAft>
                <a:defRPr kumimoji="1" sz="4600">
                  <a:solidFill>
                    <a:schemeClr val="tx2"/>
                  </a:solidFill>
                  <a:latin typeface="Arial" charset="0"/>
                  <a:ea typeface="微軟正黑體" pitchFamily="34" charset="-120"/>
                </a:defRPr>
              </a:lvl5pPr>
              <a:lvl6pPr marL="457200" algn="l" rtl="0" fontAlgn="base">
                <a:spcBef>
                  <a:spcPct val="0"/>
                </a:spcBef>
                <a:spcAft>
                  <a:spcPct val="0"/>
                </a:spcAft>
                <a:defRPr kumimoji="1" sz="4600">
                  <a:solidFill>
                    <a:schemeClr val="tx2"/>
                  </a:solidFill>
                  <a:latin typeface="Arial" charset="0"/>
                  <a:ea typeface="微軟正黑體" pitchFamily="34" charset="-120"/>
                </a:defRPr>
              </a:lvl6pPr>
              <a:lvl7pPr marL="914400" algn="l" rtl="0" fontAlgn="base">
                <a:spcBef>
                  <a:spcPct val="0"/>
                </a:spcBef>
                <a:spcAft>
                  <a:spcPct val="0"/>
                </a:spcAft>
                <a:defRPr kumimoji="1" sz="4600">
                  <a:solidFill>
                    <a:schemeClr val="tx2"/>
                  </a:solidFill>
                  <a:latin typeface="Arial" charset="0"/>
                  <a:ea typeface="微軟正黑體" pitchFamily="34" charset="-120"/>
                </a:defRPr>
              </a:lvl7pPr>
              <a:lvl8pPr marL="1371600" algn="l" rtl="0" fontAlgn="base">
                <a:spcBef>
                  <a:spcPct val="0"/>
                </a:spcBef>
                <a:spcAft>
                  <a:spcPct val="0"/>
                </a:spcAft>
                <a:defRPr kumimoji="1" sz="4600">
                  <a:solidFill>
                    <a:schemeClr val="tx2"/>
                  </a:solidFill>
                  <a:latin typeface="Arial" charset="0"/>
                  <a:ea typeface="微軟正黑體" pitchFamily="34" charset="-120"/>
                </a:defRPr>
              </a:lvl8pPr>
              <a:lvl9pPr marL="1828800" algn="l" rtl="0" fontAlgn="base">
                <a:spcBef>
                  <a:spcPct val="0"/>
                </a:spcBef>
                <a:spcAft>
                  <a:spcPct val="0"/>
                </a:spcAft>
                <a:defRPr kumimoji="1" sz="4600">
                  <a:solidFill>
                    <a:schemeClr val="tx2"/>
                  </a:solidFill>
                  <a:latin typeface="Arial" charset="0"/>
                  <a:ea typeface="微軟正黑體" pitchFamily="34" charset="-120"/>
                </a:defRPr>
              </a:lvl9pPr>
            </a:lstStyle>
            <a:p>
              <a:pPr algn="ctr"/>
              <a:r>
                <a:rPr lang="en-US" altLang="zh-TW" sz="1600" b="1" kern="0" dirty="0">
                  <a:solidFill>
                    <a:schemeClr val="tx1"/>
                  </a:solidFill>
                </a:rPr>
                <a:t>GGG salt pill</a:t>
              </a:r>
            </a:p>
          </p:txBody>
        </p:sp>
        <p:sp>
          <p:nvSpPr>
            <p:cNvPr id="63" name="標題 1">
              <a:extLst>
                <a:ext uri="{FF2B5EF4-FFF2-40B4-BE49-F238E27FC236}">
                  <a16:creationId xmlns:a16="http://schemas.microsoft.com/office/drawing/2014/main" id="{57B4A7D6-C8C9-3268-9331-2748DCBB22C1}"/>
                </a:ext>
              </a:extLst>
            </p:cNvPr>
            <p:cNvSpPr txBox="1">
              <a:spLocks/>
            </p:cNvSpPr>
            <p:nvPr/>
          </p:nvSpPr>
          <p:spPr bwMode="auto">
            <a:xfrm>
              <a:off x="2331377" y="4430276"/>
              <a:ext cx="1724026" cy="399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kumimoji="1" sz="3600">
                  <a:solidFill>
                    <a:srgbClr val="00B2B3"/>
                  </a:solidFill>
                  <a:latin typeface="+mj-lt"/>
                  <a:ea typeface="+mj-ea"/>
                  <a:cs typeface="+mj-cs"/>
                </a:defRPr>
              </a:lvl1pPr>
              <a:lvl2pPr algn="l" rtl="0" eaLnBrk="0" fontAlgn="base" hangingPunct="0">
                <a:spcBef>
                  <a:spcPct val="0"/>
                </a:spcBef>
                <a:spcAft>
                  <a:spcPct val="0"/>
                </a:spcAft>
                <a:defRPr kumimoji="1" sz="4600">
                  <a:solidFill>
                    <a:schemeClr val="tx2"/>
                  </a:solidFill>
                  <a:latin typeface="Arial" charset="0"/>
                  <a:ea typeface="微軟正黑體" pitchFamily="34" charset="-120"/>
                </a:defRPr>
              </a:lvl2pPr>
              <a:lvl3pPr algn="l" rtl="0" eaLnBrk="0" fontAlgn="base" hangingPunct="0">
                <a:spcBef>
                  <a:spcPct val="0"/>
                </a:spcBef>
                <a:spcAft>
                  <a:spcPct val="0"/>
                </a:spcAft>
                <a:defRPr kumimoji="1" sz="4600">
                  <a:solidFill>
                    <a:schemeClr val="tx2"/>
                  </a:solidFill>
                  <a:latin typeface="Arial" charset="0"/>
                  <a:ea typeface="微軟正黑體" pitchFamily="34" charset="-120"/>
                </a:defRPr>
              </a:lvl3pPr>
              <a:lvl4pPr algn="l" rtl="0" eaLnBrk="0" fontAlgn="base" hangingPunct="0">
                <a:spcBef>
                  <a:spcPct val="0"/>
                </a:spcBef>
                <a:spcAft>
                  <a:spcPct val="0"/>
                </a:spcAft>
                <a:defRPr kumimoji="1" sz="4600">
                  <a:solidFill>
                    <a:schemeClr val="tx2"/>
                  </a:solidFill>
                  <a:latin typeface="Arial" charset="0"/>
                  <a:ea typeface="微軟正黑體" pitchFamily="34" charset="-120"/>
                </a:defRPr>
              </a:lvl4pPr>
              <a:lvl5pPr algn="l" rtl="0" eaLnBrk="0" fontAlgn="base" hangingPunct="0">
                <a:spcBef>
                  <a:spcPct val="0"/>
                </a:spcBef>
                <a:spcAft>
                  <a:spcPct val="0"/>
                </a:spcAft>
                <a:defRPr kumimoji="1" sz="4600">
                  <a:solidFill>
                    <a:schemeClr val="tx2"/>
                  </a:solidFill>
                  <a:latin typeface="Arial" charset="0"/>
                  <a:ea typeface="微軟正黑體" pitchFamily="34" charset="-120"/>
                </a:defRPr>
              </a:lvl5pPr>
              <a:lvl6pPr marL="457200" algn="l" rtl="0" fontAlgn="base">
                <a:spcBef>
                  <a:spcPct val="0"/>
                </a:spcBef>
                <a:spcAft>
                  <a:spcPct val="0"/>
                </a:spcAft>
                <a:defRPr kumimoji="1" sz="4600">
                  <a:solidFill>
                    <a:schemeClr val="tx2"/>
                  </a:solidFill>
                  <a:latin typeface="Arial" charset="0"/>
                  <a:ea typeface="微軟正黑體" pitchFamily="34" charset="-120"/>
                </a:defRPr>
              </a:lvl6pPr>
              <a:lvl7pPr marL="914400" algn="l" rtl="0" fontAlgn="base">
                <a:spcBef>
                  <a:spcPct val="0"/>
                </a:spcBef>
                <a:spcAft>
                  <a:spcPct val="0"/>
                </a:spcAft>
                <a:defRPr kumimoji="1" sz="4600">
                  <a:solidFill>
                    <a:schemeClr val="tx2"/>
                  </a:solidFill>
                  <a:latin typeface="Arial" charset="0"/>
                  <a:ea typeface="微軟正黑體" pitchFamily="34" charset="-120"/>
                </a:defRPr>
              </a:lvl7pPr>
              <a:lvl8pPr marL="1371600" algn="l" rtl="0" fontAlgn="base">
                <a:spcBef>
                  <a:spcPct val="0"/>
                </a:spcBef>
                <a:spcAft>
                  <a:spcPct val="0"/>
                </a:spcAft>
                <a:defRPr kumimoji="1" sz="4600">
                  <a:solidFill>
                    <a:schemeClr val="tx2"/>
                  </a:solidFill>
                  <a:latin typeface="Arial" charset="0"/>
                  <a:ea typeface="微軟正黑體" pitchFamily="34" charset="-120"/>
                </a:defRPr>
              </a:lvl8pPr>
              <a:lvl9pPr marL="1828800" algn="l" rtl="0" fontAlgn="base">
                <a:spcBef>
                  <a:spcPct val="0"/>
                </a:spcBef>
                <a:spcAft>
                  <a:spcPct val="0"/>
                </a:spcAft>
                <a:defRPr kumimoji="1" sz="4600">
                  <a:solidFill>
                    <a:schemeClr val="tx2"/>
                  </a:solidFill>
                  <a:latin typeface="Arial" charset="0"/>
                  <a:ea typeface="微軟正黑體" pitchFamily="34" charset="-120"/>
                </a:defRPr>
              </a:lvl9pPr>
            </a:lstStyle>
            <a:p>
              <a:pPr algn="ctr"/>
              <a:r>
                <a:rPr lang="en-US" altLang="zh-TW" sz="1600" b="1" kern="0" dirty="0">
                  <a:solidFill>
                    <a:schemeClr val="tx1"/>
                  </a:solidFill>
                </a:rPr>
                <a:t>ADR magnet</a:t>
              </a:r>
              <a:endParaRPr lang="en-US" altLang="zh-TW" sz="1600" kern="0" dirty="0">
                <a:solidFill>
                  <a:schemeClr val="tx1"/>
                </a:solidFill>
              </a:endParaRPr>
            </a:p>
          </p:txBody>
        </p:sp>
        <p:sp>
          <p:nvSpPr>
            <p:cNvPr id="64" name="標題 1">
              <a:extLst>
                <a:ext uri="{FF2B5EF4-FFF2-40B4-BE49-F238E27FC236}">
                  <a16:creationId xmlns:a16="http://schemas.microsoft.com/office/drawing/2014/main" id="{74282B43-29C4-9FF1-F537-A44393D9D8AA}"/>
                </a:ext>
              </a:extLst>
            </p:cNvPr>
            <p:cNvSpPr txBox="1">
              <a:spLocks/>
            </p:cNvSpPr>
            <p:nvPr/>
          </p:nvSpPr>
          <p:spPr bwMode="auto">
            <a:xfrm>
              <a:off x="3819236" y="4449297"/>
              <a:ext cx="1724026" cy="427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kumimoji="1" sz="3600">
                  <a:solidFill>
                    <a:srgbClr val="00B2B3"/>
                  </a:solidFill>
                  <a:latin typeface="+mj-lt"/>
                  <a:ea typeface="+mj-ea"/>
                  <a:cs typeface="+mj-cs"/>
                </a:defRPr>
              </a:lvl1pPr>
              <a:lvl2pPr algn="l" rtl="0" eaLnBrk="0" fontAlgn="base" hangingPunct="0">
                <a:spcBef>
                  <a:spcPct val="0"/>
                </a:spcBef>
                <a:spcAft>
                  <a:spcPct val="0"/>
                </a:spcAft>
                <a:defRPr kumimoji="1" sz="4600">
                  <a:solidFill>
                    <a:schemeClr val="tx2"/>
                  </a:solidFill>
                  <a:latin typeface="Arial" charset="0"/>
                  <a:ea typeface="微軟正黑體" pitchFamily="34" charset="-120"/>
                </a:defRPr>
              </a:lvl2pPr>
              <a:lvl3pPr algn="l" rtl="0" eaLnBrk="0" fontAlgn="base" hangingPunct="0">
                <a:spcBef>
                  <a:spcPct val="0"/>
                </a:spcBef>
                <a:spcAft>
                  <a:spcPct val="0"/>
                </a:spcAft>
                <a:defRPr kumimoji="1" sz="4600">
                  <a:solidFill>
                    <a:schemeClr val="tx2"/>
                  </a:solidFill>
                  <a:latin typeface="Arial" charset="0"/>
                  <a:ea typeface="微軟正黑體" pitchFamily="34" charset="-120"/>
                </a:defRPr>
              </a:lvl3pPr>
              <a:lvl4pPr algn="l" rtl="0" eaLnBrk="0" fontAlgn="base" hangingPunct="0">
                <a:spcBef>
                  <a:spcPct val="0"/>
                </a:spcBef>
                <a:spcAft>
                  <a:spcPct val="0"/>
                </a:spcAft>
                <a:defRPr kumimoji="1" sz="4600">
                  <a:solidFill>
                    <a:schemeClr val="tx2"/>
                  </a:solidFill>
                  <a:latin typeface="Arial" charset="0"/>
                  <a:ea typeface="微軟正黑體" pitchFamily="34" charset="-120"/>
                </a:defRPr>
              </a:lvl4pPr>
              <a:lvl5pPr algn="l" rtl="0" eaLnBrk="0" fontAlgn="base" hangingPunct="0">
                <a:spcBef>
                  <a:spcPct val="0"/>
                </a:spcBef>
                <a:spcAft>
                  <a:spcPct val="0"/>
                </a:spcAft>
                <a:defRPr kumimoji="1" sz="4600">
                  <a:solidFill>
                    <a:schemeClr val="tx2"/>
                  </a:solidFill>
                  <a:latin typeface="Arial" charset="0"/>
                  <a:ea typeface="微軟正黑體" pitchFamily="34" charset="-120"/>
                </a:defRPr>
              </a:lvl5pPr>
              <a:lvl6pPr marL="457200" algn="l" rtl="0" fontAlgn="base">
                <a:spcBef>
                  <a:spcPct val="0"/>
                </a:spcBef>
                <a:spcAft>
                  <a:spcPct val="0"/>
                </a:spcAft>
                <a:defRPr kumimoji="1" sz="4600">
                  <a:solidFill>
                    <a:schemeClr val="tx2"/>
                  </a:solidFill>
                  <a:latin typeface="Arial" charset="0"/>
                  <a:ea typeface="微軟正黑體" pitchFamily="34" charset="-120"/>
                </a:defRPr>
              </a:lvl6pPr>
              <a:lvl7pPr marL="914400" algn="l" rtl="0" fontAlgn="base">
                <a:spcBef>
                  <a:spcPct val="0"/>
                </a:spcBef>
                <a:spcAft>
                  <a:spcPct val="0"/>
                </a:spcAft>
                <a:defRPr kumimoji="1" sz="4600">
                  <a:solidFill>
                    <a:schemeClr val="tx2"/>
                  </a:solidFill>
                  <a:latin typeface="Arial" charset="0"/>
                  <a:ea typeface="微軟正黑體" pitchFamily="34" charset="-120"/>
                </a:defRPr>
              </a:lvl7pPr>
              <a:lvl8pPr marL="1371600" algn="l" rtl="0" fontAlgn="base">
                <a:spcBef>
                  <a:spcPct val="0"/>
                </a:spcBef>
                <a:spcAft>
                  <a:spcPct val="0"/>
                </a:spcAft>
                <a:defRPr kumimoji="1" sz="4600">
                  <a:solidFill>
                    <a:schemeClr val="tx2"/>
                  </a:solidFill>
                  <a:latin typeface="Arial" charset="0"/>
                  <a:ea typeface="微軟正黑體" pitchFamily="34" charset="-120"/>
                </a:defRPr>
              </a:lvl8pPr>
              <a:lvl9pPr marL="1828800" algn="l" rtl="0" fontAlgn="base">
                <a:spcBef>
                  <a:spcPct val="0"/>
                </a:spcBef>
                <a:spcAft>
                  <a:spcPct val="0"/>
                </a:spcAft>
                <a:defRPr kumimoji="1" sz="4600">
                  <a:solidFill>
                    <a:schemeClr val="tx2"/>
                  </a:solidFill>
                  <a:latin typeface="Arial" charset="0"/>
                  <a:ea typeface="微軟正黑體" pitchFamily="34" charset="-120"/>
                </a:defRPr>
              </a:lvl9pPr>
            </a:lstStyle>
            <a:p>
              <a:pPr algn="ctr"/>
              <a:r>
                <a:rPr lang="en-US" altLang="zh-TW" sz="1600" b="1" kern="0" dirty="0">
                  <a:solidFill>
                    <a:schemeClr val="tx1"/>
                  </a:solidFill>
                </a:rPr>
                <a:t>Heat switch</a:t>
              </a:r>
            </a:p>
          </p:txBody>
        </p:sp>
        <p:sp>
          <p:nvSpPr>
            <p:cNvPr id="66" name="文字方塊 65">
              <a:extLst>
                <a:ext uri="{FF2B5EF4-FFF2-40B4-BE49-F238E27FC236}">
                  <a16:creationId xmlns:a16="http://schemas.microsoft.com/office/drawing/2014/main" id="{6BB1E034-90E5-DF52-3538-53A5A846E757}"/>
                </a:ext>
              </a:extLst>
            </p:cNvPr>
            <p:cNvSpPr txBox="1"/>
            <p:nvPr/>
          </p:nvSpPr>
          <p:spPr>
            <a:xfrm>
              <a:off x="184842" y="4100059"/>
              <a:ext cx="5104189" cy="369332"/>
            </a:xfrm>
            <a:prstGeom prst="rect">
              <a:avLst/>
            </a:prstGeom>
            <a:noFill/>
          </p:spPr>
          <p:txBody>
            <a:bodyPr wrap="square">
              <a:spAutoFit/>
            </a:bodyPr>
            <a:lstStyle/>
            <a:p>
              <a:pPr algn="ctr"/>
              <a:r>
                <a:rPr lang="en-US" altLang="zh-TW" b="1" dirty="0">
                  <a:latin typeface="微軟正黑體" panose="020B0604030504040204" pitchFamily="34" charset="-120"/>
                  <a:ea typeface="微軟正黑體" panose="020B0604030504040204" pitchFamily="34" charset="-120"/>
                </a:rPr>
                <a:t>Single stage ADR</a:t>
              </a:r>
              <a:r>
                <a:rPr lang="zh-TW" altLang="en-US" b="1" dirty="0">
                  <a:latin typeface="微軟正黑體" panose="020B0604030504040204" pitchFamily="34" charset="-120"/>
                  <a:ea typeface="微軟正黑體" panose="020B0604030504040204" pitchFamily="34" charset="-120"/>
                </a:rPr>
                <a:t>重要組件</a:t>
              </a:r>
              <a:endParaRPr lang="zh-TW" altLang="en-US" dirty="0">
                <a:latin typeface="微軟正黑體" panose="020B0604030504040204" pitchFamily="34" charset="-120"/>
                <a:ea typeface="微軟正黑體" panose="020B0604030504040204" pitchFamily="34" charset="-120"/>
              </a:endParaRPr>
            </a:p>
          </p:txBody>
        </p:sp>
        <p:pic>
          <p:nvPicPr>
            <p:cNvPr id="67" name="圖片 66">
              <a:extLst>
                <a:ext uri="{FF2B5EF4-FFF2-40B4-BE49-F238E27FC236}">
                  <a16:creationId xmlns:a16="http://schemas.microsoft.com/office/drawing/2014/main" id="{39E2A85E-755A-43FF-7706-D6641633B679}"/>
                </a:ext>
              </a:extLst>
            </p:cNvPr>
            <p:cNvPicPr>
              <a:picLocks noChangeAspect="1"/>
            </p:cNvPicPr>
            <p:nvPr/>
          </p:nvPicPr>
          <p:blipFill>
            <a:blip r:embed="rId7"/>
            <a:stretch>
              <a:fillRect/>
            </a:stretch>
          </p:blipFill>
          <p:spPr>
            <a:xfrm>
              <a:off x="1055436" y="4860077"/>
              <a:ext cx="762066" cy="1426588"/>
            </a:xfrm>
            <a:prstGeom prst="rect">
              <a:avLst/>
            </a:prstGeom>
          </p:spPr>
        </p:pic>
      </p:grpSp>
    </p:spTree>
    <p:extLst>
      <p:ext uri="{BB962C8B-B14F-4D97-AF65-F5344CB8AC3E}">
        <p14:creationId xmlns:p14="http://schemas.microsoft.com/office/powerpoint/2010/main" val="4978854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84610" y="97866"/>
            <a:ext cx="11045923" cy="941580"/>
          </a:xfrm>
        </p:spPr>
        <p:txBody>
          <a:bodyPr/>
          <a:lstStyle/>
          <a:p>
            <a:pPr>
              <a:spcBef>
                <a:spcPts val="1800"/>
              </a:spcBef>
            </a:pPr>
            <a:r>
              <a:rPr lang="zh-TW" altLang="en-US" sz="3600" dirty="0"/>
              <a:t>解決方案</a:t>
            </a:r>
            <a:endParaRPr lang="en-US" altLang="zh-TW" sz="3600" dirty="0"/>
          </a:p>
        </p:txBody>
      </p:sp>
      <p:sp>
        <p:nvSpPr>
          <p:cNvPr id="4" name="投影片編號版面配置區 1">
            <a:extLst>
              <a:ext uri="{FF2B5EF4-FFF2-40B4-BE49-F238E27FC236}">
                <a16:creationId xmlns:a16="http://schemas.microsoft.com/office/drawing/2014/main" id="{CBE45E11-521D-40EE-8119-7A0690386FA9}"/>
              </a:ext>
            </a:extLst>
          </p:cNvPr>
          <p:cNvSpPr txBox="1">
            <a:spLocks/>
          </p:cNvSpPr>
          <p:nvPr/>
        </p:nvSpPr>
        <p:spPr bwMode="auto">
          <a:xfrm>
            <a:off x="11330533" y="6619875"/>
            <a:ext cx="762000" cy="238125"/>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zh-TW"/>
            </a:defPPr>
            <a:lvl1pPr algn="r" rtl="0" eaLnBrk="1" fontAlgn="ctr" hangingPunct="1">
              <a:spcBef>
                <a:spcPct val="0"/>
              </a:spcBef>
              <a:spcAft>
                <a:spcPct val="0"/>
              </a:spcAft>
              <a:defRPr kumimoji="1" sz="1200" kern="1200">
                <a:solidFill>
                  <a:schemeClr val="tx1"/>
                </a:solidFill>
                <a:latin typeface="Arial" panose="020B0604020202020204" pitchFamily="34" charset="0"/>
                <a:ea typeface="新細明體" panose="02020500000000000000" pitchFamily="18" charset="-120"/>
                <a:cs typeface="+mn-cs"/>
              </a:defRPr>
            </a:lvl1pPr>
            <a:lvl2pPr marL="742950" indent="-28575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2pPr>
            <a:lvl3pPr marL="1143000" indent="-2286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3pPr>
            <a:lvl4pPr marL="1600200" indent="-2286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4pPr>
            <a:lvl5pPr marL="2057400" indent="-2286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9pPr>
          </a:lstStyle>
          <a:p>
            <a:pPr marL="0" marR="0" lvl="0" indent="0" algn="r" defTabSz="914400" rtl="0" eaLnBrk="1" fontAlgn="ctr" latinLnBrk="0" hangingPunct="1">
              <a:lnSpc>
                <a:spcPct val="100000"/>
              </a:lnSpc>
              <a:spcBef>
                <a:spcPct val="0"/>
              </a:spcBef>
              <a:spcAft>
                <a:spcPct val="0"/>
              </a:spcAft>
              <a:buClrTx/>
              <a:buSzTx/>
              <a:buFontTx/>
              <a:buNone/>
              <a:tabLst/>
              <a:defRPr/>
            </a:pPr>
            <a:fld id="{49A9212D-6406-4E12-8CC4-78DDFE99027F}" type="slidenum">
              <a:rPr kumimoji="1" lang="en-US" altLang="zh-TW" sz="1200" b="0" i="0" u="none" strike="noStrike" kern="1200" cap="none" spc="0" normalizeH="0" baseline="0" noProof="0" smtClean="0">
                <a:ln>
                  <a:noFill/>
                </a:ln>
                <a:solidFill>
                  <a:srgbClr val="FFFFFF"/>
                </a:solidFill>
                <a:effectLst/>
                <a:uLnTx/>
                <a:uFillTx/>
                <a:latin typeface="Arial" panose="020B0604020202020204" pitchFamily="34" charset="0"/>
                <a:ea typeface="微軟正黑體" panose="020B0604030504040204" pitchFamily="34" charset="-120"/>
                <a:cs typeface="+mn-cs"/>
              </a:rPr>
              <a:pPr marL="0" marR="0" lvl="0" indent="0" algn="r" defTabSz="914400" rtl="0" eaLnBrk="1" fontAlgn="ctr" latinLnBrk="0" hangingPunct="1">
                <a:lnSpc>
                  <a:spcPct val="100000"/>
                </a:lnSpc>
                <a:spcBef>
                  <a:spcPct val="0"/>
                </a:spcBef>
                <a:spcAft>
                  <a:spcPct val="0"/>
                </a:spcAft>
                <a:buClrTx/>
                <a:buSzTx/>
                <a:buFontTx/>
                <a:buNone/>
                <a:tabLst/>
                <a:defRPr/>
              </a:pPr>
              <a:t>7</a:t>
            </a:fld>
            <a:endParaRPr kumimoji="1" lang="en-US" altLang="zh-TW" sz="1200" b="0" i="0" u="none" strike="noStrike" kern="1200" cap="none" spc="0" normalizeH="0" baseline="0" noProof="0">
              <a:ln>
                <a:noFill/>
              </a:ln>
              <a:solidFill>
                <a:srgbClr val="FFFFFF"/>
              </a:solidFill>
              <a:effectLst/>
              <a:uLnTx/>
              <a:uFillTx/>
              <a:latin typeface="Arial" panose="020B0604020202020204" pitchFamily="34" charset="0"/>
              <a:ea typeface="微軟正黑體" panose="020B0604030504040204" pitchFamily="34" charset="-120"/>
              <a:cs typeface="+mn-cs"/>
            </a:endParaRPr>
          </a:p>
        </p:txBody>
      </p:sp>
      <p:sp>
        <p:nvSpPr>
          <p:cNvPr id="5" name="文字方塊 4">
            <a:extLst>
              <a:ext uri="{FF2B5EF4-FFF2-40B4-BE49-F238E27FC236}">
                <a16:creationId xmlns:a16="http://schemas.microsoft.com/office/drawing/2014/main" id="{8D5DEBA3-09E8-3D1E-8C03-8FB440E97468}"/>
              </a:ext>
            </a:extLst>
          </p:cNvPr>
          <p:cNvSpPr txBox="1"/>
          <p:nvPr/>
        </p:nvSpPr>
        <p:spPr>
          <a:xfrm>
            <a:off x="677813" y="762057"/>
            <a:ext cx="10836374" cy="2492990"/>
          </a:xfrm>
          <a:prstGeom prst="rect">
            <a:avLst/>
          </a:prstGeom>
          <a:noFill/>
        </p:spPr>
        <p:txBody>
          <a:bodyPr wrap="square">
            <a:spAutoFit/>
          </a:bodyPr>
          <a:lstStyle/>
          <a:p>
            <a:pPr marL="0" marR="0" lvl="0" indent="0" algn="l" defTabSz="914400" rtl="0" eaLnBrk="0" fontAlgn="base" latinLnBrk="0" hangingPunct="0">
              <a:lnSpc>
                <a:spcPct val="100000"/>
              </a:lnSpc>
              <a:spcBef>
                <a:spcPts val="0"/>
              </a:spcBef>
              <a:spcAft>
                <a:spcPts val="600"/>
              </a:spcAft>
              <a:buClrTx/>
              <a:buSzTx/>
              <a:buFontTx/>
              <a:buNone/>
              <a:tabLst/>
              <a:defRPr/>
            </a:pPr>
            <a:r>
              <a:rPr kumimoji="1" lang="zh-TW" altLang="en-US" sz="2000" b="1" i="0" u="none" strike="noStrike" kern="1200" cap="none" spc="0" normalizeH="0" baseline="0" noProof="0" dirty="0">
                <a:ln>
                  <a:noFill/>
                </a:ln>
                <a:solidFill>
                  <a:srgbClr val="000000"/>
                </a:solidFill>
                <a:effectLst/>
                <a:uLnTx/>
                <a:uFillTx/>
                <a:latin typeface="Arial"/>
                <a:ea typeface="微軟正黑體"/>
                <a:cs typeface="+mn-cs"/>
              </a:rPr>
              <a:t>本徵方案</a:t>
            </a:r>
            <a:r>
              <a:rPr kumimoji="1" lang="en-US" altLang="zh-TW" sz="2000" b="1" i="0" u="none" strike="noStrike" kern="1200" cap="none" spc="0" normalizeH="0" baseline="0" noProof="0" dirty="0">
                <a:ln>
                  <a:noFill/>
                </a:ln>
                <a:solidFill>
                  <a:srgbClr val="000000"/>
                </a:solidFill>
                <a:effectLst/>
                <a:uLnTx/>
                <a:uFillTx/>
                <a:latin typeface="Arial"/>
                <a:ea typeface="微軟正黑體"/>
                <a:cs typeface="+mn-cs"/>
              </a:rPr>
              <a:t>2</a:t>
            </a:r>
            <a:r>
              <a:rPr kumimoji="1" lang="zh-TW" altLang="en-US" sz="2000" b="1" i="0" u="none" strike="noStrike" kern="1200" cap="none" spc="0" normalizeH="0" baseline="0" noProof="0" dirty="0">
                <a:ln>
                  <a:noFill/>
                </a:ln>
                <a:solidFill>
                  <a:srgbClr val="000000"/>
                </a:solidFill>
                <a:effectLst/>
                <a:uLnTx/>
                <a:uFillTx/>
                <a:latin typeface="Arial"/>
                <a:ea typeface="微軟正黑體"/>
                <a:cs typeface="+mn-cs"/>
              </a:rPr>
              <a:t>：</a:t>
            </a:r>
            <a:r>
              <a:rPr kumimoji="1" lang="zh-TW" altLang="en-US" sz="2000" b="1" i="0" u="none" strike="noStrike" kern="1200" cap="none" spc="0" normalizeH="0" baseline="0" noProof="0" dirty="0">
                <a:ln>
                  <a:noFill/>
                </a:ln>
                <a:solidFill>
                  <a:srgbClr val="000000"/>
                </a:solidFill>
                <a:effectLst/>
                <a:uLnTx/>
                <a:uFillTx/>
                <a:latin typeface="Arial" panose="020B0604020202020204" pitchFamily="34" charset="0"/>
                <a:ea typeface="微軟正黑體" panose="020B0604030504040204" pitchFamily="34" charset="-120"/>
                <a:cs typeface="Times New Roman" panose="02020603050405020304" pitchFamily="18" charset="0"/>
              </a:rPr>
              <a:t>以低光熱與震動同步成像建立低溫二維尺寸－電氣共同量測技術</a:t>
            </a:r>
            <a:r>
              <a:rPr kumimoji="1" lang="en-US" altLang="zh-TW" sz="1600" b="1" i="0" u="none" strike="noStrike" kern="1200" cap="none" spc="0" normalizeH="0" baseline="0" noProof="0" dirty="0">
                <a:ln>
                  <a:noFill/>
                </a:ln>
                <a:solidFill>
                  <a:srgbClr val="000000"/>
                </a:solidFill>
                <a:effectLst/>
                <a:uLnTx/>
                <a:uFillTx/>
                <a:latin typeface="Arial" panose="020B0604020202020204" pitchFamily="34" charset="0"/>
                <a:ea typeface="微軟正黑體" panose="020B0604030504040204" pitchFamily="34" charset="-120"/>
                <a:cs typeface="Times New Roman" panose="02020603050405020304" pitchFamily="18" charset="0"/>
              </a:rPr>
              <a:t>(</a:t>
            </a:r>
            <a:r>
              <a:rPr kumimoji="1" lang="zh-TW" altLang="en-US" sz="1600" b="1" i="0" u="none" strike="noStrike" kern="1200" cap="none" spc="0" normalizeH="0" baseline="0" noProof="0" dirty="0">
                <a:ln>
                  <a:noFill/>
                </a:ln>
                <a:solidFill>
                  <a:srgbClr val="000000"/>
                </a:solidFill>
                <a:effectLst/>
                <a:uLnTx/>
                <a:uFillTx/>
                <a:latin typeface="Arial" panose="020B0604020202020204" pitchFamily="34" charset="0"/>
                <a:ea typeface="微軟正黑體" panose="020B0604030504040204" pitchFamily="34" charset="-120"/>
                <a:cs typeface="Times New Roman" panose="02020603050405020304" pitchFamily="18" charset="0"/>
              </a:rPr>
              <a:t>電光所</a:t>
            </a:r>
            <a:r>
              <a:rPr kumimoji="1" lang="en-US" altLang="zh-TW" sz="1600" b="1" i="0" u="none" strike="noStrike" kern="1200" cap="none" spc="0" normalizeH="0" baseline="0" noProof="0" dirty="0">
                <a:ln>
                  <a:noFill/>
                </a:ln>
                <a:solidFill>
                  <a:srgbClr val="000000"/>
                </a:solidFill>
                <a:effectLst/>
                <a:uLnTx/>
                <a:uFillTx/>
                <a:latin typeface="Arial" panose="020B0604020202020204" pitchFamily="34" charset="0"/>
                <a:ea typeface="微軟正黑體" panose="020B0604030504040204" pitchFamily="34" charset="-120"/>
                <a:cs typeface="Times New Roman" panose="02020603050405020304" pitchFamily="18" charset="0"/>
              </a:rPr>
              <a:t>+</a:t>
            </a:r>
            <a:r>
              <a:rPr kumimoji="1" lang="zh-TW" altLang="en-US" sz="1600" b="1" i="0" u="none" strike="noStrike" kern="1200" cap="none" spc="0" normalizeH="0" baseline="0" noProof="0" dirty="0">
                <a:ln>
                  <a:noFill/>
                </a:ln>
                <a:solidFill>
                  <a:srgbClr val="000000"/>
                </a:solidFill>
                <a:effectLst/>
                <a:uLnTx/>
                <a:uFillTx/>
                <a:latin typeface="Arial" panose="020B0604020202020204" pitchFamily="34" charset="0"/>
                <a:ea typeface="微軟正黑體" panose="020B0604030504040204" pitchFamily="34" charset="-120"/>
                <a:cs typeface="Times New Roman" panose="02020603050405020304" pitchFamily="18" charset="0"/>
              </a:rPr>
              <a:t>量測</a:t>
            </a:r>
            <a:r>
              <a:rPr kumimoji="1" lang="en-US" altLang="zh-TW" sz="1600" b="1" i="0" u="none" strike="noStrike" kern="1200" cap="none" spc="0" normalizeH="0" baseline="0" noProof="0" dirty="0">
                <a:ln>
                  <a:noFill/>
                </a:ln>
                <a:solidFill>
                  <a:srgbClr val="000000"/>
                </a:solidFill>
                <a:effectLst/>
                <a:uLnTx/>
                <a:uFillTx/>
                <a:latin typeface="Arial" panose="020B0604020202020204" pitchFamily="34" charset="0"/>
                <a:ea typeface="微軟正黑體" panose="020B0604030504040204" pitchFamily="34" charset="-120"/>
                <a:cs typeface="Times New Roman" panose="02020603050405020304" pitchFamily="18" charset="0"/>
              </a:rPr>
              <a:t>F</a:t>
            </a:r>
            <a:r>
              <a:rPr kumimoji="1" lang="zh-TW" altLang="en-US" sz="1600" b="1" i="0" u="none" strike="noStrike" kern="1200" cap="none" spc="0" normalizeH="0" baseline="0" noProof="0" dirty="0">
                <a:ln>
                  <a:noFill/>
                </a:ln>
                <a:solidFill>
                  <a:srgbClr val="000000"/>
                </a:solidFill>
                <a:effectLst/>
                <a:uLnTx/>
                <a:uFillTx/>
                <a:latin typeface="Arial" panose="020B0604020202020204" pitchFamily="34" charset="0"/>
                <a:ea typeface="微軟正黑體" panose="020B0604030504040204" pitchFamily="34" charset="-120"/>
                <a:cs typeface="Times New Roman" panose="02020603050405020304" pitchFamily="18" charset="0"/>
              </a:rPr>
              <a:t>組</a:t>
            </a:r>
            <a:r>
              <a:rPr kumimoji="1" lang="en-US" altLang="zh-TW" sz="1600" b="1" i="0" u="none" strike="noStrike" kern="1200" cap="none" spc="0" normalizeH="0" baseline="0" noProof="0" dirty="0">
                <a:ln>
                  <a:noFill/>
                </a:ln>
                <a:solidFill>
                  <a:srgbClr val="000000"/>
                </a:solidFill>
                <a:effectLst/>
                <a:uLnTx/>
                <a:uFillTx/>
                <a:latin typeface="Arial" panose="020B0604020202020204" pitchFamily="34" charset="0"/>
                <a:ea typeface="微軟正黑體" panose="020B0604030504040204" pitchFamily="34" charset="-120"/>
                <a:cs typeface="Times New Roman" panose="02020603050405020304" pitchFamily="18" charset="0"/>
              </a:rPr>
              <a:t>)</a:t>
            </a:r>
            <a:endParaRPr kumimoji="1" lang="zh-TW" altLang="en-US" sz="1600" b="1" i="0" u="none" strike="noStrike" kern="1200" cap="none" spc="0" normalizeH="0" baseline="0" noProof="0" dirty="0">
              <a:ln>
                <a:noFill/>
              </a:ln>
              <a:solidFill>
                <a:srgbClr val="000000"/>
              </a:solidFill>
              <a:effectLst/>
              <a:uLnTx/>
              <a:uFillTx/>
              <a:latin typeface="Arial" panose="020B0604020202020204" pitchFamily="34" charset="0"/>
              <a:ea typeface="微軟正黑體" panose="020B0604030504040204" pitchFamily="34" charset="-120"/>
              <a:cs typeface="Times New Roman" panose="02020603050405020304" pitchFamily="18" charset="0"/>
            </a:endParaRPr>
          </a:p>
          <a:p>
            <a:pPr marL="450850" marR="0" lvl="1" indent="-1841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defRPr/>
            </a:pPr>
            <a:r>
              <a:rPr lang="zh-TW" altLang="en-US" dirty="0">
                <a:latin typeface="+mj-lt"/>
                <a:ea typeface="+mj-ea"/>
              </a:rPr>
              <a:t>採用</a:t>
            </a:r>
            <a:r>
              <a:rPr lang="en-US" altLang="zh-TW" dirty="0">
                <a:latin typeface="+mj-lt"/>
                <a:ea typeface="+mj-ea"/>
              </a:rPr>
              <a:t>50X</a:t>
            </a:r>
            <a:r>
              <a:rPr lang="zh-TW" altLang="en-US" dirty="0">
                <a:latin typeface="+mj-lt"/>
                <a:ea typeface="+mj-ea"/>
              </a:rPr>
              <a:t>長工作距離物鏡，室溫光學解析能力約 </a:t>
            </a:r>
            <a:r>
              <a:rPr lang="en-US" altLang="zh-TW" b="1" dirty="0">
                <a:latin typeface="+mj-lt"/>
                <a:ea typeface="+mj-ea"/>
              </a:rPr>
              <a:t>0.5–0.7 µm</a:t>
            </a:r>
            <a:r>
              <a:rPr lang="zh-TW" altLang="en-US" dirty="0">
                <a:latin typeface="+mj-lt"/>
                <a:ea typeface="+mj-ea"/>
              </a:rPr>
              <a:t>；建立 </a:t>
            </a:r>
            <a:r>
              <a:rPr lang="en-US" altLang="zh-TW" dirty="0">
                <a:latin typeface="+mj-lt"/>
                <a:ea typeface="+mj-ea"/>
              </a:rPr>
              <a:t>µW</a:t>
            </a:r>
            <a:r>
              <a:rPr lang="zh-TW" altLang="en-US" dirty="0">
                <a:latin typeface="+mj-lt"/>
                <a:ea typeface="+mj-ea"/>
              </a:rPr>
              <a:t>級低功率照明操作窗，於</a:t>
            </a:r>
            <a:r>
              <a:rPr lang="en-US" altLang="zh-TW" dirty="0">
                <a:latin typeface="+mj-lt"/>
                <a:ea typeface="+mj-ea"/>
              </a:rPr>
              <a:t>4 K</a:t>
            </a:r>
            <a:r>
              <a:rPr lang="zh-TW" altLang="en-US" dirty="0">
                <a:latin typeface="+mj-lt"/>
                <a:ea typeface="+mj-ea"/>
              </a:rPr>
              <a:t>量測 </a:t>
            </a:r>
            <a:r>
              <a:rPr lang="en-US" altLang="zh-TW" b="1" dirty="0">
                <a:latin typeface="+mj-lt"/>
                <a:ea typeface="+mj-ea"/>
              </a:rPr>
              <a:t>2–10 mm reference structure</a:t>
            </a:r>
            <a:r>
              <a:rPr lang="zh-TW" altLang="en-US" b="1" dirty="0">
                <a:latin typeface="+mj-lt"/>
                <a:ea typeface="+mj-ea"/>
              </a:rPr>
              <a:t>與 </a:t>
            </a:r>
            <a:r>
              <a:rPr lang="en-US" altLang="zh-TW" b="1" dirty="0">
                <a:latin typeface="+mj-lt"/>
                <a:ea typeface="+mj-ea"/>
              </a:rPr>
              <a:t>fiducial marks</a:t>
            </a:r>
            <a:r>
              <a:rPr lang="zh-TW" altLang="en-US" b="1" dirty="0">
                <a:latin typeface="+mj-lt"/>
                <a:ea typeface="+mj-ea"/>
              </a:rPr>
              <a:t>之跨溫尺寸變化</a:t>
            </a:r>
            <a:r>
              <a:rPr lang="zh-TW" altLang="en-US" dirty="0">
                <a:latin typeface="+mj-lt"/>
                <a:ea typeface="+mj-ea"/>
              </a:rPr>
              <a:t>，將微小熱收縮轉換為可辨識之 </a:t>
            </a:r>
            <a:r>
              <a:rPr lang="en-US" altLang="zh-TW" b="1" dirty="0">
                <a:latin typeface="+mj-lt"/>
                <a:ea typeface="+mj-ea"/>
              </a:rPr>
              <a:t>µm</a:t>
            </a:r>
            <a:r>
              <a:rPr lang="zh-TW" altLang="en-US" b="1" dirty="0">
                <a:latin typeface="+mj-lt"/>
                <a:ea typeface="+mj-ea"/>
              </a:rPr>
              <a:t>級位移</a:t>
            </a:r>
            <a:r>
              <a:rPr lang="zh-TW" altLang="en-US" dirty="0">
                <a:latin typeface="+mj-lt"/>
                <a:ea typeface="+mj-ea"/>
              </a:rPr>
              <a:t>，取得實際 </a:t>
            </a:r>
            <a:r>
              <a:rPr lang="en-US" altLang="zh-TW" dirty="0">
                <a:latin typeface="+mj-lt"/>
                <a:ea typeface="+mj-ea"/>
              </a:rPr>
              <a:t>Geometry(T)</a:t>
            </a:r>
            <a:r>
              <a:rPr lang="zh-TW" altLang="en-US" dirty="0">
                <a:latin typeface="+mj-lt"/>
                <a:ea typeface="+mj-ea"/>
              </a:rPr>
              <a:t>，並結合</a:t>
            </a:r>
            <a:r>
              <a:rPr lang="en-US" altLang="zh-TW" dirty="0">
                <a:latin typeface="+mj-lt"/>
                <a:ea typeface="+mj-ea"/>
              </a:rPr>
              <a:t>DC</a:t>
            </a:r>
            <a:r>
              <a:rPr lang="zh-TW" altLang="en-US" dirty="0">
                <a:latin typeface="+mj-lt"/>
                <a:ea typeface="+mj-ea"/>
              </a:rPr>
              <a:t>／</a:t>
            </a:r>
            <a:r>
              <a:rPr lang="en-US" altLang="zh-TW" dirty="0">
                <a:latin typeface="+mj-lt"/>
                <a:ea typeface="+mj-ea"/>
              </a:rPr>
              <a:t>RF</a:t>
            </a:r>
            <a:r>
              <a:rPr lang="zh-TW" altLang="en-US" dirty="0">
                <a:latin typeface="+mj-lt"/>
                <a:ea typeface="+mj-ea"/>
              </a:rPr>
              <a:t>量測回饋溫度相依元件模型。（使用電光所</a:t>
            </a:r>
            <a:r>
              <a:rPr lang="en-US" altLang="zh-TW" dirty="0">
                <a:latin typeface="+mj-lt"/>
                <a:ea typeface="+mj-ea"/>
              </a:rPr>
              <a:t>4 K</a:t>
            </a:r>
            <a:r>
              <a:rPr lang="zh-TW" altLang="en-US" dirty="0">
                <a:latin typeface="+mj-lt"/>
                <a:ea typeface="+mj-ea"/>
              </a:rPr>
              <a:t>低溫平台）</a:t>
            </a:r>
            <a:endParaRPr lang="en-US" altLang="zh-TW" dirty="0">
              <a:latin typeface="+mj-lt"/>
              <a:ea typeface="+mj-ea"/>
            </a:endParaRPr>
          </a:p>
          <a:p>
            <a:pPr marL="450850" marR="0" lvl="1" indent="-1841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defRPr/>
            </a:pPr>
            <a:r>
              <a:rPr kumimoji="1" lang="en-US" altLang="zh-TW" sz="1800" i="0" u="none" strike="noStrike" kern="1200" cap="none" spc="0" normalizeH="0" baseline="0" noProof="0" dirty="0">
                <a:ln>
                  <a:noFill/>
                </a:ln>
                <a:effectLst/>
                <a:uLnTx/>
                <a:uFillTx/>
                <a:latin typeface="Arial"/>
                <a:ea typeface="微軟正黑體"/>
                <a:cs typeface="+mn-cs"/>
              </a:rPr>
              <a:t>Pulse-tube </a:t>
            </a:r>
            <a:r>
              <a:rPr kumimoji="1" lang="zh-TW" altLang="en-US" sz="1800" i="0" u="none" strike="noStrike" kern="1200" cap="none" spc="0" normalizeH="0" baseline="0" noProof="0" dirty="0">
                <a:ln>
                  <a:noFill/>
                </a:ln>
                <a:effectLst/>
                <a:uLnTx/>
                <a:uFillTx/>
                <a:latin typeface="Arial"/>
                <a:ea typeface="微軟正黑體"/>
                <a:cs typeface="+mn-cs"/>
              </a:rPr>
              <a:t>啟動後，會產生 </a:t>
            </a:r>
            <a:r>
              <a:rPr kumimoji="1" lang="en-US" altLang="zh-TW" sz="1800" i="0" u="none" strike="noStrike" kern="1200" cap="none" spc="0" normalizeH="0" baseline="0" noProof="0" dirty="0">
                <a:ln>
                  <a:noFill/>
                </a:ln>
                <a:effectLst/>
                <a:uLnTx/>
                <a:uFillTx/>
                <a:latin typeface="Arial"/>
                <a:ea typeface="微軟正黑體"/>
                <a:cs typeface="+mn-cs"/>
              </a:rPr>
              <a:t>Hz</a:t>
            </a:r>
            <a:r>
              <a:rPr kumimoji="1" lang="zh-TW" altLang="en-US" sz="1800" i="0" u="none" strike="noStrike" kern="1200" cap="none" spc="0" normalizeH="0" baseline="0" noProof="0" dirty="0">
                <a:ln>
                  <a:noFill/>
                </a:ln>
                <a:effectLst/>
                <a:uLnTx/>
                <a:uFillTx/>
                <a:latin typeface="Arial"/>
                <a:ea typeface="微軟正黑體"/>
                <a:cs typeface="+mn-cs"/>
              </a:rPr>
              <a:t>級、數</a:t>
            </a:r>
            <a:r>
              <a:rPr kumimoji="1" lang="en-US" altLang="zh-TW" sz="1800" i="0" u="none" strike="noStrike" kern="1200" cap="none" spc="0" normalizeH="0" baseline="0" noProof="0" dirty="0">
                <a:ln>
                  <a:noFill/>
                </a:ln>
                <a:effectLst/>
                <a:uLnTx/>
                <a:uFillTx/>
                <a:latin typeface="Arial"/>
                <a:ea typeface="微軟正黑體"/>
                <a:cs typeface="+mn-cs"/>
              </a:rPr>
              <a:t>µm</a:t>
            </a:r>
            <a:r>
              <a:rPr kumimoji="1" lang="zh-TW" altLang="en-US" sz="1800" i="0" u="none" strike="noStrike" kern="1200" cap="none" spc="0" normalizeH="0" baseline="0" noProof="0" dirty="0">
                <a:ln>
                  <a:noFill/>
                </a:ln>
                <a:effectLst/>
                <a:uLnTx/>
                <a:uFillTx/>
                <a:latin typeface="Arial"/>
                <a:ea typeface="微軟正黑體"/>
                <a:cs typeface="+mn-cs"/>
              </a:rPr>
              <a:t>之週期振動，文獻指出，造成低溫顯微影像解析度劣化約</a:t>
            </a:r>
            <a:r>
              <a:rPr kumimoji="1" lang="en-US" altLang="zh-TW" sz="1800" i="0" u="none" strike="noStrike" kern="1200" cap="none" spc="0" normalizeH="0" baseline="0" noProof="0" dirty="0">
                <a:ln>
                  <a:noFill/>
                </a:ln>
                <a:effectLst/>
                <a:uLnTx/>
                <a:uFillTx/>
                <a:latin typeface="Arial"/>
                <a:ea typeface="微軟正黑體"/>
                <a:cs typeface="+mn-cs"/>
              </a:rPr>
              <a:t>30%</a:t>
            </a:r>
            <a:r>
              <a:rPr kumimoji="1" lang="zh-TW" altLang="en-US" sz="1800" i="0" u="none" strike="noStrike" kern="1200" cap="none" spc="0" normalizeH="0" baseline="0" noProof="0" dirty="0">
                <a:ln>
                  <a:noFill/>
                </a:ln>
                <a:effectLst/>
                <a:uLnTx/>
                <a:uFillTx/>
                <a:latin typeface="Arial"/>
                <a:ea typeface="微軟正黑體"/>
                <a:cs typeface="+mn-cs"/>
              </a:rPr>
              <a:t>。</a:t>
            </a:r>
            <a:r>
              <a:rPr kumimoji="1" lang="zh-TW" altLang="en-US" sz="1800" b="0" i="0" u="none" strike="noStrike" kern="1200" cap="none" spc="0" normalizeH="0" baseline="0" noProof="0" dirty="0">
                <a:ln>
                  <a:noFill/>
                </a:ln>
                <a:solidFill>
                  <a:srgbClr val="000000"/>
                </a:solidFill>
                <a:effectLst/>
                <a:uLnTx/>
                <a:uFillTx/>
                <a:latin typeface="Arial"/>
                <a:ea typeface="微軟正黑體"/>
                <a:cs typeface="+mn-cs"/>
              </a:rPr>
              <a:t>採用低功率照明、高感度相機與震動相位同步曝光，</a:t>
            </a:r>
            <a:r>
              <a:rPr kumimoji="1" lang="zh-TW" altLang="en-US" sz="1800" i="0" u="none" strike="noStrike" kern="1200" cap="none" spc="0" normalizeH="0" baseline="0" noProof="0" dirty="0">
                <a:ln>
                  <a:noFill/>
                </a:ln>
                <a:effectLst/>
                <a:uLnTx/>
                <a:uFillTx/>
                <a:latin typeface="Arial"/>
                <a:ea typeface="微軟正黑體"/>
                <a:cs typeface="+mn-cs"/>
              </a:rPr>
              <a:t>本案透過振動相位感測、短曝光與多幀影像配準，降低</a:t>
            </a:r>
            <a:r>
              <a:rPr kumimoji="1" lang="en-US" altLang="zh-TW" sz="1800" i="0" u="none" strike="noStrike" kern="1200" cap="none" spc="0" normalizeH="0" baseline="0" noProof="0" dirty="0">
                <a:ln>
                  <a:noFill/>
                </a:ln>
                <a:effectLst/>
                <a:uLnTx/>
                <a:uFillTx/>
                <a:latin typeface="Arial"/>
                <a:ea typeface="微軟正黑體"/>
                <a:cs typeface="+mn-cs"/>
              </a:rPr>
              <a:t>motion blur</a:t>
            </a:r>
            <a:r>
              <a:rPr kumimoji="1" lang="zh-TW" altLang="en-US" sz="1800" i="0" u="none" strike="noStrike" kern="1200" cap="none" spc="0" normalizeH="0" baseline="0" noProof="0" dirty="0">
                <a:ln>
                  <a:noFill/>
                </a:ln>
                <a:effectLst/>
                <a:uLnTx/>
                <a:uFillTx/>
                <a:latin typeface="Arial"/>
                <a:ea typeface="微軟正黑體"/>
                <a:cs typeface="+mn-cs"/>
              </a:rPr>
              <a:t>造成的尺寸誤差。</a:t>
            </a:r>
            <a:endParaRPr kumimoji="1" lang="en-US" altLang="zh-TW" sz="1800" i="0" u="none" strike="noStrike" kern="1200" cap="none" spc="0" normalizeH="0" baseline="0" noProof="0" dirty="0">
              <a:ln>
                <a:noFill/>
              </a:ln>
              <a:effectLst/>
              <a:uLnTx/>
              <a:uFillTx/>
              <a:latin typeface="Arial"/>
              <a:ea typeface="微軟正黑體"/>
              <a:cs typeface="+mn-cs"/>
            </a:endParaRPr>
          </a:p>
        </p:txBody>
      </p:sp>
      <p:grpSp>
        <p:nvGrpSpPr>
          <p:cNvPr id="48" name="群組 47">
            <a:extLst>
              <a:ext uri="{FF2B5EF4-FFF2-40B4-BE49-F238E27FC236}">
                <a16:creationId xmlns:a16="http://schemas.microsoft.com/office/drawing/2014/main" id="{9371D487-2BB9-553F-DDEA-E59509C5BDAC}"/>
              </a:ext>
            </a:extLst>
          </p:cNvPr>
          <p:cNvGrpSpPr/>
          <p:nvPr/>
        </p:nvGrpSpPr>
        <p:grpSpPr>
          <a:xfrm>
            <a:off x="495848" y="3538218"/>
            <a:ext cx="3769362" cy="2372123"/>
            <a:chOff x="3380245" y="3969078"/>
            <a:chExt cx="3769362" cy="2372123"/>
          </a:xfrm>
        </p:grpSpPr>
        <p:pic>
          <p:nvPicPr>
            <p:cNvPr id="15" name="圖片 14">
              <a:extLst>
                <a:ext uri="{FF2B5EF4-FFF2-40B4-BE49-F238E27FC236}">
                  <a16:creationId xmlns:a16="http://schemas.microsoft.com/office/drawing/2014/main" id="{64074C85-7399-748F-780C-1892F00CA3CF}"/>
                </a:ext>
              </a:extLst>
            </p:cNvPr>
            <p:cNvPicPr>
              <a:picLocks noChangeAspect="1"/>
            </p:cNvPicPr>
            <p:nvPr/>
          </p:nvPicPr>
          <p:blipFill>
            <a:blip r:embed="rId3"/>
            <a:stretch>
              <a:fillRect/>
            </a:stretch>
          </p:blipFill>
          <p:spPr>
            <a:xfrm>
              <a:off x="3437355" y="4584751"/>
              <a:ext cx="3712252" cy="1756450"/>
            </a:xfrm>
            <a:prstGeom prst="rect">
              <a:avLst/>
            </a:prstGeom>
          </p:spPr>
        </p:pic>
        <p:sp>
          <p:nvSpPr>
            <p:cNvPr id="21" name="矩形 20">
              <a:extLst>
                <a:ext uri="{FF2B5EF4-FFF2-40B4-BE49-F238E27FC236}">
                  <a16:creationId xmlns:a16="http://schemas.microsoft.com/office/drawing/2014/main" id="{76B2C18E-E94C-DBF5-46C0-42CFBC9CC82C}"/>
                </a:ext>
              </a:extLst>
            </p:cNvPr>
            <p:cNvSpPr/>
            <p:nvPr/>
          </p:nvSpPr>
          <p:spPr bwMode="auto">
            <a:xfrm>
              <a:off x="5658113" y="3969078"/>
              <a:ext cx="263758" cy="488887"/>
            </a:xfrm>
            <a:prstGeom prst="rect">
              <a:avLst/>
            </a:prstGeom>
            <a:solidFill>
              <a:schemeClr val="tx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a:ln>
                  <a:noFill/>
                </a:ln>
                <a:solidFill>
                  <a:srgbClr val="000000"/>
                </a:solidFill>
                <a:effectLst/>
                <a:uLnTx/>
                <a:uFillTx/>
                <a:latin typeface="Arial" charset="0"/>
                <a:ea typeface="新細明體" pitchFamily="18" charset="-120"/>
                <a:cs typeface="+mn-cs"/>
              </a:endParaRPr>
            </a:p>
          </p:txBody>
        </p:sp>
        <p:sp>
          <p:nvSpPr>
            <p:cNvPr id="23" name="等腰三角形 22">
              <a:extLst>
                <a:ext uri="{FF2B5EF4-FFF2-40B4-BE49-F238E27FC236}">
                  <a16:creationId xmlns:a16="http://schemas.microsoft.com/office/drawing/2014/main" id="{AE1BD222-C1D8-1C71-EE50-1ACB50BFAEEB}"/>
                </a:ext>
              </a:extLst>
            </p:cNvPr>
            <p:cNvSpPr/>
            <p:nvPr/>
          </p:nvSpPr>
          <p:spPr bwMode="auto">
            <a:xfrm>
              <a:off x="5732495" y="4457965"/>
              <a:ext cx="123671" cy="945290"/>
            </a:xfrm>
            <a:prstGeom prst="triangle">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a:ln>
                  <a:noFill/>
                </a:ln>
                <a:solidFill>
                  <a:srgbClr val="000000"/>
                </a:solidFill>
                <a:effectLst/>
                <a:uLnTx/>
                <a:uFillTx/>
                <a:latin typeface="Arial" charset="0"/>
                <a:ea typeface="新細明體" pitchFamily="18" charset="-120"/>
                <a:cs typeface="+mn-cs"/>
              </a:endParaRPr>
            </a:p>
          </p:txBody>
        </p:sp>
        <p:pic>
          <p:nvPicPr>
            <p:cNvPr id="30" name="圖片 29">
              <a:extLst>
                <a:ext uri="{FF2B5EF4-FFF2-40B4-BE49-F238E27FC236}">
                  <a16:creationId xmlns:a16="http://schemas.microsoft.com/office/drawing/2014/main" id="{3F4B8760-0DC9-24B3-F8AA-C579BB2CE730}"/>
                </a:ext>
              </a:extLst>
            </p:cNvPr>
            <p:cNvPicPr>
              <a:picLocks noChangeAspect="1"/>
            </p:cNvPicPr>
            <p:nvPr/>
          </p:nvPicPr>
          <p:blipFill>
            <a:blip r:embed="rId4" cstate="print">
              <a:extLst>
                <a:ext uri="{28A0092B-C50C-407E-A947-70E740481C1C}">
                  <a14:useLocalDpi xmlns:a14="http://schemas.microsoft.com/office/drawing/2010/main" val="0"/>
                </a:ext>
              </a:extLst>
            </a:blip>
            <a:srcRect l="49062" t="63055" r="28084" b="30496"/>
            <a:stretch/>
          </p:blipFill>
          <p:spPr>
            <a:xfrm>
              <a:off x="5210708" y="5403255"/>
              <a:ext cx="1158566" cy="215444"/>
            </a:xfrm>
            <a:prstGeom prst="rect">
              <a:avLst/>
            </a:prstGeom>
          </p:spPr>
        </p:pic>
        <p:sp>
          <p:nvSpPr>
            <p:cNvPr id="20" name="矩形 19">
              <a:extLst>
                <a:ext uri="{FF2B5EF4-FFF2-40B4-BE49-F238E27FC236}">
                  <a16:creationId xmlns:a16="http://schemas.microsoft.com/office/drawing/2014/main" id="{6BD7EDB5-6A94-E3BF-CFF2-C62A210D76F5}"/>
                </a:ext>
              </a:extLst>
            </p:cNvPr>
            <p:cNvSpPr/>
            <p:nvPr/>
          </p:nvSpPr>
          <p:spPr bwMode="auto">
            <a:xfrm>
              <a:off x="3380245" y="4786496"/>
              <a:ext cx="2246408" cy="652222"/>
            </a:xfrm>
            <a:prstGeom prst="rect">
              <a:avLst/>
            </a:prstGeom>
            <a:solidFill>
              <a:schemeClr val="bg1">
                <a:lumMod val="85000"/>
                <a:alpha val="68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a:ln>
                  <a:noFill/>
                </a:ln>
                <a:solidFill>
                  <a:srgbClr val="000000"/>
                </a:solidFill>
                <a:effectLst/>
                <a:uLnTx/>
                <a:uFillTx/>
                <a:latin typeface="Arial" charset="0"/>
                <a:ea typeface="新細明體" pitchFamily="18" charset="-120"/>
                <a:cs typeface="+mn-cs"/>
              </a:endParaRPr>
            </a:p>
          </p:txBody>
        </p:sp>
        <p:sp>
          <p:nvSpPr>
            <p:cNvPr id="34" name="文字方塊 33">
              <a:extLst>
                <a:ext uri="{FF2B5EF4-FFF2-40B4-BE49-F238E27FC236}">
                  <a16:creationId xmlns:a16="http://schemas.microsoft.com/office/drawing/2014/main" id="{B5D1AAA1-64B5-42E0-F252-BE01681B68A5}"/>
                </a:ext>
              </a:extLst>
            </p:cNvPr>
            <p:cNvSpPr txBox="1"/>
            <p:nvPr/>
          </p:nvSpPr>
          <p:spPr>
            <a:xfrm>
              <a:off x="5452055" y="5452214"/>
              <a:ext cx="647700" cy="215444"/>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800" b="1" i="0" u="none" strike="noStrike" kern="1200" cap="none" spc="0" normalizeH="0" baseline="0" noProof="0" dirty="0">
                  <a:ln>
                    <a:noFill/>
                  </a:ln>
                  <a:solidFill>
                    <a:srgbClr val="000000"/>
                  </a:solidFill>
                  <a:effectLst/>
                  <a:uLnTx/>
                  <a:uFillTx/>
                  <a:latin typeface="Arial" panose="020B0604020202020204" pitchFamily="34" charset="0"/>
                  <a:ea typeface="新細明體" panose="02020500000000000000" pitchFamily="18" charset="-120"/>
                  <a:cs typeface="+mn-cs"/>
                </a:rPr>
                <a:t>4K stage</a:t>
              </a:r>
              <a:endParaRPr kumimoji="1" lang="zh-TW" altLang="en-US" sz="800" b="1" i="0" u="none" strike="noStrike" kern="1200" cap="none" spc="0" normalizeH="0" baseline="0" noProof="0" dirty="0">
                <a:ln>
                  <a:noFill/>
                </a:ln>
                <a:solidFill>
                  <a:srgbClr val="000000"/>
                </a:solidFill>
                <a:effectLst/>
                <a:uLnTx/>
                <a:uFillTx/>
                <a:latin typeface="Arial" panose="020B0604020202020204" pitchFamily="34" charset="0"/>
                <a:ea typeface="新細明體" panose="02020500000000000000" pitchFamily="18" charset="-120"/>
                <a:cs typeface="+mn-cs"/>
              </a:endParaRPr>
            </a:p>
          </p:txBody>
        </p:sp>
        <p:sp>
          <p:nvSpPr>
            <p:cNvPr id="36" name="文字方塊 35">
              <a:extLst>
                <a:ext uri="{FF2B5EF4-FFF2-40B4-BE49-F238E27FC236}">
                  <a16:creationId xmlns:a16="http://schemas.microsoft.com/office/drawing/2014/main" id="{8CE71676-4378-4D0F-E132-58DB2022CD87}"/>
                </a:ext>
              </a:extLst>
            </p:cNvPr>
            <p:cNvSpPr txBox="1"/>
            <p:nvPr/>
          </p:nvSpPr>
          <p:spPr>
            <a:xfrm>
              <a:off x="3739070" y="4850997"/>
              <a:ext cx="1423857" cy="523220"/>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altLang="zh-TW" sz="1400" b="1" i="0" u="none" strike="noStrike" kern="1200" cap="none" spc="0" normalizeH="0" baseline="0" noProof="0" dirty="0">
                  <a:ln>
                    <a:noFill/>
                  </a:ln>
                  <a:solidFill>
                    <a:srgbClr val="C00000"/>
                  </a:solidFill>
                  <a:effectLst/>
                  <a:uLnTx/>
                  <a:uFillTx/>
                  <a:latin typeface="Arial" panose="020B0604020202020204" pitchFamily="34" charset="0"/>
                  <a:ea typeface="新細明體" panose="02020500000000000000" pitchFamily="18" charset="-120"/>
                  <a:cs typeface="+mn-cs"/>
                </a:rPr>
                <a:t>Replaced by</a:t>
              </a:r>
              <a:r>
                <a:rPr kumimoji="1" lang="zh-TW" altLang="en-US" sz="1400" b="1" i="0" u="none" strike="noStrike" kern="1200" cap="none" spc="0" normalizeH="0" baseline="0" noProof="0" dirty="0">
                  <a:ln>
                    <a:noFill/>
                  </a:ln>
                  <a:solidFill>
                    <a:srgbClr val="C00000"/>
                  </a:solidFill>
                  <a:effectLst/>
                  <a:uLnTx/>
                  <a:uFillTx/>
                  <a:latin typeface="Arial" panose="020B0604020202020204" pitchFamily="34" charset="0"/>
                  <a:ea typeface="新細明體" panose="02020500000000000000" pitchFamily="18" charset="-120"/>
                  <a:cs typeface="+mn-cs"/>
                </a:rPr>
                <a:t> </a:t>
              </a:r>
              <a:r>
                <a:rPr kumimoji="1" lang="en-US" altLang="zh-TW" sz="1400" b="1" i="0" u="none" strike="noStrike" kern="1200" cap="none" spc="0" normalizeH="0" baseline="0" noProof="0" dirty="0">
                  <a:ln>
                    <a:noFill/>
                  </a:ln>
                  <a:solidFill>
                    <a:srgbClr val="C00000"/>
                  </a:solidFill>
                  <a:effectLst/>
                  <a:uLnTx/>
                  <a:uFillTx/>
                  <a:latin typeface="Arial" panose="020B0604020202020204" pitchFamily="34" charset="0"/>
                  <a:ea typeface="新細明體" panose="02020500000000000000" pitchFamily="18" charset="-120"/>
                  <a:cs typeface="+mn-cs"/>
                </a:rPr>
                <a:t>wire bonding</a:t>
              </a:r>
              <a:endParaRPr kumimoji="1" lang="zh-TW" altLang="en-US" sz="1400" b="1" i="0" u="none" strike="noStrike" kern="1200" cap="none" spc="0" normalizeH="0" baseline="0" noProof="0" dirty="0">
                <a:ln>
                  <a:noFill/>
                </a:ln>
                <a:solidFill>
                  <a:srgbClr val="C00000"/>
                </a:solidFill>
                <a:effectLst/>
                <a:uLnTx/>
                <a:uFillTx/>
                <a:latin typeface="Arial" panose="020B0604020202020204" pitchFamily="34" charset="0"/>
                <a:ea typeface="新細明體" panose="02020500000000000000" pitchFamily="18" charset="-120"/>
                <a:cs typeface="+mn-cs"/>
              </a:endParaRPr>
            </a:p>
          </p:txBody>
        </p:sp>
      </p:grpSp>
      <p:pic>
        <p:nvPicPr>
          <p:cNvPr id="42" name="圖片 41">
            <a:extLst>
              <a:ext uri="{FF2B5EF4-FFF2-40B4-BE49-F238E27FC236}">
                <a16:creationId xmlns:a16="http://schemas.microsoft.com/office/drawing/2014/main" id="{BCA27AA1-75F7-5D99-830D-3839233AD934}"/>
              </a:ext>
            </a:extLst>
          </p:cNvPr>
          <p:cNvPicPr>
            <a:picLocks noChangeAspect="1"/>
          </p:cNvPicPr>
          <p:nvPr/>
        </p:nvPicPr>
        <p:blipFill>
          <a:blip r:embed="rId5"/>
          <a:stretch>
            <a:fillRect/>
          </a:stretch>
        </p:blipFill>
        <p:spPr>
          <a:xfrm>
            <a:off x="5761212" y="5706225"/>
            <a:ext cx="4258149" cy="662783"/>
          </a:xfrm>
          <a:prstGeom prst="rect">
            <a:avLst/>
          </a:prstGeom>
        </p:spPr>
      </p:pic>
      <p:sp>
        <p:nvSpPr>
          <p:cNvPr id="44" name="文字方塊 43">
            <a:extLst>
              <a:ext uri="{FF2B5EF4-FFF2-40B4-BE49-F238E27FC236}">
                <a16:creationId xmlns:a16="http://schemas.microsoft.com/office/drawing/2014/main" id="{5120E6EF-EFFF-6427-2169-C7B9DE2E041D}"/>
              </a:ext>
            </a:extLst>
          </p:cNvPr>
          <p:cNvSpPr txBox="1"/>
          <p:nvPr/>
        </p:nvSpPr>
        <p:spPr>
          <a:xfrm>
            <a:off x="4891617" y="5412182"/>
            <a:ext cx="6205071"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TW" altLang="en-US" sz="1800" b="0" i="0" u="none" strike="noStrike" kern="100" cap="none" spc="0" normalizeH="0" baseline="0" noProof="0" dirty="0">
                <a:ln>
                  <a:noFill/>
                </a:ln>
                <a:solidFill>
                  <a:srgbClr val="000000"/>
                </a:solidFill>
                <a:effectLst/>
                <a:uLnTx/>
                <a:uFillTx/>
                <a:latin typeface="微軟正黑體"/>
                <a:ea typeface="微軟正黑體"/>
                <a:cs typeface="+mn-cs"/>
              </a:rPr>
              <a:t>金屬直流電阻隨溫度變化的關係</a:t>
            </a:r>
            <a:r>
              <a:rPr kumimoji="1" lang="en-US" altLang="zh-TW" sz="1800" b="0" i="0" u="none" strike="noStrike" kern="100" cap="none" spc="0" normalizeH="0" baseline="0" noProof="0" dirty="0">
                <a:ln>
                  <a:noFill/>
                </a:ln>
                <a:solidFill>
                  <a:srgbClr val="000000"/>
                </a:solidFill>
                <a:effectLst/>
                <a:uLnTx/>
                <a:uFillTx/>
                <a:latin typeface="Arial"/>
                <a:ea typeface="標楷體" panose="03000509000000000000" pitchFamily="65" charset="-120"/>
                <a:cs typeface="+mn-cs"/>
              </a:rPr>
              <a:t>Bloch</a:t>
            </a:r>
            <a:r>
              <a:rPr kumimoji="1" lang="zh-TW" altLang="zh-TW" sz="1800" b="0" i="0" u="none" strike="noStrike" kern="100" cap="none" spc="0" normalizeH="0" baseline="0" noProof="0" dirty="0">
                <a:ln>
                  <a:noFill/>
                </a:ln>
                <a:solidFill>
                  <a:srgbClr val="000000"/>
                </a:solidFill>
                <a:effectLst/>
                <a:uLnTx/>
                <a:uFillTx/>
                <a:latin typeface="Arial"/>
                <a:ea typeface="標楷體" panose="03000509000000000000" pitchFamily="65" charset="-120"/>
                <a:cs typeface="Times New Roman" panose="02020603050405020304" pitchFamily="18" charset="0"/>
              </a:rPr>
              <a:t>–</a:t>
            </a:r>
            <a:r>
              <a:rPr kumimoji="1" lang="en-US" altLang="zh-TW" sz="1800" b="0" i="0" u="none" strike="noStrike" kern="100" cap="none" spc="0" normalizeH="0" baseline="0" noProof="0" dirty="0">
                <a:ln>
                  <a:noFill/>
                </a:ln>
                <a:solidFill>
                  <a:srgbClr val="000000"/>
                </a:solidFill>
                <a:effectLst/>
                <a:uLnTx/>
                <a:uFillTx/>
                <a:latin typeface="Arial"/>
                <a:ea typeface="標楷體" panose="03000509000000000000" pitchFamily="65" charset="-120"/>
                <a:cs typeface="+mn-cs"/>
              </a:rPr>
              <a:t>Gr</a:t>
            </a:r>
            <a:r>
              <a:rPr kumimoji="1" lang="zh-TW" altLang="zh-TW" sz="1800" b="0" i="0" u="none" strike="noStrike" kern="100" cap="none" spc="0" normalizeH="0" baseline="0" noProof="0" dirty="0">
                <a:ln>
                  <a:noFill/>
                </a:ln>
                <a:solidFill>
                  <a:srgbClr val="000000"/>
                </a:solidFill>
                <a:effectLst/>
                <a:uLnTx/>
                <a:uFillTx/>
                <a:latin typeface="Arial"/>
                <a:ea typeface="標楷體" panose="03000509000000000000" pitchFamily="65" charset="-120"/>
                <a:cs typeface="Times New Roman" panose="02020603050405020304" pitchFamily="18" charset="0"/>
              </a:rPr>
              <a:t>ü</a:t>
            </a:r>
            <a:r>
              <a:rPr kumimoji="1" lang="en-US" altLang="zh-TW" sz="1800" b="0" i="0" u="none" strike="noStrike" kern="100" cap="none" spc="0" normalizeH="0" baseline="0" noProof="0" dirty="0" err="1">
                <a:ln>
                  <a:noFill/>
                </a:ln>
                <a:solidFill>
                  <a:srgbClr val="000000"/>
                </a:solidFill>
                <a:effectLst/>
                <a:uLnTx/>
                <a:uFillTx/>
                <a:latin typeface="Arial"/>
                <a:ea typeface="標楷體" panose="03000509000000000000" pitchFamily="65" charset="-120"/>
                <a:cs typeface="+mn-cs"/>
              </a:rPr>
              <a:t>neisen</a:t>
            </a:r>
            <a:r>
              <a:rPr kumimoji="1" lang="zh-TW" altLang="en-US" sz="1800" b="0" i="0" u="none" strike="noStrike" kern="100" cap="none" spc="0" normalizeH="0" baseline="0" noProof="0" dirty="0">
                <a:ln>
                  <a:noFill/>
                </a:ln>
                <a:solidFill>
                  <a:srgbClr val="000000"/>
                </a:solidFill>
                <a:effectLst/>
                <a:uLnTx/>
                <a:uFillTx/>
                <a:latin typeface="Arial"/>
                <a:ea typeface="標楷體" panose="03000509000000000000" pitchFamily="65" charset="-120"/>
                <a:cs typeface="+mn-cs"/>
              </a:rPr>
              <a:t> </a:t>
            </a:r>
            <a:r>
              <a:rPr kumimoji="1" lang="en-US" altLang="zh-TW" sz="1800" b="0" i="0" u="none" strike="noStrike" kern="100" cap="none" spc="0" normalizeH="0" baseline="0" noProof="0" dirty="0">
                <a:ln>
                  <a:noFill/>
                </a:ln>
                <a:solidFill>
                  <a:srgbClr val="000000"/>
                </a:solidFill>
                <a:effectLst/>
                <a:uLnTx/>
                <a:uFillTx/>
                <a:latin typeface="Arial"/>
                <a:ea typeface="標楷體" panose="03000509000000000000" pitchFamily="65" charset="-120"/>
                <a:cs typeface="+mn-cs"/>
              </a:rPr>
              <a:t>formular:</a:t>
            </a:r>
          </a:p>
        </p:txBody>
      </p:sp>
      <p:sp>
        <p:nvSpPr>
          <p:cNvPr id="47" name="文字方塊 46">
            <a:extLst>
              <a:ext uri="{FF2B5EF4-FFF2-40B4-BE49-F238E27FC236}">
                <a16:creationId xmlns:a16="http://schemas.microsoft.com/office/drawing/2014/main" id="{BA59417F-037F-0ECE-2FF2-50565FEF2382}"/>
              </a:ext>
            </a:extLst>
          </p:cNvPr>
          <p:cNvSpPr txBox="1"/>
          <p:nvPr/>
        </p:nvSpPr>
        <p:spPr>
          <a:xfrm>
            <a:off x="4833858" y="3508027"/>
            <a:ext cx="6823527" cy="1754326"/>
          </a:xfrm>
          <a:prstGeom prst="rect">
            <a:avLst/>
          </a:prstGeom>
          <a:noFill/>
        </p:spPr>
        <p:txBody>
          <a:bodyPr wrap="square">
            <a:spAutoFit/>
          </a:bodyPr>
          <a:lstStyle/>
          <a:p>
            <a:pPr marR="0" lvl="0" algn="l" defTabSz="914400" rtl="0" eaLnBrk="0" fontAlgn="base" latinLnBrk="0" hangingPunct="0">
              <a:lnSpc>
                <a:spcPct val="100000"/>
              </a:lnSpc>
              <a:spcBef>
                <a:spcPct val="0"/>
              </a:spcBef>
              <a:spcAft>
                <a:spcPct val="0"/>
              </a:spcAft>
              <a:buClrTx/>
              <a:buSzTx/>
              <a:tabLst/>
              <a:defRPr/>
            </a:pPr>
            <a:r>
              <a:rPr kumimoji="1" lang="en-US" altLang="zh-TW" sz="1800" b="1" i="0" u="none" strike="noStrike" kern="1200" cap="none" spc="0" normalizeH="0" baseline="0" noProof="0" dirty="0">
                <a:ln>
                  <a:noFill/>
                </a:ln>
                <a:solidFill>
                  <a:srgbClr val="000000"/>
                </a:solidFill>
                <a:effectLst/>
                <a:uLnTx/>
                <a:uFillTx/>
                <a:latin typeface="+mn-ea"/>
                <a:ea typeface="+mn-ea"/>
                <a:cs typeface="+mn-cs"/>
              </a:rPr>
              <a:t>Low-thermal-load / Vibration-synchronized Optical Metrology</a:t>
            </a:r>
            <a:r>
              <a:rPr lang="zh-TW" altLang="en-US" b="1" dirty="0">
                <a:solidFill>
                  <a:srgbClr val="000000"/>
                </a:solidFill>
                <a:latin typeface="+mn-ea"/>
                <a:ea typeface="+mn-ea"/>
              </a:rPr>
              <a:t>：</a:t>
            </a:r>
            <a:endParaRPr lang="en-US" altLang="zh-TW" b="1" dirty="0">
              <a:solidFill>
                <a:srgbClr val="000000"/>
              </a:solidFill>
              <a:latin typeface="+mn-ea"/>
              <a:ea typeface="+mn-ea"/>
            </a:endParaRPr>
          </a:p>
          <a:p>
            <a:pPr marL="285750" indent="-285750">
              <a:buFont typeface="Arial" panose="020B0604020202020204" pitchFamily="34" charset="0"/>
              <a:buChar char="•"/>
            </a:pPr>
            <a:r>
              <a:rPr lang="zh-TW" altLang="en-US" dirty="0">
                <a:latin typeface="+mn-lt"/>
                <a:ea typeface="+mj-ea"/>
              </a:rPr>
              <a:t>低熱擾動｜</a:t>
            </a:r>
            <a:r>
              <a:rPr lang="en-US" altLang="zh-TW" dirty="0" err="1">
                <a:latin typeface="+mn-lt"/>
                <a:ea typeface="+mj-ea"/>
              </a:rPr>
              <a:t>μW</a:t>
            </a:r>
            <a:r>
              <a:rPr lang="zh-TW" altLang="en-US" dirty="0">
                <a:latin typeface="+mn-lt"/>
                <a:ea typeface="+mj-ea"/>
              </a:rPr>
              <a:t>級低功率照明＋高感度成像</a:t>
            </a:r>
            <a:endParaRPr lang="en-US" altLang="zh-TW" dirty="0">
              <a:latin typeface="+mn-lt"/>
              <a:ea typeface="+mj-ea"/>
            </a:endParaRPr>
          </a:p>
          <a:p>
            <a:pPr marL="285750" indent="-285750">
              <a:buFont typeface="Arial" panose="020B0604020202020204" pitchFamily="34" charset="0"/>
              <a:buChar char="•"/>
            </a:pPr>
            <a:r>
              <a:rPr lang="zh-TW" altLang="en-US" dirty="0">
                <a:latin typeface="+mn-lt"/>
                <a:ea typeface="+mj-ea"/>
              </a:rPr>
              <a:t>震動同步｜</a:t>
            </a:r>
            <a:r>
              <a:rPr lang="en-US" altLang="zh-TW" dirty="0">
                <a:latin typeface="+mn-lt"/>
                <a:ea typeface="+mj-ea"/>
              </a:rPr>
              <a:t>Pulse-tube phase sensing</a:t>
            </a:r>
            <a:r>
              <a:rPr lang="zh-TW" altLang="en-US" dirty="0">
                <a:latin typeface="+mn-lt"/>
                <a:ea typeface="+mj-ea"/>
              </a:rPr>
              <a:t>＋</a:t>
            </a:r>
            <a:r>
              <a:rPr lang="en-US" altLang="zh-TW" dirty="0">
                <a:latin typeface="+mn-lt"/>
                <a:ea typeface="+mj-ea"/>
              </a:rPr>
              <a:t>synchronized exposure</a:t>
            </a:r>
          </a:p>
          <a:p>
            <a:pPr marL="285750" indent="-285750">
              <a:buFont typeface="Arial" panose="020B0604020202020204" pitchFamily="34" charset="0"/>
              <a:buChar char="•"/>
            </a:pPr>
            <a:r>
              <a:rPr lang="zh-TW" altLang="it-IT" dirty="0">
                <a:latin typeface="+mn-lt"/>
                <a:ea typeface="+mj-ea"/>
              </a:rPr>
              <a:t>影像校正｜</a:t>
            </a:r>
            <a:r>
              <a:rPr lang="it-IT" altLang="zh-TW" dirty="0">
                <a:latin typeface="+mn-lt"/>
                <a:ea typeface="+mj-ea"/>
              </a:rPr>
              <a:t>Multi-frame registration</a:t>
            </a:r>
            <a:r>
              <a:rPr lang="zh-TW" altLang="it-IT" dirty="0">
                <a:latin typeface="+mn-lt"/>
                <a:ea typeface="+mj-ea"/>
              </a:rPr>
              <a:t>＋</a:t>
            </a:r>
            <a:r>
              <a:rPr lang="it-IT" altLang="zh-TW" dirty="0">
                <a:latin typeface="+mn-lt"/>
                <a:ea typeface="+mj-ea"/>
              </a:rPr>
              <a:t>averaging</a:t>
            </a:r>
            <a:endParaRPr lang="en-US" altLang="zh-TW" dirty="0">
              <a:latin typeface="+mn-lt"/>
              <a:ea typeface="+mj-ea"/>
            </a:endParaRPr>
          </a:p>
          <a:p>
            <a:pPr marL="285750" indent="-285750">
              <a:buFont typeface="Arial" panose="020B0604020202020204" pitchFamily="34" charset="0"/>
              <a:buChar char="•"/>
            </a:pPr>
            <a:r>
              <a:rPr lang="en-US" altLang="zh-TW" dirty="0">
                <a:latin typeface="+mn-lt"/>
                <a:ea typeface="+mj-ea"/>
              </a:rPr>
              <a:t>Geometry(T)</a:t>
            </a:r>
            <a:r>
              <a:rPr lang="zh-TW" altLang="en-US" dirty="0">
                <a:latin typeface="+mn-lt"/>
                <a:ea typeface="+mj-ea"/>
              </a:rPr>
              <a:t>｜</a:t>
            </a:r>
            <a:r>
              <a:rPr lang="en-US" altLang="zh-TW" dirty="0">
                <a:latin typeface="+mn-lt"/>
                <a:ea typeface="+mj-ea"/>
              </a:rPr>
              <a:t>line width</a:t>
            </a:r>
            <a:r>
              <a:rPr lang="zh-TW" altLang="en-US" dirty="0">
                <a:latin typeface="+mn-lt"/>
                <a:ea typeface="+mj-ea"/>
              </a:rPr>
              <a:t>、</a:t>
            </a:r>
            <a:r>
              <a:rPr lang="en-US" altLang="zh-TW" dirty="0">
                <a:latin typeface="+mn-lt"/>
                <a:ea typeface="+mj-ea"/>
              </a:rPr>
              <a:t>gap</a:t>
            </a:r>
            <a:r>
              <a:rPr lang="zh-TW" altLang="en-US" dirty="0">
                <a:latin typeface="+mn-lt"/>
                <a:ea typeface="+mj-ea"/>
              </a:rPr>
              <a:t>、</a:t>
            </a:r>
            <a:r>
              <a:rPr lang="en-US" altLang="zh-TW" dirty="0">
                <a:latin typeface="+mn-lt"/>
                <a:ea typeface="+mj-ea"/>
              </a:rPr>
              <a:t>pitch</a:t>
            </a:r>
            <a:r>
              <a:rPr lang="zh-TW" altLang="en-US" dirty="0">
                <a:latin typeface="+mn-lt"/>
                <a:ea typeface="+mj-ea"/>
              </a:rPr>
              <a:t>、</a:t>
            </a:r>
            <a:r>
              <a:rPr lang="en-US" altLang="zh-TW" dirty="0">
                <a:latin typeface="+mn-lt"/>
                <a:ea typeface="+mj-ea"/>
              </a:rPr>
              <a:t>diameter</a:t>
            </a:r>
            <a:r>
              <a:rPr lang="zh-TW" altLang="en-US" dirty="0">
                <a:latin typeface="+mn-lt"/>
                <a:ea typeface="+mj-ea"/>
              </a:rPr>
              <a:t>、</a:t>
            </a:r>
            <a:r>
              <a:rPr lang="en-US" altLang="zh-TW" dirty="0">
                <a:latin typeface="+mn-lt"/>
                <a:ea typeface="+mj-ea"/>
              </a:rPr>
              <a:t>fiducial</a:t>
            </a:r>
            <a:endParaRPr kumimoji="1" lang="zh-TW" altLang="en-US" sz="1800" b="0" i="0" u="none" strike="noStrike" kern="1200" cap="none" spc="0" normalizeH="0" baseline="0" noProof="0" dirty="0">
              <a:ln>
                <a:noFill/>
              </a:ln>
              <a:solidFill>
                <a:srgbClr val="000000"/>
              </a:solidFill>
              <a:effectLst/>
              <a:uLnTx/>
              <a:uFillTx/>
              <a:latin typeface="+mn-lt"/>
              <a:ea typeface="+mj-ea"/>
              <a:cs typeface="+mn-cs"/>
            </a:endParaRPr>
          </a:p>
        </p:txBody>
      </p:sp>
      <p:sp>
        <p:nvSpPr>
          <p:cNvPr id="50" name="文字方塊 49">
            <a:extLst>
              <a:ext uri="{FF2B5EF4-FFF2-40B4-BE49-F238E27FC236}">
                <a16:creationId xmlns:a16="http://schemas.microsoft.com/office/drawing/2014/main" id="{CFE5F6EB-C67C-9C75-AB2D-E9FC81555E29}"/>
              </a:ext>
            </a:extLst>
          </p:cNvPr>
          <p:cNvSpPr txBox="1"/>
          <p:nvPr/>
        </p:nvSpPr>
        <p:spPr>
          <a:xfrm>
            <a:off x="787312" y="3411432"/>
            <a:ext cx="2145975" cy="338554"/>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TW" sz="1600" b="1" i="0" u="none" strike="noStrike" kern="1200" cap="none" spc="0" normalizeH="0" baseline="0" noProof="0" dirty="0">
                <a:ln>
                  <a:noFill/>
                </a:ln>
                <a:effectLst/>
                <a:uLnTx/>
                <a:uFillTx/>
                <a:latin typeface="+mn-lt"/>
                <a:ea typeface="新細明體" panose="02020500000000000000" pitchFamily="18" charset="-120"/>
                <a:cs typeface="+mn-cs"/>
              </a:rPr>
              <a:t>Optical </a:t>
            </a:r>
            <a:r>
              <a:rPr kumimoji="1" lang="en-US" altLang="zh-TW" sz="1600" b="1" i="0" u="none" strike="noStrike" kern="1200" cap="none" spc="0" normalizeH="0" baseline="0" noProof="0" dirty="0">
                <a:ln>
                  <a:noFill/>
                </a:ln>
                <a:solidFill>
                  <a:srgbClr val="000000"/>
                </a:solidFill>
                <a:effectLst/>
                <a:uLnTx/>
                <a:uFillTx/>
                <a:latin typeface="+mn-lt"/>
                <a:ea typeface="+mn-ea"/>
                <a:cs typeface="+mn-cs"/>
              </a:rPr>
              <a:t>microscope</a:t>
            </a:r>
            <a:endParaRPr kumimoji="1" lang="zh-TW" altLang="en-US" sz="1600" b="1" i="0" u="none" strike="noStrike" kern="1200" cap="none" spc="0" normalizeH="0" baseline="0" noProof="0" dirty="0">
              <a:ln>
                <a:noFill/>
              </a:ln>
              <a:effectLst/>
              <a:uLnTx/>
              <a:uFillTx/>
              <a:latin typeface="+mn-lt"/>
              <a:ea typeface="新細明體" panose="02020500000000000000" pitchFamily="18" charset="-120"/>
              <a:cs typeface="+mn-cs"/>
            </a:endParaRPr>
          </a:p>
        </p:txBody>
      </p:sp>
      <p:sp>
        <p:nvSpPr>
          <p:cNvPr id="3" name="文字方塊 2">
            <a:extLst>
              <a:ext uri="{FF2B5EF4-FFF2-40B4-BE49-F238E27FC236}">
                <a16:creationId xmlns:a16="http://schemas.microsoft.com/office/drawing/2014/main" id="{DF06812A-7DBE-C545-9CD9-B60A8A56FF60}"/>
              </a:ext>
            </a:extLst>
          </p:cNvPr>
          <p:cNvSpPr txBox="1"/>
          <p:nvPr/>
        </p:nvSpPr>
        <p:spPr>
          <a:xfrm>
            <a:off x="1397285" y="5974842"/>
            <a:ext cx="2689942" cy="646331"/>
          </a:xfrm>
          <a:prstGeom prst="rect">
            <a:avLst/>
          </a:prstGeom>
          <a:noFill/>
        </p:spPr>
        <p:txBody>
          <a:bodyPr wrap="square">
            <a:spAutoFit/>
          </a:bodyPr>
          <a:lstStyle/>
          <a:p>
            <a:pPr algn="ctr"/>
            <a:r>
              <a:rPr lang="en-US" altLang="zh-TW" dirty="0">
                <a:latin typeface="微軟正黑體" panose="020B0604030504040204" pitchFamily="34" charset="-120"/>
                <a:ea typeface="微軟正黑體" panose="020B0604030504040204" pitchFamily="34" charset="-120"/>
              </a:rPr>
              <a:t>4 K</a:t>
            </a:r>
            <a:r>
              <a:rPr lang="zh-TW" altLang="en-US" dirty="0">
                <a:latin typeface="微軟正黑體" panose="020B0604030504040204" pitchFamily="34" charset="-120"/>
                <a:ea typeface="微軟正黑體" panose="020B0604030504040204" pitchFamily="34" charset="-120"/>
              </a:rPr>
              <a:t>低溫平台</a:t>
            </a:r>
            <a:endParaRPr lang="en-US" altLang="zh-TW" dirty="0">
              <a:latin typeface="微軟正黑體" panose="020B0604030504040204" pitchFamily="34" charset="-120"/>
              <a:ea typeface="微軟正黑體" panose="020B0604030504040204" pitchFamily="34" charset="-120"/>
            </a:endParaRPr>
          </a:p>
          <a:p>
            <a:pPr algn="ct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電光所現有</a:t>
            </a:r>
            <a:r>
              <a:rPr lang="en-US" altLang="zh-TW" dirty="0">
                <a:latin typeface="微軟正黑體" panose="020B0604030504040204" pitchFamily="34" charset="-120"/>
                <a:ea typeface="微軟正黑體" panose="020B0604030504040204" pitchFamily="34" charset="-120"/>
              </a:rPr>
              <a:t>)</a:t>
            </a:r>
            <a:endParaRPr lang="zh-TW" altLang="en-US" dirty="0">
              <a:latin typeface="微軟正黑體" panose="020B0604030504040204" pitchFamily="34" charset="-120"/>
              <a:ea typeface="微軟正黑體" panose="020B0604030504040204" pitchFamily="34" charset="-120"/>
            </a:endParaRPr>
          </a:p>
        </p:txBody>
      </p:sp>
      <p:sp>
        <p:nvSpPr>
          <p:cNvPr id="6" name="文字方塊 5">
            <a:extLst>
              <a:ext uri="{FF2B5EF4-FFF2-40B4-BE49-F238E27FC236}">
                <a16:creationId xmlns:a16="http://schemas.microsoft.com/office/drawing/2014/main" id="{C338D846-5D42-3AD0-5CF0-40397F5538C3}"/>
              </a:ext>
            </a:extLst>
          </p:cNvPr>
          <p:cNvSpPr txBox="1"/>
          <p:nvPr/>
        </p:nvSpPr>
        <p:spPr>
          <a:xfrm>
            <a:off x="3367586" y="4818507"/>
            <a:ext cx="878767" cy="338554"/>
          </a:xfrm>
          <a:prstGeom prst="rect">
            <a:avLst/>
          </a:prstGeom>
          <a:noFill/>
        </p:spPr>
        <p:txBody>
          <a:bodyPr wrap="none" rtlCol="0">
            <a:spAutoFit/>
          </a:bodyPr>
          <a:lstStyle/>
          <a:p>
            <a:r>
              <a:rPr lang="en-US" altLang="zh-TW" sz="1600" dirty="0">
                <a:latin typeface="微軟正黑體" panose="020B0604030504040204" pitchFamily="34" charset="-120"/>
                <a:ea typeface="微軟正黑體" panose="020B0604030504040204" pitchFamily="34" charset="-120"/>
              </a:rPr>
              <a:t>sample</a:t>
            </a:r>
            <a:endParaRPr lang="zh-TW" altLang="en-US" sz="1600" dirty="0">
              <a:latin typeface="微軟正黑體" panose="020B0604030504040204" pitchFamily="34" charset="-120"/>
              <a:ea typeface="微軟正黑體" panose="020B0604030504040204" pitchFamily="34" charset="-120"/>
            </a:endParaRPr>
          </a:p>
        </p:txBody>
      </p:sp>
      <p:sp>
        <p:nvSpPr>
          <p:cNvPr id="7" name="文字方塊 6">
            <a:extLst>
              <a:ext uri="{FF2B5EF4-FFF2-40B4-BE49-F238E27FC236}">
                <a16:creationId xmlns:a16="http://schemas.microsoft.com/office/drawing/2014/main" id="{9F4C1B75-CF31-0003-26A4-B990092ED695}"/>
              </a:ext>
            </a:extLst>
          </p:cNvPr>
          <p:cNvSpPr txBox="1"/>
          <p:nvPr/>
        </p:nvSpPr>
        <p:spPr>
          <a:xfrm>
            <a:off x="1823435" y="3688551"/>
            <a:ext cx="1005403" cy="338554"/>
          </a:xfrm>
          <a:prstGeom prst="rect">
            <a:avLst/>
          </a:prstGeom>
          <a:noFill/>
        </p:spPr>
        <p:txBody>
          <a:bodyPr wrap="none" rtlCol="0">
            <a:spAutoFit/>
          </a:bodyPr>
          <a:lstStyle/>
          <a:p>
            <a:r>
              <a:rPr lang="zh-TW" altLang="en-US" sz="1600" dirty="0">
                <a:latin typeface="微軟正黑體" panose="020B0604030504040204" pitchFamily="34" charset="-120"/>
                <a:ea typeface="微軟正黑體" panose="020B0604030504040204" pitchFamily="34" charset="-120"/>
              </a:rPr>
              <a:t>尺寸量測</a:t>
            </a:r>
          </a:p>
        </p:txBody>
      </p:sp>
      <p:sp>
        <p:nvSpPr>
          <p:cNvPr id="8" name="文字方塊 7">
            <a:extLst>
              <a:ext uri="{FF2B5EF4-FFF2-40B4-BE49-F238E27FC236}">
                <a16:creationId xmlns:a16="http://schemas.microsoft.com/office/drawing/2014/main" id="{21764A99-38F7-9F94-4501-9D46A062D4D4}"/>
              </a:ext>
            </a:extLst>
          </p:cNvPr>
          <p:cNvSpPr txBox="1"/>
          <p:nvPr/>
        </p:nvSpPr>
        <p:spPr>
          <a:xfrm>
            <a:off x="284610" y="4003586"/>
            <a:ext cx="1005403" cy="338554"/>
          </a:xfrm>
          <a:prstGeom prst="rect">
            <a:avLst/>
          </a:prstGeom>
          <a:noFill/>
        </p:spPr>
        <p:txBody>
          <a:bodyPr wrap="none" rtlCol="0">
            <a:spAutoFit/>
          </a:bodyPr>
          <a:lstStyle/>
          <a:p>
            <a:r>
              <a:rPr lang="zh-TW" altLang="en-US" sz="1600" dirty="0">
                <a:latin typeface="微軟正黑體" panose="020B0604030504040204" pitchFamily="34" charset="-120"/>
                <a:ea typeface="微軟正黑體" panose="020B0604030504040204" pitchFamily="34" charset="-120"/>
              </a:rPr>
              <a:t>電性量測</a:t>
            </a:r>
          </a:p>
        </p:txBody>
      </p:sp>
    </p:spTree>
    <p:extLst>
      <p:ext uri="{BB962C8B-B14F-4D97-AF65-F5344CB8AC3E}">
        <p14:creationId xmlns:p14="http://schemas.microsoft.com/office/powerpoint/2010/main" val="42037173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流程圖: 替代程序 7">
            <a:extLst>
              <a:ext uri="{FF2B5EF4-FFF2-40B4-BE49-F238E27FC236}">
                <a16:creationId xmlns:a16="http://schemas.microsoft.com/office/drawing/2014/main" id="{A4E7E4AB-F1DD-3DEE-153F-BBB4A9B2C2F9}"/>
              </a:ext>
            </a:extLst>
          </p:cNvPr>
          <p:cNvSpPr/>
          <p:nvPr/>
        </p:nvSpPr>
        <p:spPr bwMode="auto">
          <a:xfrm>
            <a:off x="2134916" y="3935914"/>
            <a:ext cx="1761052" cy="765809"/>
          </a:xfrm>
          <a:prstGeom prst="flowChartAlternateProcess">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dirty="0">
              <a:ln>
                <a:noFill/>
              </a:ln>
              <a:solidFill>
                <a:schemeClr val="tx1"/>
              </a:solidFill>
              <a:effectLst/>
              <a:latin typeface="Arial" charset="0"/>
              <a:ea typeface="新細明體" pitchFamily="18" charset="-120"/>
            </a:endParaRPr>
          </a:p>
        </p:txBody>
      </p:sp>
      <p:sp>
        <p:nvSpPr>
          <p:cNvPr id="2" name="標題 1"/>
          <p:cNvSpPr>
            <a:spLocks noGrp="1"/>
          </p:cNvSpPr>
          <p:nvPr>
            <p:ph type="title"/>
          </p:nvPr>
        </p:nvSpPr>
        <p:spPr>
          <a:xfrm>
            <a:off x="765077" y="194582"/>
            <a:ext cx="11045923" cy="941580"/>
          </a:xfrm>
        </p:spPr>
        <p:txBody>
          <a:bodyPr/>
          <a:lstStyle/>
          <a:p>
            <a:pPr>
              <a:spcBef>
                <a:spcPts val="1800"/>
              </a:spcBef>
            </a:pPr>
            <a:r>
              <a:rPr lang="zh-TW" altLang="en-US" sz="3600" dirty="0"/>
              <a:t>跨領域合作架構</a:t>
            </a:r>
          </a:p>
        </p:txBody>
      </p:sp>
      <p:sp>
        <p:nvSpPr>
          <p:cNvPr id="6" name="投影片編號版面配置區 1">
            <a:extLst>
              <a:ext uri="{FF2B5EF4-FFF2-40B4-BE49-F238E27FC236}">
                <a16:creationId xmlns:a16="http://schemas.microsoft.com/office/drawing/2014/main" id="{3DCF7FC9-4B7B-4730-AFE8-05F3CE70E7C2}"/>
              </a:ext>
            </a:extLst>
          </p:cNvPr>
          <p:cNvSpPr txBox="1">
            <a:spLocks/>
          </p:cNvSpPr>
          <p:nvPr/>
        </p:nvSpPr>
        <p:spPr bwMode="auto">
          <a:xfrm>
            <a:off x="11430000" y="6619875"/>
            <a:ext cx="762000" cy="238125"/>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zh-TW"/>
            </a:defPPr>
            <a:lvl1pPr algn="r" rtl="0" eaLnBrk="1" fontAlgn="ctr" hangingPunct="1">
              <a:spcBef>
                <a:spcPct val="0"/>
              </a:spcBef>
              <a:spcAft>
                <a:spcPct val="0"/>
              </a:spcAft>
              <a:defRPr kumimoji="1" sz="1200" kern="1200">
                <a:solidFill>
                  <a:schemeClr val="tx1"/>
                </a:solidFill>
                <a:latin typeface="Arial" panose="020B0604020202020204" pitchFamily="34" charset="0"/>
                <a:ea typeface="新細明體" panose="02020500000000000000" pitchFamily="18" charset="-120"/>
                <a:cs typeface="+mn-cs"/>
              </a:defRPr>
            </a:lvl1pPr>
            <a:lvl2pPr marL="742950" indent="-28575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2pPr>
            <a:lvl3pPr marL="1143000" indent="-2286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3pPr>
            <a:lvl4pPr marL="1600200" indent="-2286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4pPr>
            <a:lvl5pPr marL="2057400" indent="-2286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9pPr>
          </a:lstStyle>
          <a:p>
            <a:fld id="{49A9212D-6406-4E12-8CC4-78DDFE99027F}" type="slidenum">
              <a:rPr lang="en-US" altLang="zh-TW" smtClean="0">
                <a:solidFill>
                  <a:schemeClr val="bg1"/>
                </a:solidFill>
                <a:ea typeface="微軟正黑體" panose="020B0604030504040204" pitchFamily="34" charset="-120"/>
              </a:rPr>
              <a:pPr/>
              <a:t>8</a:t>
            </a:fld>
            <a:endParaRPr lang="en-US" altLang="zh-TW">
              <a:solidFill>
                <a:schemeClr val="bg1"/>
              </a:solidFill>
              <a:ea typeface="微軟正黑體" panose="020B0604030504040204" pitchFamily="34" charset="-120"/>
            </a:endParaRPr>
          </a:p>
        </p:txBody>
      </p:sp>
      <p:sp>
        <p:nvSpPr>
          <p:cNvPr id="4" name="流程圖: 替代程序 3">
            <a:extLst>
              <a:ext uri="{FF2B5EF4-FFF2-40B4-BE49-F238E27FC236}">
                <a16:creationId xmlns:a16="http://schemas.microsoft.com/office/drawing/2014/main" id="{72AEFA0F-FD80-FC70-50C9-FC8AED9E76B8}"/>
              </a:ext>
            </a:extLst>
          </p:cNvPr>
          <p:cNvSpPr/>
          <p:nvPr/>
        </p:nvSpPr>
        <p:spPr bwMode="auto">
          <a:xfrm>
            <a:off x="425470" y="3950809"/>
            <a:ext cx="1433805" cy="765809"/>
          </a:xfrm>
          <a:prstGeom prst="flowChartAlternateProcess">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dirty="0">
              <a:ln>
                <a:noFill/>
              </a:ln>
              <a:solidFill>
                <a:schemeClr val="tx1"/>
              </a:solidFill>
              <a:effectLst/>
              <a:latin typeface="Arial" charset="0"/>
              <a:ea typeface="新細明體" pitchFamily="18" charset="-120"/>
            </a:endParaRPr>
          </a:p>
        </p:txBody>
      </p:sp>
      <p:sp>
        <p:nvSpPr>
          <p:cNvPr id="5" name="文字方塊 4">
            <a:extLst>
              <a:ext uri="{FF2B5EF4-FFF2-40B4-BE49-F238E27FC236}">
                <a16:creationId xmlns:a16="http://schemas.microsoft.com/office/drawing/2014/main" id="{5403E201-2D8C-8438-2810-B40E454D407A}"/>
              </a:ext>
            </a:extLst>
          </p:cNvPr>
          <p:cNvSpPr txBox="1"/>
          <p:nvPr/>
        </p:nvSpPr>
        <p:spPr>
          <a:xfrm>
            <a:off x="636479" y="4010547"/>
            <a:ext cx="1222796" cy="646331"/>
          </a:xfrm>
          <a:prstGeom prst="rect">
            <a:avLst/>
          </a:prstGeom>
          <a:noFill/>
        </p:spPr>
        <p:txBody>
          <a:bodyPr wrap="square" rtlCol="0">
            <a:spAutoFit/>
          </a:bodyPr>
          <a:lstStyle/>
          <a:p>
            <a:r>
              <a:rPr lang="zh-TW" altLang="en-US" dirty="0">
                <a:latin typeface="+mj-ea"/>
                <a:ea typeface="+mj-ea"/>
              </a:rPr>
              <a:t>模型理論推導</a:t>
            </a:r>
          </a:p>
        </p:txBody>
      </p:sp>
      <p:sp>
        <p:nvSpPr>
          <p:cNvPr id="7" name="文字方塊 6">
            <a:extLst>
              <a:ext uri="{FF2B5EF4-FFF2-40B4-BE49-F238E27FC236}">
                <a16:creationId xmlns:a16="http://schemas.microsoft.com/office/drawing/2014/main" id="{7D3CDF3C-3497-0880-006D-B7CFDFD6B1D9}"/>
              </a:ext>
            </a:extLst>
          </p:cNvPr>
          <p:cNvSpPr txBox="1"/>
          <p:nvPr/>
        </p:nvSpPr>
        <p:spPr>
          <a:xfrm>
            <a:off x="2225002" y="4000206"/>
            <a:ext cx="1582442" cy="646331"/>
          </a:xfrm>
          <a:prstGeom prst="rect">
            <a:avLst/>
          </a:prstGeom>
          <a:noFill/>
        </p:spPr>
        <p:txBody>
          <a:bodyPr wrap="square" rtlCol="0">
            <a:spAutoFit/>
          </a:bodyPr>
          <a:lstStyle/>
          <a:p>
            <a:r>
              <a:rPr lang="zh-TW" altLang="en-US" dirty="0">
                <a:latin typeface="+mj-ea"/>
                <a:ea typeface="+mj-ea"/>
              </a:rPr>
              <a:t>測試件模擬與設計</a:t>
            </a:r>
          </a:p>
        </p:txBody>
      </p:sp>
      <p:sp>
        <p:nvSpPr>
          <p:cNvPr id="9" name="流程圖: 替代程序 8">
            <a:extLst>
              <a:ext uri="{FF2B5EF4-FFF2-40B4-BE49-F238E27FC236}">
                <a16:creationId xmlns:a16="http://schemas.microsoft.com/office/drawing/2014/main" id="{C09082FD-4FD4-9A8D-0F66-12640862F286}"/>
              </a:ext>
            </a:extLst>
          </p:cNvPr>
          <p:cNvSpPr/>
          <p:nvPr/>
        </p:nvSpPr>
        <p:spPr bwMode="auto">
          <a:xfrm>
            <a:off x="4159297" y="3928692"/>
            <a:ext cx="1936703" cy="765809"/>
          </a:xfrm>
          <a:prstGeom prst="flowChartAlternateProcess">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dirty="0">
              <a:ln>
                <a:noFill/>
              </a:ln>
              <a:solidFill>
                <a:schemeClr val="tx1"/>
              </a:solidFill>
              <a:effectLst/>
              <a:latin typeface="Arial" charset="0"/>
              <a:ea typeface="新細明體" pitchFamily="18" charset="-120"/>
            </a:endParaRPr>
          </a:p>
        </p:txBody>
      </p:sp>
      <p:sp>
        <p:nvSpPr>
          <p:cNvPr id="10" name="文字方塊 9">
            <a:extLst>
              <a:ext uri="{FF2B5EF4-FFF2-40B4-BE49-F238E27FC236}">
                <a16:creationId xmlns:a16="http://schemas.microsoft.com/office/drawing/2014/main" id="{BDD52DC9-1633-AC31-CC30-7E1F02811908}"/>
              </a:ext>
            </a:extLst>
          </p:cNvPr>
          <p:cNvSpPr txBox="1"/>
          <p:nvPr/>
        </p:nvSpPr>
        <p:spPr>
          <a:xfrm>
            <a:off x="4353044" y="3988430"/>
            <a:ext cx="1582441" cy="646331"/>
          </a:xfrm>
          <a:prstGeom prst="rect">
            <a:avLst/>
          </a:prstGeom>
          <a:noFill/>
        </p:spPr>
        <p:txBody>
          <a:bodyPr wrap="square" rtlCol="0">
            <a:spAutoFit/>
          </a:bodyPr>
          <a:lstStyle/>
          <a:p>
            <a:pPr algn="ctr"/>
            <a:r>
              <a:rPr lang="zh-TW" altLang="en-US" dirty="0">
                <a:latin typeface="+mj-ea"/>
                <a:ea typeface="+mj-ea"/>
              </a:rPr>
              <a:t>進行下線完成</a:t>
            </a:r>
            <a:endParaRPr lang="en-US" altLang="zh-TW" dirty="0">
              <a:latin typeface="+mj-ea"/>
              <a:ea typeface="+mj-ea"/>
            </a:endParaRPr>
          </a:p>
          <a:p>
            <a:pPr algn="ctr"/>
            <a:r>
              <a:rPr lang="zh-TW" altLang="en-US" dirty="0">
                <a:latin typeface="+mj-ea"/>
                <a:ea typeface="+mj-ea"/>
              </a:rPr>
              <a:t>測試件製作</a:t>
            </a:r>
          </a:p>
        </p:txBody>
      </p:sp>
      <p:sp>
        <p:nvSpPr>
          <p:cNvPr id="11" name="流程圖: 替代程序 10">
            <a:extLst>
              <a:ext uri="{FF2B5EF4-FFF2-40B4-BE49-F238E27FC236}">
                <a16:creationId xmlns:a16="http://schemas.microsoft.com/office/drawing/2014/main" id="{53D8B803-33C2-58DE-23DF-2DBA80886065}"/>
              </a:ext>
            </a:extLst>
          </p:cNvPr>
          <p:cNvSpPr/>
          <p:nvPr/>
        </p:nvSpPr>
        <p:spPr bwMode="auto">
          <a:xfrm>
            <a:off x="6380030" y="3928692"/>
            <a:ext cx="1643187" cy="765809"/>
          </a:xfrm>
          <a:prstGeom prst="flowChartAlternateProcess">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dirty="0">
              <a:ln>
                <a:noFill/>
              </a:ln>
              <a:solidFill>
                <a:schemeClr val="tx1"/>
              </a:solidFill>
              <a:effectLst/>
              <a:latin typeface="Arial" charset="0"/>
              <a:ea typeface="新細明體" pitchFamily="18" charset="-120"/>
            </a:endParaRPr>
          </a:p>
        </p:txBody>
      </p:sp>
      <p:sp>
        <p:nvSpPr>
          <p:cNvPr id="12" name="文字方塊 11">
            <a:extLst>
              <a:ext uri="{FF2B5EF4-FFF2-40B4-BE49-F238E27FC236}">
                <a16:creationId xmlns:a16="http://schemas.microsoft.com/office/drawing/2014/main" id="{A310D7F0-6463-9FCD-6369-9BAC81665B39}"/>
              </a:ext>
            </a:extLst>
          </p:cNvPr>
          <p:cNvSpPr txBox="1"/>
          <p:nvPr/>
        </p:nvSpPr>
        <p:spPr>
          <a:xfrm>
            <a:off x="6195211" y="4021389"/>
            <a:ext cx="1973826" cy="646331"/>
          </a:xfrm>
          <a:prstGeom prst="rect">
            <a:avLst/>
          </a:prstGeom>
          <a:noFill/>
        </p:spPr>
        <p:txBody>
          <a:bodyPr wrap="square" rtlCol="0">
            <a:spAutoFit/>
          </a:bodyPr>
          <a:lstStyle/>
          <a:p>
            <a:pPr algn="ctr"/>
            <a:r>
              <a:rPr lang="zh-TW" altLang="en-US" dirty="0">
                <a:latin typeface="+mj-ea"/>
                <a:ea typeface="+mj-ea"/>
              </a:rPr>
              <a:t>常溫電性</a:t>
            </a:r>
            <a:r>
              <a:rPr lang="en-US" altLang="zh-TW" dirty="0">
                <a:latin typeface="+mj-ea"/>
                <a:ea typeface="+mj-ea"/>
              </a:rPr>
              <a:t>/</a:t>
            </a:r>
          </a:p>
          <a:p>
            <a:pPr algn="ctr"/>
            <a:r>
              <a:rPr lang="zh-TW" altLang="en-US" dirty="0">
                <a:latin typeface="+mj-ea"/>
                <a:ea typeface="+mj-ea"/>
              </a:rPr>
              <a:t>高頻量測</a:t>
            </a:r>
          </a:p>
        </p:txBody>
      </p:sp>
      <p:sp>
        <p:nvSpPr>
          <p:cNvPr id="13" name="流程圖: 替代程序 12">
            <a:extLst>
              <a:ext uri="{FF2B5EF4-FFF2-40B4-BE49-F238E27FC236}">
                <a16:creationId xmlns:a16="http://schemas.microsoft.com/office/drawing/2014/main" id="{A3C7157D-C102-3FED-36B0-AA5DECEC6E33}"/>
              </a:ext>
            </a:extLst>
          </p:cNvPr>
          <p:cNvSpPr/>
          <p:nvPr/>
        </p:nvSpPr>
        <p:spPr bwMode="auto">
          <a:xfrm>
            <a:off x="8307247" y="3928690"/>
            <a:ext cx="1643187" cy="765809"/>
          </a:xfrm>
          <a:prstGeom prst="flowChartAlternateProcess">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dirty="0">
              <a:ln>
                <a:noFill/>
              </a:ln>
              <a:solidFill>
                <a:schemeClr val="tx1"/>
              </a:solidFill>
              <a:effectLst/>
              <a:latin typeface="Arial" charset="0"/>
              <a:ea typeface="新細明體" pitchFamily="18" charset="-120"/>
            </a:endParaRPr>
          </a:p>
        </p:txBody>
      </p:sp>
      <p:sp>
        <p:nvSpPr>
          <p:cNvPr id="14" name="文字方塊 13">
            <a:extLst>
              <a:ext uri="{FF2B5EF4-FFF2-40B4-BE49-F238E27FC236}">
                <a16:creationId xmlns:a16="http://schemas.microsoft.com/office/drawing/2014/main" id="{62A5BFB1-D446-56D9-3E7B-F140D4FA736F}"/>
              </a:ext>
            </a:extLst>
          </p:cNvPr>
          <p:cNvSpPr txBox="1"/>
          <p:nvPr/>
        </p:nvSpPr>
        <p:spPr>
          <a:xfrm>
            <a:off x="8526752" y="3988428"/>
            <a:ext cx="1204176" cy="646331"/>
          </a:xfrm>
          <a:prstGeom prst="rect">
            <a:avLst/>
          </a:prstGeom>
          <a:noFill/>
        </p:spPr>
        <p:txBody>
          <a:bodyPr wrap="none" rtlCol="0">
            <a:spAutoFit/>
          </a:bodyPr>
          <a:lstStyle/>
          <a:p>
            <a:pPr algn="ctr"/>
            <a:r>
              <a:rPr lang="zh-TW" altLang="en-US" dirty="0">
                <a:latin typeface="+mj-ea"/>
                <a:ea typeface="+mj-ea"/>
              </a:rPr>
              <a:t>變溫電性</a:t>
            </a:r>
            <a:r>
              <a:rPr lang="en-US" altLang="zh-TW" dirty="0">
                <a:latin typeface="+mj-ea"/>
                <a:ea typeface="+mj-ea"/>
              </a:rPr>
              <a:t>/</a:t>
            </a:r>
          </a:p>
          <a:p>
            <a:pPr algn="ctr"/>
            <a:r>
              <a:rPr lang="zh-TW" altLang="en-US" dirty="0">
                <a:latin typeface="+mj-ea"/>
                <a:ea typeface="+mj-ea"/>
              </a:rPr>
              <a:t>高頻量測</a:t>
            </a:r>
          </a:p>
        </p:txBody>
      </p:sp>
      <p:sp>
        <p:nvSpPr>
          <p:cNvPr id="15" name="流程圖: 替代程序 14">
            <a:extLst>
              <a:ext uri="{FF2B5EF4-FFF2-40B4-BE49-F238E27FC236}">
                <a16:creationId xmlns:a16="http://schemas.microsoft.com/office/drawing/2014/main" id="{47212222-44B4-47B0-1C7A-3A73B54F0CBA}"/>
              </a:ext>
            </a:extLst>
          </p:cNvPr>
          <p:cNvSpPr/>
          <p:nvPr/>
        </p:nvSpPr>
        <p:spPr bwMode="auto">
          <a:xfrm>
            <a:off x="487755" y="1824301"/>
            <a:ext cx="1395702" cy="765809"/>
          </a:xfrm>
          <a:prstGeom prst="flowChartAlternateProcess">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dirty="0">
              <a:ln>
                <a:noFill/>
              </a:ln>
              <a:solidFill>
                <a:schemeClr val="tx1"/>
              </a:solidFill>
              <a:effectLst/>
              <a:latin typeface="Arial" charset="0"/>
              <a:ea typeface="新細明體" pitchFamily="18" charset="-120"/>
            </a:endParaRPr>
          </a:p>
        </p:txBody>
      </p:sp>
      <p:sp>
        <p:nvSpPr>
          <p:cNvPr id="16" name="流程圖: 替代程序 15">
            <a:extLst>
              <a:ext uri="{FF2B5EF4-FFF2-40B4-BE49-F238E27FC236}">
                <a16:creationId xmlns:a16="http://schemas.microsoft.com/office/drawing/2014/main" id="{084C62B8-D5F5-AF95-755C-8E9D7B988C9F}"/>
              </a:ext>
            </a:extLst>
          </p:cNvPr>
          <p:cNvSpPr/>
          <p:nvPr/>
        </p:nvSpPr>
        <p:spPr bwMode="auto">
          <a:xfrm>
            <a:off x="476809" y="2738046"/>
            <a:ext cx="1446284" cy="765809"/>
          </a:xfrm>
          <a:prstGeom prst="flowChartAlternateProcess">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dirty="0">
              <a:ln>
                <a:noFill/>
              </a:ln>
              <a:solidFill>
                <a:schemeClr val="tx1"/>
              </a:solidFill>
              <a:effectLst/>
              <a:latin typeface="Arial" charset="0"/>
              <a:ea typeface="新細明體" pitchFamily="18" charset="-120"/>
            </a:endParaRPr>
          </a:p>
        </p:txBody>
      </p:sp>
      <p:sp>
        <p:nvSpPr>
          <p:cNvPr id="17" name="文字方塊 16">
            <a:extLst>
              <a:ext uri="{FF2B5EF4-FFF2-40B4-BE49-F238E27FC236}">
                <a16:creationId xmlns:a16="http://schemas.microsoft.com/office/drawing/2014/main" id="{C7D4103E-FCDE-9C35-6E2C-3D66D16EEB93}"/>
              </a:ext>
            </a:extLst>
          </p:cNvPr>
          <p:cNvSpPr txBox="1"/>
          <p:nvPr/>
        </p:nvSpPr>
        <p:spPr>
          <a:xfrm>
            <a:off x="581891" y="2797784"/>
            <a:ext cx="1222797" cy="646331"/>
          </a:xfrm>
          <a:prstGeom prst="rect">
            <a:avLst/>
          </a:prstGeom>
          <a:noFill/>
        </p:spPr>
        <p:txBody>
          <a:bodyPr wrap="square" rtlCol="0">
            <a:spAutoFit/>
          </a:bodyPr>
          <a:lstStyle/>
          <a:p>
            <a:r>
              <a:rPr lang="zh-TW" altLang="en-US" dirty="0">
                <a:latin typeface="+mj-ea"/>
                <a:ea typeface="+mj-ea"/>
              </a:rPr>
              <a:t>低溫站製作</a:t>
            </a:r>
          </a:p>
        </p:txBody>
      </p:sp>
      <p:sp>
        <p:nvSpPr>
          <p:cNvPr id="18" name="文字方塊 17">
            <a:extLst>
              <a:ext uri="{FF2B5EF4-FFF2-40B4-BE49-F238E27FC236}">
                <a16:creationId xmlns:a16="http://schemas.microsoft.com/office/drawing/2014/main" id="{D6DAB271-689D-695B-4718-E29619819D59}"/>
              </a:ext>
            </a:extLst>
          </p:cNvPr>
          <p:cNvSpPr txBox="1"/>
          <p:nvPr/>
        </p:nvSpPr>
        <p:spPr>
          <a:xfrm>
            <a:off x="575301" y="1881890"/>
            <a:ext cx="1170028" cy="646331"/>
          </a:xfrm>
          <a:prstGeom prst="rect">
            <a:avLst/>
          </a:prstGeom>
          <a:noFill/>
        </p:spPr>
        <p:txBody>
          <a:bodyPr wrap="square" rtlCol="0">
            <a:spAutoFit/>
          </a:bodyPr>
          <a:lstStyle/>
          <a:p>
            <a:r>
              <a:rPr lang="zh-TW" altLang="en-US" dirty="0">
                <a:latin typeface="+mj-ea"/>
                <a:ea typeface="+mj-ea"/>
              </a:rPr>
              <a:t>光學量測架設</a:t>
            </a:r>
          </a:p>
        </p:txBody>
      </p:sp>
      <p:sp>
        <p:nvSpPr>
          <p:cNvPr id="19" name="流程圖: 替代程序 18">
            <a:extLst>
              <a:ext uri="{FF2B5EF4-FFF2-40B4-BE49-F238E27FC236}">
                <a16:creationId xmlns:a16="http://schemas.microsoft.com/office/drawing/2014/main" id="{BA985B76-3C65-C350-0807-B0581381F02A}"/>
              </a:ext>
            </a:extLst>
          </p:cNvPr>
          <p:cNvSpPr/>
          <p:nvPr/>
        </p:nvSpPr>
        <p:spPr bwMode="auto">
          <a:xfrm>
            <a:off x="4235070" y="2738046"/>
            <a:ext cx="1936703" cy="765809"/>
          </a:xfrm>
          <a:prstGeom prst="flowChartAlternateProcess">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dirty="0">
              <a:ln>
                <a:noFill/>
              </a:ln>
              <a:solidFill>
                <a:schemeClr val="tx1"/>
              </a:solidFill>
              <a:effectLst/>
              <a:latin typeface="Arial" charset="0"/>
              <a:ea typeface="新細明體" pitchFamily="18" charset="-120"/>
            </a:endParaRPr>
          </a:p>
        </p:txBody>
      </p:sp>
      <p:sp>
        <p:nvSpPr>
          <p:cNvPr id="20" name="文字方塊 19">
            <a:extLst>
              <a:ext uri="{FF2B5EF4-FFF2-40B4-BE49-F238E27FC236}">
                <a16:creationId xmlns:a16="http://schemas.microsoft.com/office/drawing/2014/main" id="{B38BFF6A-2582-1D71-0093-61CFDC7B9BF0}"/>
              </a:ext>
            </a:extLst>
          </p:cNvPr>
          <p:cNvSpPr txBox="1"/>
          <p:nvPr/>
        </p:nvSpPr>
        <p:spPr>
          <a:xfrm>
            <a:off x="4428817" y="2797784"/>
            <a:ext cx="1582441" cy="646331"/>
          </a:xfrm>
          <a:prstGeom prst="rect">
            <a:avLst/>
          </a:prstGeom>
          <a:noFill/>
        </p:spPr>
        <p:txBody>
          <a:bodyPr wrap="square" rtlCol="0">
            <a:spAutoFit/>
          </a:bodyPr>
          <a:lstStyle/>
          <a:p>
            <a:pPr algn="ctr"/>
            <a:r>
              <a:rPr lang="zh-TW" altLang="en-US" dirty="0">
                <a:latin typeface="+mj-ea"/>
                <a:ea typeface="+mj-ea"/>
              </a:rPr>
              <a:t>低溫與量測系統整合測試</a:t>
            </a:r>
          </a:p>
        </p:txBody>
      </p:sp>
      <p:sp>
        <p:nvSpPr>
          <p:cNvPr id="21" name="流程圖: 替代程序 20">
            <a:extLst>
              <a:ext uri="{FF2B5EF4-FFF2-40B4-BE49-F238E27FC236}">
                <a16:creationId xmlns:a16="http://schemas.microsoft.com/office/drawing/2014/main" id="{83D4B706-CFFB-209E-3884-6AB27AFA7001}"/>
              </a:ext>
            </a:extLst>
          </p:cNvPr>
          <p:cNvSpPr/>
          <p:nvPr/>
        </p:nvSpPr>
        <p:spPr bwMode="auto">
          <a:xfrm>
            <a:off x="6397389" y="2797786"/>
            <a:ext cx="1643187" cy="765809"/>
          </a:xfrm>
          <a:prstGeom prst="flowChartAlternateProcess">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dirty="0">
              <a:ln>
                <a:noFill/>
              </a:ln>
              <a:solidFill>
                <a:schemeClr val="tx1"/>
              </a:solidFill>
              <a:effectLst/>
              <a:latin typeface="Arial" charset="0"/>
              <a:ea typeface="新細明體" pitchFamily="18" charset="-120"/>
            </a:endParaRPr>
          </a:p>
        </p:txBody>
      </p:sp>
      <p:sp>
        <p:nvSpPr>
          <p:cNvPr id="22" name="文字方塊 21">
            <a:extLst>
              <a:ext uri="{FF2B5EF4-FFF2-40B4-BE49-F238E27FC236}">
                <a16:creationId xmlns:a16="http://schemas.microsoft.com/office/drawing/2014/main" id="{45851698-7CB6-BBBA-E704-85531A468F62}"/>
              </a:ext>
            </a:extLst>
          </p:cNvPr>
          <p:cNvSpPr txBox="1"/>
          <p:nvPr/>
        </p:nvSpPr>
        <p:spPr>
          <a:xfrm>
            <a:off x="6232069" y="2996023"/>
            <a:ext cx="1973826" cy="369332"/>
          </a:xfrm>
          <a:prstGeom prst="rect">
            <a:avLst/>
          </a:prstGeom>
          <a:noFill/>
        </p:spPr>
        <p:txBody>
          <a:bodyPr wrap="square" rtlCol="0">
            <a:spAutoFit/>
          </a:bodyPr>
          <a:lstStyle/>
          <a:p>
            <a:pPr algn="ctr"/>
            <a:r>
              <a:rPr lang="zh-TW" altLang="en-US" dirty="0">
                <a:latin typeface="+mj-ea"/>
                <a:ea typeface="+mj-ea"/>
              </a:rPr>
              <a:t>常溫尺寸量測</a:t>
            </a:r>
          </a:p>
        </p:txBody>
      </p:sp>
      <p:sp>
        <p:nvSpPr>
          <p:cNvPr id="23" name="流程圖: 替代程序 22">
            <a:extLst>
              <a:ext uri="{FF2B5EF4-FFF2-40B4-BE49-F238E27FC236}">
                <a16:creationId xmlns:a16="http://schemas.microsoft.com/office/drawing/2014/main" id="{61CBFC82-8C2E-320B-08D3-5B6794B8D811}"/>
              </a:ext>
            </a:extLst>
          </p:cNvPr>
          <p:cNvSpPr/>
          <p:nvPr/>
        </p:nvSpPr>
        <p:spPr bwMode="auto">
          <a:xfrm>
            <a:off x="8323341" y="2782889"/>
            <a:ext cx="1643187" cy="765809"/>
          </a:xfrm>
          <a:prstGeom prst="flowChartAlternateProcess">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dirty="0">
              <a:ln>
                <a:noFill/>
              </a:ln>
              <a:solidFill>
                <a:schemeClr val="tx1"/>
              </a:solidFill>
              <a:effectLst/>
              <a:latin typeface="Arial" charset="0"/>
              <a:ea typeface="新細明體" pitchFamily="18" charset="-120"/>
            </a:endParaRPr>
          </a:p>
        </p:txBody>
      </p:sp>
      <p:sp>
        <p:nvSpPr>
          <p:cNvPr id="24" name="文字方塊 23">
            <a:extLst>
              <a:ext uri="{FF2B5EF4-FFF2-40B4-BE49-F238E27FC236}">
                <a16:creationId xmlns:a16="http://schemas.microsoft.com/office/drawing/2014/main" id="{010BEE12-2654-996B-F7E8-0545D511B4D4}"/>
              </a:ext>
            </a:extLst>
          </p:cNvPr>
          <p:cNvSpPr txBox="1"/>
          <p:nvPr/>
        </p:nvSpPr>
        <p:spPr>
          <a:xfrm>
            <a:off x="8369450" y="3003851"/>
            <a:ext cx="1569660" cy="369332"/>
          </a:xfrm>
          <a:prstGeom prst="rect">
            <a:avLst/>
          </a:prstGeom>
          <a:noFill/>
        </p:spPr>
        <p:txBody>
          <a:bodyPr wrap="none" rtlCol="0">
            <a:spAutoFit/>
          </a:bodyPr>
          <a:lstStyle/>
          <a:p>
            <a:pPr algn="ctr"/>
            <a:r>
              <a:rPr lang="zh-TW" altLang="en-US" dirty="0">
                <a:latin typeface="+mj-ea"/>
                <a:ea typeface="+mj-ea"/>
              </a:rPr>
              <a:t>變溫尺寸量測</a:t>
            </a:r>
          </a:p>
        </p:txBody>
      </p:sp>
      <p:sp>
        <p:nvSpPr>
          <p:cNvPr id="26" name="流程圖: 替代程序 25">
            <a:extLst>
              <a:ext uri="{FF2B5EF4-FFF2-40B4-BE49-F238E27FC236}">
                <a16:creationId xmlns:a16="http://schemas.microsoft.com/office/drawing/2014/main" id="{4D7EFA7A-B23C-C485-44DB-4ED8B17B513A}"/>
              </a:ext>
            </a:extLst>
          </p:cNvPr>
          <p:cNvSpPr/>
          <p:nvPr/>
        </p:nvSpPr>
        <p:spPr bwMode="auto">
          <a:xfrm>
            <a:off x="2194551" y="2738044"/>
            <a:ext cx="1761052" cy="765809"/>
          </a:xfrm>
          <a:prstGeom prst="flowChartAlternateProcess">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dirty="0">
              <a:ln>
                <a:noFill/>
              </a:ln>
              <a:solidFill>
                <a:schemeClr val="tx1"/>
              </a:solidFill>
              <a:effectLst/>
              <a:latin typeface="Arial" charset="0"/>
              <a:ea typeface="新細明體" pitchFamily="18" charset="-120"/>
            </a:endParaRPr>
          </a:p>
        </p:txBody>
      </p:sp>
      <p:sp>
        <p:nvSpPr>
          <p:cNvPr id="27" name="文字方塊 26">
            <a:extLst>
              <a:ext uri="{FF2B5EF4-FFF2-40B4-BE49-F238E27FC236}">
                <a16:creationId xmlns:a16="http://schemas.microsoft.com/office/drawing/2014/main" id="{B14311FB-DCE3-82EE-92EB-B525931F12FC}"/>
              </a:ext>
            </a:extLst>
          </p:cNvPr>
          <p:cNvSpPr txBox="1"/>
          <p:nvPr/>
        </p:nvSpPr>
        <p:spPr>
          <a:xfrm>
            <a:off x="2309024" y="2920634"/>
            <a:ext cx="1582442" cy="369332"/>
          </a:xfrm>
          <a:prstGeom prst="rect">
            <a:avLst/>
          </a:prstGeom>
          <a:noFill/>
        </p:spPr>
        <p:txBody>
          <a:bodyPr wrap="square" rtlCol="0">
            <a:spAutoFit/>
          </a:bodyPr>
          <a:lstStyle/>
          <a:p>
            <a:r>
              <a:rPr lang="zh-TW" altLang="en-US" dirty="0">
                <a:latin typeface="+mj-ea"/>
                <a:ea typeface="+mj-ea"/>
              </a:rPr>
              <a:t>電控架設整合</a:t>
            </a:r>
          </a:p>
        </p:txBody>
      </p:sp>
      <p:sp>
        <p:nvSpPr>
          <p:cNvPr id="28" name="流程圖: 替代程序 27">
            <a:extLst>
              <a:ext uri="{FF2B5EF4-FFF2-40B4-BE49-F238E27FC236}">
                <a16:creationId xmlns:a16="http://schemas.microsoft.com/office/drawing/2014/main" id="{F43F31B4-A50D-6C02-F50B-D4C0B8F4FF8B}"/>
              </a:ext>
            </a:extLst>
          </p:cNvPr>
          <p:cNvSpPr/>
          <p:nvPr/>
        </p:nvSpPr>
        <p:spPr bwMode="auto">
          <a:xfrm>
            <a:off x="2150157" y="1814576"/>
            <a:ext cx="1395702" cy="765809"/>
          </a:xfrm>
          <a:prstGeom prst="flowChartAlternateProcess">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dirty="0">
              <a:ln>
                <a:noFill/>
              </a:ln>
              <a:solidFill>
                <a:schemeClr val="tx1"/>
              </a:solidFill>
              <a:effectLst/>
              <a:latin typeface="Arial" charset="0"/>
              <a:ea typeface="新細明體" pitchFamily="18" charset="-120"/>
            </a:endParaRPr>
          </a:p>
        </p:txBody>
      </p:sp>
      <p:sp>
        <p:nvSpPr>
          <p:cNvPr id="29" name="文字方塊 28">
            <a:extLst>
              <a:ext uri="{FF2B5EF4-FFF2-40B4-BE49-F238E27FC236}">
                <a16:creationId xmlns:a16="http://schemas.microsoft.com/office/drawing/2014/main" id="{33C74FC4-2647-CDD6-449B-67F6F1F4799D}"/>
              </a:ext>
            </a:extLst>
          </p:cNvPr>
          <p:cNvSpPr txBox="1"/>
          <p:nvPr/>
        </p:nvSpPr>
        <p:spPr>
          <a:xfrm>
            <a:off x="2237703" y="1872165"/>
            <a:ext cx="1170028" cy="646331"/>
          </a:xfrm>
          <a:prstGeom prst="rect">
            <a:avLst/>
          </a:prstGeom>
          <a:noFill/>
        </p:spPr>
        <p:txBody>
          <a:bodyPr wrap="square" rtlCol="0">
            <a:spAutoFit/>
          </a:bodyPr>
          <a:lstStyle/>
          <a:p>
            <a:r>
              <a:rPr lang="zh-TW" altLang="en-US" dirty="0">
                <a:latin typeface="+mj-ea"/>
                <a:ea typeface="+mj-ea"/>
              </a:rPr>
              <a:t>精密度校正</a:t>
            </a:r>
          </a:p>
        </p:txBody>
      </p:sp>
      <p:cxnSp>
        <p:nvCxnSpPr>
          <p:cNvPr id="31" name="直線單箭頭接點 30">
            <a:extLst>
              <a:ext uri="{FF2B5EF4-FFF2-40B4-BE49-F238E27FC236}">
                <a16:creationId xmlns:a16="http://schemas.microsoft.com/office/drawing/2014/main" id="{A2BA20F4-A194-71C5-197E-FBE7E98BB15F}"/>
              </a:ext>
            </a:extLst>
          </p:cNvPr>
          <p:cNvCxnSpPr>
            <a:cxnSpLocks/>
          </p:cNvCxnSpPr>
          <p:nvPr/>
        </p:nvCxnSpPr>
        <p:spPr bwMode="auto">
          <a:xfrm>
            <a:off x="1858626" y="4347772"/>
            <a:ext cx="340427" cy="0"/>
          </a:xfrm>
          <a:prstGeom prst="straightConnector1">
            <a:avLst/>
          </a:prstGeom>
          <a:solidFill>
            <a:schemeClr val="accent1"/>
          </a:solidFill>
          <a:ln w="28575" cap="flat" cmpd="sng" algn="ctr">
            <a:solidFill>
              <a:schemeClr val="tx1"/>
            </a:solidFill>
            <a:prstDash val="solid"/>
            <a:round/>
            <a:headEnd type="none" w="med" len="med"/>
            <a:tailEnd type="triangle" w="lg" len="lg"/>
          </a:ln>
          <a:effectLst/>
        </p:spPr>
      </p:cxnSp>
      <p:cxnSp>
        <p:nvCxnSpPr>
          <p:cNvPr id="34" name="直線單箭頭接點 33">
            <a:extLst>
              <a:ext uri="{FF2B5EF4-FFF2-40B4-BE49-F238E27FC236}">
                <a16:creationId xmlns:a16="http://schemas.microsoft.com/office/drawing/2014/main" id="{E7BEF53A-9AF9-1DD2-F365-CCFBAD15B105}"/>
              </a:ext>
            </a:extLst>
          </p:cNvPr>
          <p:cNvCxnSpPr>
            <a:cxnSpLocks/>
          </p:cNvCxnSpPr>
          <p:nvPr/>
        </p:nvCxnSpPr>
        <p:spPr bwMode="auto">
          <a:xfrm>
            <a:off x="3895968" y="4351383"/>
            <a:ext cx="340427" cy="0"/>
          </a:xfrm>
          <a:prstGeom prst="straightConnector1">
            <a:avLst/>
          </a:prstGeom>
          <a:solidFill>
            <a:schemeClr val="accent1"/>
          </a:solidFill>
          <a:ln w="28575" cap="flat" cmpd="sng" algn="ctr">
            <a:solidFill>
              <a:schemeClr val="tx1"/>
            </a:solidFill>
            <a:prstDash val="solid"/>
            <a:round/>
            <a:headEnd type="none" w="med" len="med"/>
            <a:tailEnd type="triangle" w="lg" len="lg"/>
          </a:ln>
          <a:effectLst/>
        </p:spPr>
      </p:cxnSp>
      <p:cxnSp>
        <p:nvCxnSpPr>
          <p:cNvPr id="35" name="直線單箭頭接點 34">
            <a:extLst>
              <a:ext uri="{FF2B5EF4-FFF2-40B4-BE49-F238E27FC236}">
                <a16:creationId xmlns:a16="http://schemas.microsoft.com/office/drawing/2014/main" id="{F6547BE1-2FB7-E9F2-9B25-AF2015B1DFC3}"/>
              </a:ext>
            </a:extLst>
          </p:cNvPr>
          <p:cNvCxnSpPr>
            <a:cxnSpLocks/>
          </p:cNvCxnSpPr>
          <p:nvPr/>
        </p:nvCxnSpPr>
        <p:spPr bwMode="auto">
          <a:xfrm>
            <a:off x="6096000" y="4347772"/>
            <a:ext cx="340427" cy="0"/>
          </a:xfrm>
          <a:prstGeom prst="straightConnector1">
            <a:avLst/>
          </a:prstGeom>
          <a:solidFill>
            <a:schemeClr val="accent1"/>
          </a:solidFill>
          <a:ln w="28575" cap="flat" cmpd="sng" algn="ctr">
            <a:solidFill>
              <a:schemeClr val="tx1"/>
            </a:solidFill>
            <a:prstDash val="solid"/>
            <a:round/>
            <a:headEnd type="none" w="med" len="med"/>
            <a:tailEnd type="triangle" w="lg" len="lg"/>
          </a:ln>
          <a:effectLst/>
        </p:spPr>
      </p:cxnSp>
      <p:cxnSp>
        <p:nvCxnSpPr>
          <p:cNvPr id="36" name="直線單箭頭接點 35">
            <a:extLst>
              <a:ext uri="{FF2B5EF4-FFF2-40B4-BE49-F238E27FC236}">
                <a16:creationId xmlns:a16="http://schemas.microsoft.com/office/drawing/2014/main" id="{0837DC3D-7C4A-2EBE-4B6E-457B78131274}"/>
              </a:ext>
            </a:extLst>
          </p:cNvPr>
          <p:cNvCxnSpPr>
            <a:cxnSpLocks/>
          </p:cNvCxnSpPr>
          <p:nvPr/>
        </p:nvCxnSpPr>
        <p:spPr bwMode="auto">
          <a:xfrm>
            <a:off x="8035041" y="4327338"/>
            <a:ext cx="340427" cy="0"/>
          </a:xfrm>
          <a:prstGeom prst="straightConnector1">
            <a:avLst/>
          </a:prstGeom>
          <a:solidFill>
            <a:schemeClr val="accent1"/>
          </a:solidFill>
          <a:ln w="28575" cap="flat" cmpd="sng" algn="ctr">
            <a:solidFill>
              <a:schemeClr val="tx1"/>
            </a:solidFill>
            <a:prstDash val="solid"/>
            <a:round/>
            <a:headEnd type="none" w="med" len="med"/>
            <a:tailEnd type="triangle" w="lg" len="lg"/>
          </a:ln>
          <a:effectLst/>
        </p:spPr>
      </p:cxnSp>
      <p:cxnSp>
        <p:nvCxnSpPr>
          <p:cNvPr id="37" name="直線單箭頭接點 36">
            <a:extLst>
              <a:ext uri="{FF2B5EF4-FFF2-40B4-BE49-F238E27FC236}">
                <a16:creationId xmlns:a16="http://schemas.microsoft.com/office/drawing/2014/main" id="{A5F3EA20-3FFF-E249-42D8-0C9C8B895AC6}"/>
              </a:ext>
            </a:extLst>
          </p:cNvPr>
          <p:cNvCxnSpPr>
            <a:cxnSpLocks/>
          </p:cNvCxnSpPr>
          <p:nvPr/>
        </p:nvCxnSpPr>
        <p:spPr bwMode="auto">
          <a:xfrm>
            <a:off x="1920315" y="3128868"/>
            <a:ext cx="340427" cy="0"/>
          </a:xfrm>
          <a:prstGeom prst="straightConnector1">
            <a:avLst/>
          </a:prstGeom>
          <a:solidFill>
            <a:schemeClr val="accent1"/>
          </a:solidFill>
          <a:ln w="28575" cap="flat" cmpd="sng" algn="ctr">
            <a:solidFill>
              <a:schemeClr val="tx1"/>
            </a:solidFill>
            <a:prstDash val="solid"/>
            <a:round/>
            <a:headEnd type="none" w="med" len="med"/>
            <a:tailEnd type="triangle" w="lg" len="lg"/>
          </a:ln>
          <a:effectLst/>
        </p:spPr>
      </p:cxnSp>
      <p:cxnSp>
        <p:nvCxnSpPr>
          <p:cNvPr id="38" name="直線單箭頭接點 37">
            <a:extLst>
              <a:ext uri="{FF2B5EF4-FFF2-40B4-BE49-F238E27FC236}">
                <a16:creationId xmlns:a16="http://schemas.microsoft.com/office/drawing/2014/main" id="{A1B5C836-B35F-411C-3A55-72C4EDDB967E}"/>
              </a:ext>
            </a:extLst>
          </p:cNvPr>
          <p:cNvCxnSpPr>
            <a:cxnSpLocks/>
          </p:cNvCxnSpPr>
          <p:nvPr/>
        </p:nvCxnSpPr>
        <p:spPr bwMode="auto">
          <a:xfrm>
            <a:off x="3957657" y="3132479"/>
            <a:ext cx="340427" cy="0"/>
          </a:xfrm>
          <a:prstGeom prst="straightConnector1">
            <a:avLst/>
          </a:prstGeom>
          <a:solidFill>
            <a:schemeClr val="accent1"/>
          </a:solidFill>
          <a:ln w="28575" cap="flat" cmpd="sng" algn="ctr">
            <a:solidFill>
              <a:schemeClr val="tx1"/>
            </a:solidFill>
            <a:prstDash val="solid"/>
            <a:round/>
            <a:headEnd type="none" w="med" len="med"/>
            <a:tailEnd type="triangle" w="lg" len="lg"/>
          </a:ln>
          <a:effectLst/>
        </p:spPr>
      </p:cxnSp>
      <p:cxnSp>
        <p:nvCxnSpPr>
          <p:cNvPr id="39" name="直線單箭頭接點 38">
            <a:extLst>
              <a:ext uri="{FF2B5EF4-FFF2-40B4-BE49-F238E27FC236}">
                <a16:creationId xmlns:a16="http://schemas.microsoft.com/office/drawing/2014/main" id="{AD3F81FC-C33F-9777-293C-EEA9FF9FFAAE}"/>
              </a:ext>
            </a:extLst>
          </p:cNvPr>
          <p:cNvCxnSpPr>
            <a:cxnSpLocks/>
          </p:cNvCxnSpPr>
          <p:nvPr/>
        </p:nvCxnSpPr>
        <p:spPr bwMode="auto">
          <a:xfrm>
            <a:off x="6157689" y="3128868"/>
            <a:ext cx="340427" cy="0"/>
          </a:xfrm>
          <a:prstGeom prst="straightConnector1">
            <a:avLst/>
          </a:prstGeom>
          <a:solidFill>
            <a:schemeClr val="accent1"/>
          </a:solidFill>
          <a:ln w="28575" cap="flat" cmpd="sng" algn="ctr">
            <a:solidFill>
              <a:schemeClr val="tx1"/>
            </a:solidFill>
            <a:prstDash val="solid"/>
            <a:round/>
            <a:headEnd type="none" w="med" len="med"/>
            <a:tailEnd type="triangle" w="lg" len="lg"/>
          </a:ln>
          <a:effectLst/>
        </p:spPr>
      </p:cxnSp>
      <p:cxnSp>
        <p:nvCxnSpPr>
          <p:cNvPr id="40" name="直線單箭頭接點 39">
            <a:extLst>
              <a:ext uri="{FF2B5EF4-FFF2-40B4-BE49-F238E27FC236}">
                <a16:creationId xmlns:a16="http://schemas.microsoft.com/office/drawing/2014/main" id="{9D77601C-3211-D2CE-EE9B-8DC7A1139E01}"/>
              </a:ext>
            </a:extLst>
          </p:cNvPr>
          <p:cNvCxnSpPr>
            <a:cxnSpLocks/>
          </p:cNvCxnSpPr>
          <p:nvPr/>
        </p:nvCxnSpPr>
        <p:spPr bwMode="auto">
          <a:xfrm>
            <a:off x="8039580" y="3165584"/>
            <a:ext cx="340427" cy="0"/>
          </a:xfrm>
          <a:prstGeom prst="straightConnector1">
            <a:avLst/>
          </a:prstGeom>
          <a:solidFill>
            <a:schemeClr val="accent1"/>
          </a:solidFill>
          <a:ln w="28575" cap="flat" cmpd="sng" algn="ctr">
            <a:solidFill>
              <a:schemeClr val="tx1"/>
            </a:solidFill>
            <a:prstDash val="solid"/>
            <a:round/>
            <a:headEnd type="none" w="med" len="med"/>
            <a:tailEnd type="triangle" w="lg" len="lg"/>
          </a:ln>
          <a:effectLst/>
        </p:spPr>
      </p:cxnSp>
      <p:cxnSp>
        <p:nvCxnSpPr>
          <p:cNvPr id="41" name="直線單箭頭接點 40">
            <a:extLst>
              <a:ext uri="{FF2B5EF4-FFF2-40B4-BE49-F238E27FC236}">
                <a16:creationId xmlns:a16="http://schemas.microsoft.com/office/drawing/2014/main" id="{57559159-E203-7585-77C9-9EFDCF00443D}"/>
              </a:ext>
            </a:extLst>
          </p:cNvPr>
          <p:cNvCxnSpPr>
            <a:cxnSpLocks/>
          </p:cNvCxnSpPr>
          <p:nvPr/>
        </p:nvCxnSpPr>
        <p:spPr bwMode="auto">
          <a:xfrm>
            <a:off x="1890204" y="2238076"/>
            <a:ext cx="340427" cy="0"/>
          </a:xfrm>
          <a:prstGeom prst="straightConnector1">
            <a:avLst/>
          </a:prstGeom>
          <a:solidFill>
            <a:schemeClr val="accent1"/>
          </a:solidFill>
          <a:ln w="28575" cap="flat" cmpd="sng" algn="ctr">
            <a:solidFill>
              <a:schemeClr val="tx1"/>
            </a:solidFill>
            <a:prstDash val="solid"/>
            <a:round/>
            <a:headEnd type="none" w="med" len="med"/>
            <a:tailEnd type="triangle" w="lg" len="lg"/>
          </a:ln>
          <a:effectLst/>
        </p:spPr>
      </p:cxnSp>
      <p:cxnSp>
        <p:nvCxnSpPr>
          <p:cNvPr id="42" name="直線單箭頭接點 41">
            <a:extLst>
              <a:ext uri="{FF2B5EF4-FFF2-40B4-BE49-F238E27FC236}">
                <a16:creationId xmlns:a16="http://schemas.microsoft.com/office/drawing/2014/main" id="{093D9105-EED0-046E-8527-C447376AD37F}"/>
              </a:ext>
            </a:extLst>
          </p:cNvPr>
          <p:cNvCxnSpPr>
            <a:cxnSpLocks/>
          </p:cNvCxnSpPr>
          <p:nvPr/>
        </p:nvCxnSpPr>
        <p:spPr bwMode="auto">
          <a:xfrm>
            <a:off x="3551386" y="2238076"/>
            <a:ext cx="511735" cy="0"/>
          </a:xfrm>
          <a:prstGeom prst="straightConnector1">
            <a:avLst/>
          </a:prstGeom>
          <a:solidFill>
            <a:schemeClr val="accent1"/>
          </a:solidFill>
          <a:ln w="28575" cap="flat" cmpd="sng" algn="ctr">
            <a:solidFill>
              <a:schemeClr val="tx1"/>
            </a:solidFill>
            <a:prstDash val="solid"/>
            <a:round/>
            <a:headEnd type="none" w="med" len="med"/>
            <a:tailEnd type="none" w="lg" len="lg"/>
          </a:ln>
          <a:effectLst/>
        </p:spPr>
      </p:cxnSp>
      <p:cxnSp>
        <p:nvCxnSpPr>
          <p:cNvPr id="46" name="直線單箭頭接點 45">
            <a:extLst>
              <a:ext uri="{FF2B5EF4-FFF2-40B4-BE49-F238E27FC236}">
                <a16:creationId xmlns:a16="http://schemas.microsoft.com/office/drawing/2014/main" id="{22400FD7-585F-B3C8-5A70-76A45A90CB6E}"/>
              </a:ext>
            </a:extLst>
          </p:cNvPr>
          <p:cNvCxnSpPr>
            <a:cxnSpLocks/>
          </p:cNvCxnSpPr>
          <p:nvPr/>
        </p:nvCxnSpPr>
        <p:spPr bwMode="auto">
          <a:xfrm flipV="1">
            <a:off x="4066124" y="2238076"/>
            <a:ext cx="0" cy="890792"/>
          </a:xfrm>
          <a:prstGeom prst="straightConnector1">
            <a:avLst/>
          </a:prstGeom>
          <a:solidFill>
            <a:schemeClr val="accent1"/>
          </a:solidFill>
          <a:ln w="28575" cap="flat" cmpd="sng" algn="ctr">
            <a:solidFill>
              <a:schemeClr val="tx1"/>
            </a:solidFill>
            <a:prstDash val="solid"/>
            <a:round/>
            <a:headEnd type="none" w="med" len="med"/>
            <a:tailEnd type="none" w="lg" len="lg"/>
          </a:ln>
          <a:effectLst/>
        </p:spPr>
      </p:cxnSp>
      <p:cxnSp>
        <p:nvCxnSpPr>
          <p:cNvPr id="49" name="直線單箭頭接點 48">
            <a:extLst>
              <a:ext uri="{FF2B5EF4-FFF2-40B4-BE49-F238E27FC236}">
                <a16:creationId xmlns:a16="http://schemas.microsoft.com/office/drawing/2014/main" id="{3F3D9DC9-D018-7830-CB8A-DA3B409B40B5}"/>
              </a:ext>
            </a:extLst>
          </p:cNvPr>
          <p:cNvCxnSpPr>
            <a:cxnSpLocks/>
          </p:cNvCxnSpPr>
          <p:nvPr/>
        </p:nvCxnSpPr>
        <p:spPr bwMode="auto">
          <a:xfrm>
            <a:off x="9976653" y="3213180"/>
            <a:ext cx="270434" cy="0"/>
          </a:xfrm>
          <a:prstGeom prst="straightConnector1">
            <a:avLst/>
          </a:prstGeom>
          <a:solidFill>
            <a:schemeClr val="accent1"/>
          </a:solidFill>
          <a:ln w="28575" cap="flat" cmpd="sng" algn="ctr">
            <a:solidFill>
              <a:schemeClr val="tx1"/>
            </a:solidFill>
            <a:prstDash val="solid"/>
            <a:round/>
            <a:headEnd type="none" w="med" len="med"/>
            <a:tailEnd type="none" w="lg" len="lg"/>
          </a:ln>
          <a:effectLst/>
        </p:spPr>
      </p:cxnSp>
      <p:cxnSp>
        <p:nvCxnSpPr>
          <p:cNvPr id="50" name="直線單箭頭接點 49">
            <a:extLst>
              <a:ext uri="{FF2B5EF4-FFF2-40B4-BE49-F238E27FC236}">
                <a16:creationId xmlns:a16="http://schemas.microsoft.com/office/drawing/2014/main" id="{B570FBC9-4075-CC39-F50F-2577F775E0AC}"/>
              </a:ext>
            </a:extLst>
          </p:cNvPr>
          <p:cNvCxnSpPr>
            <a:cxnSpLocks/>
          </p:cNvCxnSpPr>
          <p:nvPr/>
        </p:nvCxnSpPr>
        <p:spPr bwMode="auto">
          <a:xfrm flipV="1">
            <a:off x="10249505" y="3208494"/>
            <a:ext cx="0" cy="1114396"/>
          </a:xfrm>
          <a:prstGeom prst="straightConnector1">
            <a:avLst/>
          </a:prstGeom>
          <a:solidFill>
            <a:schemeClr val="accent1"/>
          </a:solidFill>
          <a:ln w="28575" cap="flat" cmpd="sng" algn="ctr">
            <a:solidFill>
              <a:schemeClr val="tx1"/>
            </a:solidFill>
            <a:prstDash val="solid"/>
            <a:round/>
            <a:headEnd type="none" w="med" len="med"/>
            <a:tailEnd type="none" w="lg" len="lg"/>
          </a:ln>
          <a:effectLst/>
        </p:spPr>
      </p:cxnSp>
      <p:cxnSp>
        <p:nvCxnSpPr>
          <p:cNvPr id="52" name="直線單箭頭接點 51">
            <a:extLst>
              <a:ext uri="{FF2B5EF4-FFF2-40B4-BE49-F238E27FC236}">
                <a16:creationId xmlns:a16="http://schemas.microsoft.com/office/drawing/2014/main" id="{C82705F6-E7D8-999D-0202-A798006BB30F}"/>
              </a:ext>
            </a:extLst>
          </p:cNvPr>
          <p:cNvCxnSpPr>
            <a:cxnSpLocks/>
          </p:cNvCxnSpPr>
          <p:nvPr/>
        </p:nvCxnSpPr>
        <p:spPr bwMode="auto">
          <a:xfrm>
            <a:off x="9950434" y="4327338"/>
            <a:ext cx="270434" cy="0"/>
          </a:xfrm>
          <a:prstGeom prst="straightConnector1">
            <a:avLst/>
          </a:prstGeom>
          <a:solidFill>
            <a:schemeClr val="accent1"/>
          </a:solidFill>
          <a:ln w="28575" cap="flat" cmpd="sng" algn="ctr">
            <a:solidFill>
              <a:schemeClr val="tx1"/>
            </a:solidFill>
            <a:prstDash val="solid"/>
            <a:round/>
            <a:headEnd type="none" w="med" len="med"/>
            <a:tailEnd type="none" w="lg" len="lg"/>
          </a:ln>
          <a:effectLst/>
        </p:spPr>
      </p:cxnSp>
      <p:cxnSp>
        <p:nvCxnSpPr>
          <p:cNvPr id="54" name="直線單箭頭接點 53">
            <a:extLst>
              <a:ext uri="{FF2B5EF4-FFF2-40B4-BE49-F238E27FC236}">
                <a16:creationId xmlns:a16="http://schemas.microsoft.com/office/drawing/2014/main" id="{4B53221E-0E41-856C-0FCE-61AC7C888517}"/>
              </a:ext>
            </a:extLst>
          </p:cNvPr>
          <p:cNvCxnSpPr>
            <a:cxnSpLocks/>
          </p:cNvCxnSpPr>
          <p:nvPr/>
        </p:nvCxnSpPr>
        <p:spPr bwMode="auto">
          <a:xfrm>
            <a:off x="10249505" y="3729194"/>
            <a:ext cx="340427" cy="0"/>
          </a:xfrm>
          <a:prstGeom prst="straightConnector1">
            <a:avLst/>
          </a:prstGeom>
          <a:solidFill>
            <a:schemeClr val="accent1"/>
          </a:solidFill>
          <a:ln w="28575" cap="flat" cmpd="sng" algn="ctr">
            <a:solidFill>
              <a:schemeClr val="tx1"/>
            </a:solidFill>
            <a:prstDash val="solid"/>
            <a:round/>
            <a:headEnd type="none" w="med" len="med"/>
            <a:tailEnd type="triangle" w="lg" len="lg"/>
          </a:ln>
          <a:effectLst/>
        </p:spPr>
      </p:cxnSp>
      <p:sp>
        <p:nvSpPr>
          <p:cNvPr id="55" name="流程圖: 替代程序 54">
            <a:extLst>
              <a:ext uri="{FF2B5EF4-FFF2-40B4-BE49-F238E27FC236}">
                <a16:creationId xmlns:a16="http://schemas.microsoft.com/office/drawing/2014/main" id="{7B60D108-D922-6F64-212F-2A184659EAE5}"/>
              </a:ext>
            </a:extLst>
          </p:cNvPr>
          <p:cNvSpPr/>
          <p:nvPr/>
        </p:nvSpPr>
        <p:spPr bwMode="auto">
          <a:xfrm>
            <a:off x="10591210" y="3349902"/>
            <a:ext cx="1471600" cy="765809"/>
          </a:xfrm>
          <a:prstGeom prst="flowChartAlternateProcess">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dirty="0">
              <a:ln>
                <a:noFill/>
              </a:ln>
              <a:solidFill>
                <a:schemeClr val="tx1"/>
              </a:solidFill>
              <a:effectLst/>
              <a:latin typeface="Arial" charset="0"/>
              <a:ea typeface="新細明體" pitchFamily="18" charset="-120"/>
            </a:endParaRPr>
          </a:p>
        </p:txBody>
      </p:sp>
      <p:sp>
        <p:nvSpPr>
          <p:cNvPr id="56" name="文字方塊 55">
            <a:extLst>
              <a:ext uri="{FF2B5EF4-FFF2-40B4-BE49-F238E27FC236}">
                <a16:creationId xmlns:a16="http://schemas.microsoft.com/office/drawing/2014/main" id="{8B3AB1B5-891D-69CA-196A-0810226366D1}"/>
              </a:ext>
            </a:extLst>
          </p:cNvPr>
          <p:cNvSpPr txBox="1"/>
          <p:nvPr/>
        </p:nvSpPr>
        <p:spPr>
          <a:xfrm>
            <a:off x="10679463" y="3408566"/>
            <a:ext cx="1338828" cy="646331"/>
          </a:xfrm>
          <a:prstGeom prst="rect">
            <a:avLst/>
          </a:prstGeom>
          <a:noFill/>
        </p:spPr>
        <p:txBody>
          <a:bodyPr wrap="none" rtlCol="0">
            <a:spAutoFit/>
          </a:bodyPr>
          <a:lstStyle/>
          <a:p>
            <a:pPr algn="ctr"/>
            <a:r>
              <a:rPr lang="zh-TW" altLang="en-US" dirty="0">
                <a:latin typeface="+mj-ea"/>
                <a:ea typeface="+mj-ea"/>
              </a:rPr>
              <a:t>資料擷取與</a:t>
            </a:r>
            <a:endParaRPr lang="en-US" altLang="zh-TW" dirty="0">
              <a:latin typeface="+mj-ea"/>
              <a:ea typeface="+mj-ea"/>
            </a:endParaRPr>
          </a:p>
          <a:p>
            <a:pPr algn="ctr"/>
            <a:r>
              <a:rPr lang="zh-TW" altLang="en-US" dirty="0">
                <a:latin typeface="+mj-ea"/>
                <a:ea typeface="+mj-ea"/>
              </a:rPr>
              <a:t>模型擬合</a:t>
            </a:r>
          </a:p>
        </p:txBody>
      </p:sp>
      <p:cxnSp>
        <p:nvCxnSpPr>
          <p:cNvPr id="57" name="直線單箭頭接點 56">
            <a:extLst>
              <a:ext uri="{FF2B5EF4-FFF2-40B4-BE49-F238E27FC236}">
                <a16:creationId xmlns:a16="http://schemas.microsoft.com/office/drawing/2014/main" id="{CBBDCEB5-4457-C653-0F4D-F18C3D0ADD09}"/>
              </a:ext>
            </a:extLst>
          </p:cNvPr>
          <p:cNvCxnSpPr>
            <a:cxnSpLocks/>
          </p:cNvCxnSpPr>
          <p:nvPr/>
        </p:nvCxnSpPr>
        <p:spPr bwMode="auto">
          <a:xfrm>
            <a:off x="11333780" y="4113561"/>
            <a:ext cx="0" cy="636606"/>
          </a:xfrm>
          <a:prstGeom prst="straightConnector1">
            <a:avLst/>
          </a:prstGeom>
          <a:solidFill>
            <a:schemeClr val="accent1"/>
          </a:solidFill>
          <a:ln w="28575" cap="flat" cmpd="sng" algn="ctr">
            <a:solidFill>
              <a:schemeClr val="tx1"/>
            </a:solidFill>
            <a:prstDash val="solid"/>
            <a:round/>
            <a:headEnd type="none" w="med" len="med"/>
            <a:tailEnd type="triangle" w="lg" len="lg"/>
          </a:ln>
          <a:effectLst/>
        </p:spPr>
      </p:cxnSp>
      <p:sp>
        <p:nvSpPr>
          <p:cNvPr id="59" name="流程圖: 替代程序 58">
            <a:extLst>
              <a:ext uri="{FF2B5EF4-FFF2-40B4-BE49-F238E27FC236}">
                <a16:creationId xmlns:a16="http://schemas.microsoft.com/office/drawing/2014/main" id="{9957A96A-17FF-0951-2731-0D0AD2842BD0}"/>
              </a:ext>
            </a:extLst>
          </p:cNvPr>
          <p:cNvSpPr/>
          <p:nvPr/>
        </p:nvSpPr>
        <p:spPr bwMode="auto">
          <a:xfrm>
            <a:off x="10592935" y="4734264"/>
            <a:ext cx="1394246" cy="765809"/>
          </a:xfrm>
          <a:prstGeom prst="flowChartAlternateProcess">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dirty="0">
              <a:ln>
                <a:noFill/>
              </a:ln>
              <a:solidFill>
                <a:schemeClr val="tx1"/>
              </a:solidFill>
              <a:effectLst/>
              <a:latin typeface="Arial" charset="0"/>
              <a:ea typeface="新細明體" pitchFamily="18" charset="-120"/>
            </a:endParaRPr>
          </a:p>
        </p:txBody>
      </p:sp>
      <p:sp>
        <p:nvSpPr>
          <p:cNvPr id="60" name="文字方塊 59">
            <a:extLst>
              <a:ext uri="{FF2B5EF4-FFF2-40B4-BE49-F238E27FC236}">
                <a16:creationId xmlns:a16="http://schemas.microsoft.com/office/drawing/2014/main" id="{3818B1A4-1221-BD21-D3AD-1ACB0962C89B}"/>
              </a:ext>
            </a:extLst>
          </p:cNvPr>
          <p:cNvSpPr txBox="1"/>
          <p:nvPr/>
        </p:nvSpPr>
        <p:spPr>
          <a:xfrm>
            <a:off x="10764278" y="4940454"/>
            <a:ext cx="1107996" cy="369332"/>
          </a:xfrm>
          <a:prstGeom prst="rect">
            <a:avLst/>
          </a:prstGeom>
          <a:noFill/>
        </p:spPr>
        <p:txBody>
          <a:bodyPr wrap="none" rtlCol="0">
            <a:spAutoFit/>
          </a:bodyPr>
          <a:lstStyle/>
          <a:p>
            <a:pPr algn="ctr"/>
            <a:r>
              <a:rPr lang="zh-TW" altLang="en-US" dirty="0">
                <a:latin typeface="+mj-ea"/>
                <a:ea typeface="+mj-ea"/>
              </a:rPr>
              <a:t>成果產出</a:t>
            </a:r>
          </a:p>
        </p:txBody>
      </p:sp>
      <p:sp>
        <p:nvSpPr>
          <p:cNvPr id="61" name="矩形 60">
            <a:extLst>
              <a:ext uri="{FF2B5EF4-FFF2-40B4-BE49-F238E27FC236}">
                <a16:creationId xmlns:a16="http://schemas.microsoft.com/office/drawing/2014/main" id="{CFB1920F-4ADE-15CB-0CD3-501FABE3E2D9}"/>
              </a:ext>
            </a:extLst>
          </p:cNvPr>
          <p:cNvSpPr/>
          <p:nvPr/>
        </p:nvSpPr>
        <p:spPr bwMode="auto">
          <a:xfrm>
            <a:off x="272508" y="1655578"/>
            <a:ext cx="9861825" cy="2097786"/>
          </a:xfrm>
          <a:prstGeom prst="rect">
            <a:avLst/>
          </a:prstGeom>
          <a:noFill/>
          <a:ln w="28575" cap="flat" cmpd="sng" algn="ctr">
            <a:solidFill>
              <a:schemeClr val="accent1">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dirty="0">
              <a:ln>
                <a:noFill/>
              </a:ln>
              <a:solidFill>
                <a:schemeClr val="tx1"/>
              </a:solidFill>
              <a:effectLst/>
              <a:latin typeface="Arial" charset="0"/>
              <a:ea typeface="新細明體" pitchFamily="18" charset="-120"/>
            </a:endParaRPr>
          </a:p>
        </p:txBody>
      </p:sp>
      <p:sp>
        <p:nvSpPr>
          <p:cNvPr id="63" name="文字方塊 62">
            <a:extLst>
              <a:ext uri="{FF2B5EF4-FFF2-40B4-BE49-F238E27FC236}">
                <a16:creationId xmlns:a16="http://schemas.microsoft.com/office/drawing/2014/main" id="{20348410-F058-AE8C-EF00-53C18B66BCFE}"/>
              </a:ext>
            </a:extLst>
          </p:cNvPr>
          <p:cNvSpPr txBox="1"/>
          <p:nvPr/>
        </p:nvSpPr>
        <p:spPr>
          <a:xfrm>
            <a:off x="4305712" y="1136262"/>
            <a:ext cx="1761052" cy="461665"/>
          </a:xfrm>
          <a:prstGeom prst="rect">
            <a:avLst/>
          </a:prstGeom>
          <a:noFill/>
        </p:spPr>
        <p:txBody>
          <a:bodyPr wrap="square">
            <a:spAutoFit/>
          </a:bodyPr>
          <a:lstStyle/>
          <a:p>
            <a:r>
              <a:rPr lang="zh-TW" altLang="en-US" sz="2400" b="1" dirty="0">
                <a:solidFill>
                  <a:srgbClr val="00B2B3"/>
                </a:solidFill>
                <a:latin typeface="+mj-ea"/>
                <a:ea typeface="+mj-ea"/>
              </a:rPr>
              <a:t>量測中心</a:t>
            </a:r>
          </a:p>
        </p:txBody>
      </p:sp>
      <p:sp>
        <p:nvSpPr>
          <p:cNvPr id="64" name="矩形 63">
            <a:extLst>
              <a:ext uri="{FF2B5EF4-FFF2-40B4-BE49-F238E27FC236}">
                <a16:creationId xmlns:a16="http://schemas.microsoft.com/office/drawing/2014/main" id="{681A23FD-2C32-5A4E-0F8C-9F3F05D23C4B}"/>
              </a:ext>
            </a:extLst>
          </p:cNvPr>
          <p:cNvSpPr/>
          <p:nvPr/>
        </p:nvSpPr>
        <p:spPr bwMode="auto">
          <a:xfrm>
            <a:off x="272508" y="3868666"/>
            <a:ext cx="9827461" cy="1085455"/>
          </a:xfrm>
          <a:prstGeom prst="rect">
            <a:avLst/>
          </a:prstGeom>
          <a:no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dirty="0">
              <a:ln>
                <a:noFill/>
              </a:ln>
              <a:solidFill>
                <a:schemeClr val="tx1"/>
              </a:solidFill>
              <a:effectLst/>
              <a:latin typeface="Arial" charset="0"/>
              <a:ea typeface="新細明體" pitchFamily="18" charset="-120"/>
            </a:endParaRPr>
          </a:p>
        </p:txBody>
      </p:sp>
      <p:sp>
        <p:nvSpPr>
          <p:cNvPr id="65" name="文字方塊 64">
            <a:extLst>
              <a:ext uri="{FF2B5EF4-FFF2-40B4-BE49-F238E27FC236}">
                <a16:creationId xmlns:a16="http://schemas.microsoft.com/office/drawing/2014/main" id="{60DD2137-7758-ECDD-E7FA-2C39A60CB26B}"/>
              </a:ext>
            </a:extLst>
          </p:cNvPr>
          <p:cNvSpPr txBox="1"/>
          <p:nvPr/>
        </p:nvSpPr>
        <p:spPr>
          <a:xfrm>
            <a:off x="4566806" y="5013859"/>
            <a:ext cx="1238864" cy="461665"/>
          </a:xfrm>
          <a:prstGeom prst="rect">
            <a:avLst/>
          </a:prstGeom>
          <a:noFill/>
        </p:spPr>
        <p:txBody>
          <a:bodyPr wrap="square">
            <a:spAutoFit/>
          </a:bodyPr>
          <a:lstStyle/>
          <a:p>
            <a:r>
              <a:rPr lang="zh-TW" altLang="en-US" sz="2400" b="1" dirty="0">
                <a:solidFill>
                  <a:srgbClr val="C00000"/>
                </a:solidFill>
                <a:latin typeface="+mj-ea"/>
                <a:ea typeface="+mj-ea"/>
              </a:rPr>
              <a:t>電光所</a:t>
            </a:r>
          </a:p>
        </p:txBody>
      </p:sp>
    </p:spTree>
    <p:extLst>
      <p:ext uri="{BB962C8B-B14F-4D97-AF65-F5344CB8AC3E}">
        <p14:creationId xmlns:p14="http://schemas.microsoft.com/office/powerpoint/2010/main" val="26186392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80263" y="168205"/>
            <a:ext cx="11045923" cy="941580"/>
          </a:xfrm>
        </p:spPr>
        <p:txBody>
          <a:bodyPr/>
          <a:lstStyle/>
          <a:p>
            <a:pPr>
              <a:spcBef>
                <a:spcPts val="1800"/>
              </a:spcBef>
            </a:pPr>
            <a:r>
              <a:rPr lang="zh-TW" altLang="en-US" sz="3600" dirty="0"/>
              <a:t>低溫系統</a:t>
            </a:r>
            <a:r>
              <a:rPr lang="en-US" altLang="zh-TW" sz="3600" dirty="0"/>
              <a:t>Benchmark </a:t>
            </a:r>
            <a:r>
              <a:rPr lang="zh-TW" altLang="en-US" sz="3600" dirty="0"/>
              <a:t>比較及競爭性分析</a:t>
            </a:r>
          </a:p>
        </p:txBody>
      </p:sp>
      <p:sp>
        <p:nvSpPr>
          <p:cNvPr id="8" name="投影片編號版面配置區 1">
            <a:extLst>
              <a:ext uri="{FF2B5EF4-FFF2-40B4-BE49-F238E27FC236}">
                <a16:creationId xmlns:a16="http://schemas.microsoft.com/office/drawing/2014/main" id="{8BB46DA0-6B9F-4123-AB91-2EF9302440FD}"/>
              </a:ext>
            </a:extLst>
          </p:cNvPr>
          <p:cNvSpPr txBox="1">
            <a:spLocks/>
          </p:cNvSpPr>
          <p:nvPr/>
        </p:nvSpPr>
        <p:spPr bwMode="auto">
          <a:xfrm>
            <a:off x="11430000" y="6619875"/>
            <a:ext cx="762000" cy="238125"/>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zh-TW"/>
            </a:defPPr>
            <a:lvl1pPr algn="r" rtl="0" eaLnBrk="1" fontAlgn="ctr" hangingPunct="1">
              <a:spcBef>
                <a:spcPct val="0"/>
              </a:spcBef>
              <a:spcAft>
                <a:spcPct val="0"/>
              </a:spcAft>
              <a:defRPr kumimoji="1" sz="1200" kern="1200">
                <a:solidFill>
                  <a:schemeClr val="tx1"/>
                </a:solidFill>
                <a:latin typeface="Arial" panose="020B0604020202020204" pitchFamily="34" charset="0"/>
                <a:ea typeface="新細明體" panose="02020500000000000000" pitchFamily="18" charset="-120"/>
                <a:cs typeface="+mn-cs"/>
              </a:defRPr>
            </a:lvl1pPr>
            <a:lvl2pPr marL="742950" indent="-28575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2pPr>
            <a:lvl3pPr marL="1143000" indent="-2286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3pPr>
            <a:lvl4pPr marL="1600200" indent="-2286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4pPr>
            <a:lvl5pPr marL="2057400" indent="-2286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9pPr>
          </a:lstStyle>
          <a:p>
            <a:fld id="{49A9212D-6406-4E12-8CC4-78DDFE99027F}" type="slidenum">
              <a:rPr lang="en-US" altLang="zh-TW" smtClean="0">
                <a:solidFill>
                  <a:schemeClr val="bg1"/>
                </a:solidFill>
                <a:ea typeface="微軟正黑體" panose="020B0604030504040204" pitchFamily="34" charset="-120"/>
              </a:rPr>
              <a:pPr/>
              <a:t>9</a:t>
            </a:fld>
            <a:endParaRPr lang="en-US" altLang="zh-TW">
              <a:solidFill>
                <a:schemeClr val="bg1"/>
              </a:solidFill>
              <a:ea typeface="微軟正黑體" panose="020B0604030504040204" pitchFamily="34" charset="-120"/>
            </a:endParaRPr>
          </a:p>
        </p:txBody>
      </p:sp>
      <p:graphicFrame>
        <p:nvGraphicFramePr>
          <p:cNvPr id="30" name="表格 29">
            <a:extLst>
              <a:ext uri="{FF2B5EF4-FFF2-40B4-BE49-F238E27FC236}">
                <a16:creationId xmlns:a16="http://schemas.microsoft.com/office/drawing/2014/main" id="{72AAD435-4BA2-41AA-B43A-5003F0FE1706}"/>
              </a:ext>
            </a:extLst>
          </p:cNvPr>
          <p:cNvGraphicFramePr>
            <a:graphicFrameLocks noGrp="1"/>
          </p:cNvGraphicFramePr>
          <p:nvPr>
            <p:extLst>
              <p:ext uri="{D42A27DB-BD31-4B8C-83A1-F6EECF244321}">
                <p14:modId xmlns:p14="http://schemas.microsoft.com/office/powerpoint/2010/main" val="2983108574"/>
              </p:ext>
            </p:extLst>
          </p:nvPr>
        </p:nvGraphicFramePr>
        <p:xfrm>
          <a:off x="767644" y="970122"/>
          <a:ext cx="10646088" cy="4917756"/>
        </p:xfrm>
        <a:graphic>
          <a:graphicData uri="http://schemas.openxmlformats.org/drawingml/2006/table">
            <a:tbl>
              <a:tblPr/>
              <a:tblGrid>
                <a:gridCol w="2244497">
                  <a:extLst>
                    <a:ext uri="{9D8B030D-6E8A-4147-A177-3AD203B41FA5}">
                      <a16:colId xmlns:a16="http://schemas.microsoft.com/office/drawing/2014/main" val="2347376676"/>
                    </a:ext>
                  </a:extLst>
                </a:gridCol>
                <a:gridCol w="2145544">
                  <a:extLst>
                    <a:ext uri="{9D8B030D-6E8A-4147-A177-3AD203B41FA5}">
                      <a16:colId xmlns:a16="http://schemas.microsoft.com/office/drawing/2014/main" val="3929052764"/>
                    </a:ext>
                  </a:extLst>
                </a:gridCol>
                <a:gridCol w="3100252">
                  <a:extLst>
                    <a:ext uri="{9D8B030D-6E8A-4147-A177-3AD203B41FA5}">
                      <a16:colId xmlns:a16="http://schemas.microsoft.com/office/drawing/2014/main" val="2564619580"/>
                    </a:ext>
                  </a:extLst>
                </a:gridCol>
                <a:gridCol w="3155795">
                  <a:extLst>
                    <a:ext uri="{9D8B030D-6E8A-4147-A177-3AD203B41FA5}">
                      <a16:colId xmlns:a16="http://schemas.microsoft.com/office/drawing/2014/main" val="1348239919"/>
                    </a:ext>
                  </a:extLst>
                </a:gridCol>
              </a:tblGrid>
              <a:tr h="352425">
                <a:tc>
                  <a:txBody>
                    <a:bodyPr/>
                    <a:lstStyle/>
                    <a:p>
                      <a:pPr algn="ctr"/>
                      <a:r>
                        <a:rPr lang="zh-TW" altLang="en-US" sz="1800" b="1" dirty="0">
                          <a:solidFill>
                            <a:schemeClr val="bg1"/>
                          </a:solidFill>
                          <a:latin typeface="+mn-ea"/>
                          <a:ea typeface="+mn-ea"/>
                        </a:rPr>
                        <a:t>平台／系統</a:t>
                      </a:r>
                    </a:p>
                  </a:txBody>
                  <a:tcPr marL="88106" marR="88106" marT="44053" marB="440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a:r>
                        <a:rPr lang="zh-TW" altLang="en-US" sz="1800" b="1" dirty="0">
                          <a:solidFill>
                            <a:schemeClr val="bg1"/>
                          </a:solidFill>
                          <a:latin typeface="+mn-ea"/>
                          <a:ea typeface="+mn-ea"/>
                        </a:rPr>
                        <a:t>最低溫／低溫機制</a:t>
                      </a:r>
                    </a:p>
                  </a:txBody>
                  <a:tcPr marL="88106" marR="88106" marT="44053" marB="440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a:r>
                        <a:rPr lang="zh-TW" altLang="en-US" sz="1800" b="1" dirty="0">
                          <a:solidFill>
                            <a:schemeClr val="bg1"/>
                          </a:solidFill>
                          <a:latin typeface="+mn-ea"/>
                          <a:ea typeface="+mn-ea"/>
                        </a:rPr>
                        <a:t>主要能力／成本定位</a:t>
                      </a:r>
                    </a:p>
                  </a:txBody>
                  <a:tcPr marL="88106" marR="88106" marT="44053" marB="440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a:r>
                        <a:rPr lang="zh-TW" altLang="en-US" sz="1800" b="1" dirty="0">
                          <a:solidFill>
                            <a:schemeClr val="bg1"/>
                          </a:solidFill>
                          <a:latin typeface="+mn-ea"/>
                          <a:ea typeface="+mn-ea"/>
                        </a:rPr>
                        <a:t>與本案之比較</a:t>
                      </a:r>
                    </a:p>
                  </a:txBody>
                  <a:tcPr marL="88106" marR="88106" marT="44053" marB="440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939716523"/>
                  </a:ext>
                </a:extLst>
              </a:tr>
              <a:tr h="881062">
                <a:tc>
                  <a:txBody>
                    <a:bodyPr/>
                    <a:lstStyle/>
                    <a:p>
                      <a:r>
                        <a:rPr lang="en-US" sz="1800" b="0" dirty="0" err="1">
                          <a:latin typeface="+mn-ea"/>
                          <a:ea typeface="+mn-ea"/>
                        </a:rPr>
                        <a:t>Bluefors</a:t>
                      </a:r>
                      <a:r>
                        <a:rPr lang="en-US" sz="1800" b="0" dirty="0">
                          <a:latin typeface="+mn-ea"/>
                          <a:ea typeface="+mn-ea"/>
                        </a:rPr>
                        <a:t> DR</a:t>
                      </a:r>
                    </a:p>
                  </a:txBody>
                  <a:tcPr marL="88106" marR="88106" marT="44053" marB="440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mn-ea"/>
                          <a:ea typeface="+mn-ea"/>
                        </a:rPr>
                        <a:t>&lt;10 </a:t>
                      </a:r>
                      <a:r>
                        <a:rPr lang="en-US" sz="1800" dirty="0" err="1">
                          <a:latin typeface="+mn-ea"/>
                          <a:ea typeface="+mn-ea"/>
                        </a:rPr>
                        <a:t>mK</a:t>
                      </a:r>
                      <a:r>
                        <a:rPr lang="en-US" sz="1800" dirty="0">
                          <a:latin typeface="+mn-ea"/>
                          <a:ea typeface="+mn-ea"/>
                        </a:rPr>
                        <a:t>；</a:t>
                      </a:r>
                    </a:p>
                    <a:p>
                      <a:r>
                        <a:rPr lang="en-US" sz="1800" dirty="0">
                          <a:latin typeface="+mn-ea"/>
                          <a:ea typeface="+mn-ea"/>
                        </a:rPr>
                        <a:t>³He–⁴He </a:t>
                      </a:r>
                      <a:r>
                        <a:rPr lang="zh-TW" altLang="en-US" sz="1800" dirty="0">
                          <a:latin typeface="+mn-ea"/>
                          <a:ea typeface="+mn-ea"/>
                        </a:rPr>
                        <a:t>稀釋循環</a:t>
                      </a:r>
                    </a:p>
                  </a:txBody>
                  <a:tcPr marL="88106" marR="88106" marT="44053" marB="440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TW" altLang="en-US" sz="1800" dirty="0">
                          <a:latin typeface="+mn-ea"/>
                          <a:ea typeface="+mn-ea"/>
                        </a:rPr>
                        <a:t>連續 </a:t>
                      </a:r>
                      <a:r>
                        <a:rPr lang="en-US" altLang="zh-TW" sz="1800" dirty="0" err="1">
                          <a:latin typeface="+mn-ea"/>
                          <a:ea typeface="+mn-ea"/>
                        </a:rPr>
                        <a:t>mK</a:t>
                      </a:r>
                      <a:r>
                        <a:rPr lang="zh-TW" altLang="en-US" sz="1800" dirty="0">
                          <a:latin typeface="+mn-ea"/>
                          <a:ea typeface="+mn-ea"/>
                        </a:rPr>
                        <a:t>；</a:t>
                      </a:r>
                      <a:r>
                        <a:rPr lang="en-US" altLang="zh-TW" sz="1800" dirty="0">
                          <a:latin typeface="+mn-ea"/>
                          <a:ea typeface="+mn-ea"/>
                        </a:rPr>
                        <a:t>DC</a:t>
                      </a:r>
                      <a:r>
                        <a:rPr lang="zh-TW" altLang="en-US" sz="1800" dirty="0">
                          <a:latin typeface="+mn-ea"/>
                          <a:ea typeface="+mn-ea"/>
                        </a:rPr>
                        <a:t>／</a:t>
                      </a:r>
                      <a:r>
                        <a:rPr lang="en-US" altLang="zh-TW" sz="1800" dirty="0">
                          <a:latin typeface="+mn-ea"/>
                          <a:ea typeface="+mn-ea"/>
                        </a:rPr>
                        <a:t>RF </a:t>
                      </a:r>
                      <a:r>
                        <a:rPr lang="zh-TW" altLang="en-US" sz="1800" dirty="0">
                          <a:latin typeface="+mn-ea"/>
                          <a:ea typeface="+mn-ea"/>
                        </a:rPr>
                        <a:t>與大量配線；量子主機級；高複雜、高成本</a:t>
                      </a:r>
                    </a:p>
                  </a:txBody>
                  <a:tcPr marL="88106" marR="88106" marT="44053" marB="440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TW" altLang="en-US" sz="1800" dirty="0">
                          <a:latin typeface="+mn-ea"/>
                          <a:ea typeface="+mn-ea"/>
                        </a:rPr>
                        <a:t>溫度最低，但用於材料／元件量測屬過度配置</a:t>
                      </a:r>
                    </a:p>
                  </a:txBody>
                  <a:tcPr marL="88106" marR="88106" marT="44053" marB="440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86995911"/>
                  </a:ext>
                </a:extLst>
              </a:tr>
              <a:tr h="881062">
                <a:tc>
                  <a:txBody>
                    <a:bodyPr/>
                    <a:lstStyle/>
                    <a:p>
                      <a:r>
                        <a:rPr lang="en-US" sz="1800" b="0" dirty="0">
                          <a:latin typeface="+mn-ea"/>
                          <a:ea typeface="+mn-ea"/>
                        </a:rPr>
                        <a:t>Montana </a:t>
                      </a:r>
                      <a:r>
                        <a:rPr lang="en-US" sz="1800" b="0" dirty="0" err="1">
                          <a:latin typeface="+mn-ea"/>
                          <a:ea typeface="+mn-ea"/>
                        </a:rPr>
                        <a:t>OneK</a:t>
                      </a:r>
                      <a:r>
                        <a:rPr lang="en-US" sz="1800" b="0" dirty="0">
                          <a:latin typeface="+mn-ea"/>
                          <a:ea typeface="+mn-ea"/>
                        </a:rPr>
                        <a:t>-Optic</a:t>
                      </a:r>
                    </a:p>
                  </a:txBody>
                  <a:tcPr marL="88106" marR="88106" marT="44053" marB="440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altLang="zh-TW" sz="1800" dirty="0">
                          <a:latin typeface="+mn-ea"/>
                          <a:ea typeface="+mn-ea"/>
                        </a:rPr>
                        <a:t>1.2 K</a:t>
                      </a:r>
                      <a:r>
                        <a:rPr lang="zh-TW" altLang="en-US" sz="1800" dirty="0">
                          <a:latin typeface="+mn-ea"/>
                          <a:ea typeface="+mn-ea"/>
                        </a:rPr>
                        <a:t>；</a:t>
                      </a:r>
                      <a:endParaRPr lang="en-US" altLang="zh-TW" sz="1800" dirty="0">
                        <a:latin typeface="+mn-ea"/>
                        <a:ea typeface="+mn-ea"/>
                      </a:endParaRPr>
                    </a:p>
                    <a:p>
                      <a:r>
                        <a:rPr lang="zh-TW" altLang="en-US" sz="1800" dirty="0">
                          <a:latin typeface="+mn-ea"/>
                          <a:ea typeface="+mn-ea"/>
                        </a:rPr>
                        <a:t>閉循環模組</a:t>
                      </a:r>
                    </a:p>
                  </a:txBody>
                  <a:tcPr marL="88106" marR="88106" marT="44053" marB="440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1800" dirty="0">
                          <a:latin typeface="+mn-ea"/>
                          <a:ea typeface="+mn-ea"/>
                        </a:rPr>
                        <a:t>&gt;8 h @1.2 K、200 </a:t>
                      </a:r>
                      <a:r>
                        <a:rPr lang="el-GR" sz="1800" dirty="0">
                          <a:latin typeface="+mn-ea"/>
                          <a:ea typeface="+mn-ea"/>
                        </a:rPr>
                        <a:t>μ</a:t>
                      </a:r>
                      <a:r>
                        <a:rPr lang="en-US" sz="1800" dirty="0">
                          <a:latin typeface="+mn-ea"/>
                          <a:ea typeface="+mn-ea"/>
                        </a:rPr>
                        <a:t>W；</a:t>
                      </a:r>
                    </a:p>
                    <a:p>
                      <a:r>
                        <a:rPr lang="zh-TW" altLang="en-US" sz="1800" dirty="0">
                          <a:latin typeface="+mn-ea"/>
                          <a:ea typeface="+mn-ea"/>
                        </a:rPr>
                        <a:t>光學＋</a:t>
                      </a:r>
                      <a:r>
                        <a:rPr lang="en-US" sz="1800" dirty="0">
                          <a:latin typeface="+mn-ea"/>
                          <a:ea typeface="+mn-ea"/>
                        </a:rPr>
                        <a:t>DC＋RF</a:t>
                      </a:r>
                    </a:p>
                  </a:txBody>
                  <a:tcPr marL="88106" marR="88106" marT="44053" marB="440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zh-TW" altLang="en-US" sz="1800" dirty="0">
                          <a:latin typeface="+mn-ea"/>
                          <a:ea typeface="+mn-ea"/>
                        </a:rPr>
                        <a:t>低溫光學成熟；未整合跨溫尺寸不確定度與「實測幾何→模型」資料鏈</a:t>
                      </a:r>
                    </a:p>
                  </a:txBody>
                  <a:tcPr marL="88106" marR="88106" marT="44053" marB="440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563497735"/>
                  </a:ext>
                </a:extLst>
              </a:tr>
              <a:tr h="881062">
                <a:tc>
                  <a:txBody>
                    <a:bodyPr/>
                    <a:lstStyle/>
                    <a:p>
                      <a:r>
                        <a:rPr lang="en-US" sz="1800" b="0" dirty="0" err="1">
                          <a:latin typeface="+mn-ea"/>
                          <a:ea typeface="+mn-ea"/>
                        </a:rPr>
                        <a:t>FormFactor</a:t>
                      </a:r>
                      <a:r>
                        <a:rPr lang="en-US" sz="1800" b="0" dirty="0">
                          <a:latin typeface="+mn-ea"/>
                          <a:ea typeface="+mn-ea"/>
                        </a:rPr>
                        <a:t> IQ3000</a:t>
                      </a:r>
                    </a:p>
                  </a:txBody>
                  <a:tcPr marL="88106" marR="88106" marT="44053" marB="440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800" dirty="0">
                          <a:latin typeface="+mn-ea"/>
                          <a:ea typeface="+mn-ea"/>
                        </a:rPr>
                        <a:t>&lt;4.5 K</a:t>
                      </a:r>
                      <a:r>
                        <a:rPr lang="zh-TW" altLang="en-US" sz="1800" dirty="0">
                          <a:latin typeface="+mn-ea"/>
                          <a:ea typeface="+mn-ea"/>
                        </a:rPr>
                        <a:t>；</a:t>
                      </a:r>
                      <a:endParaRPr lang="en-US" altLang="zh-TW" sz="1800" dirty="0">
                        <a:latin typeface="+mn-ea"/>
                        <a:ea typeface="+mn-ea"/>
                      </a:endParaRPr>
                    </a:p>
                    <a:p>
                      <a:r>
                        <a:rPr lang="zh-TW" altLang="en-US" sz="1800" dirty="0">
                          <a:latin typeface="+mn-ea"/>
                          <a:ea typeface="+mn-ea"/>
                        </a:rPr>
                        <a:t>乾式 </a:t>
                      </a:r>
                      <a:r>
                        <a:rPr lang="en-US" altLang="zh-TW" sz="1800" dirty="0">
                          <a:latin typeface="+mn-ea"/>
                          <a:ea typeface="+mn-ea"/>
                        </a:rPr>
                        <a:t>4 K </a:t>
                      </a:r>
                      <a:r>
                        <a:rPr lang="zh-TW" altLang="en-US" sz="1800" dirty="0">
                          <a:latin typeface="+mn-ea"/>
                          <a:ea typeface="+mn-ea"/>
                        </a:rPr>
                        <a:t>冷凍系統</a:t>
                      </a:r>
                    </a:p>
                  </a:txBody>
                  <a:tcPr marL="88106" marR="88106" marT="44053" marB="440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800" dirty="0">
                          <a:latin typeface="+mn-ea"/>
                          <a:ea typeface="+mn-ea"/>
                        </a:rPr>
                        <a:t>150</a:t>
                      </a:r>
                      <a:r>
                        <a:rPr lang="zh-TW" altLang="en-US" sz="1800" dirty="0">
                          <a:latin typeface="+mn-ea"/>
                          <a:ea typeface="+mn-ea"/>
                        </a:rPr>
                        <a:t>／</a:t>
                      </a:r>
                      <a:r>
                        <a:rPr lang="en-US" altLang="zh-TW" sz="1800" dirty="0">
                          <a:latin typeface="+mn-ea"/>
                          <a:ea typeface="+mn-ea"/>
                        </a:rPr>
                        <a:t>200</a:t>
                      </a:r>
                      <a:r>
                        <a:rPr lang="zh-TW" altLang="en-US" sz="1800" dirty="0">
                          <a:latin typeface="+mn-ea"/>
                          <a:ea typeface="+mn-ea"/>
                        </a:rPr>
                        <a:t>／</a:t>
                      </a:r>
                      <a:r>
                        <a:rPr lang="en-US" altLang="zh-TW" sz="1800" dirty="0">
                          <a:latin typeface="+mn-ea"/>
                          <a:ea typeface="+mn-ea"/>
                        </a:rPr>
                        <a:t>300 mm </a:t>
                      </a:r>
                      <a:r>
                        <a:rPr lang="zh-TW" altLang="en-US" sz="1800" dirty="0">
                          <a:latin typeface="+mn-ea"/>
                          <a:ea typeface="+mn-ea"/>
                        </a:rPr>
                        <a:t>自動化 </a:t>
                      </a:r>
                      <a:r>
                        <a:rPr lang="en-US" altLang="zh-TW" sz="1800" dirty="0">
                          <a:latin typeface="+mn-ea"/>
                          <a:ea typeface="+mn-ea"/>
                        </a:rPr>
                        <a:t>DC</a:t>
                      </a:r>
                      <a:r>
                        <a:rPr lang="zh-TW" altLang="en-US" sz="1800" dirty="0">
                          <a:latin typeface="+mn-ea"/>
                          <a:ea typeface="+mn-ea"/>
                        </a:rPr>
                        <a:t>／</a:t>
                      </a:r>
                      <a:r>
                        <a:rPr lang="en-US" altLang="zh-TW" sz="1800" dirty="0">
                          <a:latin typeface="+mn-ea"/>
                          <a:ea typeface="+mn-ea"/>
                        </a:rPr>
                        <a:t>RF </a:t>
                      </a:r>
                      <a:r>
                        <a:rPr lang="zh-TW" altLang="en-US" sz="1800" dirty="0">
                          <a:latin typeface="+mn-ea"/>
                          <a:ea typeface="+mn-ea"/>
                        </a:rPr>
                        <a:t>晶圓探測；</a:t>
                      </a:r>
                      <a:endParaRPr lang="en-US" altLang="zh-TW" sz="1800" dirty="0">
                        <a:latin typeface="+mn-ea"/>
                        <a:ea typeface="+mn-ea"/>
                      </a:endParaRPr>
                    </a:p>
                    <a:p>
                      <a:r>
                        <a:rPr lang="zh-TW" altLang="en-US" sz="1800" dirty="0">
                          <a:latin typeface="+mn-ea"/>
                          <a:ea typeface="+mn-ea"/>
                        </a:rPr>
                        <a:t>高吞吐量；高成本</a:t>
                      </a:r>
                    </a:p>
                  </a:txBody>
                  <a:tcPr marL="88106" marR="88106" marT="44053" marB="440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TW" altLang="en-US" sz="1800" dirty="0">
                          <a:latin typeface="+mn-ea"/>
                          <a:ea typeface="+mn-ea"/>
                        </a:rPr>
                        <a:t>晶圓級測試能力強；</a:t>
                      </a:r>
                      <a:endParaRPr lang="en-US" altLang="zh-TW" sz="1800" dirty="0">
                        <a:latin typeface="+mn-ea"/>
                        <a:ea typeface="+mn-ea"/>
                      </a:endParaRPr>
                    </a:p>
                    <a:p>
                      <a:r>
                        <a:rPr lang="zh-TW" altLang="en-US" sz="1800" dirty="0">
                          <a:latin typeface="+mn-ea"/>
                          <a:ea typeface="+mn-ea"/>
                        </a:rPr>
                        <a:t>未以 </a:t>
                      </a:r>
                      <a:r>
                        <a:rPr lang="en-US" altLang="zh-TW" sz="1800" dirty="0">
                          <a:latin typeface="+mn-ea"/>
                          <a:ea typeface="+mn-ea"/>
                        </a:rPr>
                        <a:t>&lt;4 K </a:t>
                      </a:r>
                      <a:r>
                        <a:rPr lang="zh-TW" altLang="en-US" sz="1800" dirty="0">
                          <a:latin typeface="+mn-ea"/>
                          <a:ea typeface="+mn-ea"/>
                        </a:rPr>
                        <a:t>實際尺寸量測及元件模型為主軸</a:t>
                      </a:r>
                    </a:p>
                  </a:txBody>
                  <a:tcPr marL="88106" marR="88106" marT="44053" marB="440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13128569"/>
                  </a:ext>
                </a:extLst>
              </a:tr>
              <a:tr h="881062">
                <a:tc>
                  <a:txBody>
                    <a:bodyPr/>
                    <a:lstStyle/>
                    <a:p>
                      <a:r>
                        <a:rPr lang="en-US" sz="1800" b="0" dirty="0" err="1">
                          <a:latin typeface="+mn-ea"/>
                          <a:ea typeface="+mn-ea"/>
                        </a:rPr>
                        <a:t>kiutra</a:t>
                      </a:r>
                      <a:r>
                        <a:rPr lang="en-US" sz="1800" b="0" dirty="0">
                          <a:latin typeface="+mn-ea"/>
                          <a:ea typeface="+mn-ea"/>
                        </a:rPr>
                        <a:t> L-Type Rapid</a:t>
                      </a:r>
                    </a:p>
                  </a:txBody>
                  <a:tcPr marL="88106" marR="88106" marT="44053" marB="440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1800" dirty="0">
                          <a:latin typeface="+mn-ea"/>
                          <a:ea typeface="+mn-ea"/>
                        </a:rPr>
                        <a:t>50 </a:t>
                      </a:r>
                      <a:r>
                        <a:rPr lang="en-US" sz="1800" dirty="0" err="1">
                          <a:latin typeface="+mn-ea"/>
                          <a:ea typeface="+mn-ea"/>
                        </a:rPr>
                        <a:t>mK</a:t>
                      </a:r>
                      <a:r>
                        <a:rPr lang="en-US" sz="1800" dirty="0">
                          <a:latin typeface="+mn-ea"/>
                          <a:ea typeface="+mn-ea"/>
                        </a:rPr>
                        <a:t> </a:t>
                      </a:r>
                      <a:r>
                        <a:rPr lang="zh-TW" altLang="en-US" sz="1800" dirty="0">
                          <a:latin typeface="+mn-ea"/>
                          <a:ea typeface="+mn-ea"/>
                        </a:rPr>
                        <a:t>級；</a:t>
                      </a:r>
                      <a:endParaRPr lang="en-US" altLang="zh-TW" sz="1800" dirty="0">
                        <a:latin typeface="+mn-ea"/>
                        <a:ea typeface="+mn-ea"/>
                      </a:endParaRPr>
                    </a:p>
                    <a:p>
                      <a:r>
                        <a:rPr lang="en-US" sz="1800" dirty="0">
                          <a:latin typeface="+mn-ea"/>
                          <a:ea typeface="+mn-ea"/>
                        </a:rPr>
                        <a:t>cryogen-free </a:t>
                      </a:r>
                      <a:r>
                        <a:rPr lang="zh-TW" altLang="en-US" sz="1800" dirty="0">
                          <a:latin typeface="+mn-ea"/>
                          <a:ea typeface="+mn-ea"/>
                        </a:rPr>
                        <a:t>多級 </a:t>
                      </a:r>
                      <a:r>
                        <a:rPr lang="en-US" sz="1800" dirty="0">
                          <a:latin typeface="+mn-ea"/>
                          <a:ea typeface="+mn-ea"/>
                        </a:rPr>
                        <a:t>ADR</a:t>
                      </a:r>
                    </a:p>
                  </a:txBody>
                  <a:tcPr marL="88106" marR="88106" marT="44053" marB="440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zh-TW" altLang="en-US" sz="1800" dirty="0">
                          <a:latin typeface="+mn-ea"/>
                          <a:ea typeface="+mn-ea"/>
                        </a:rPr>
                        <a:t>快速自動換樣、</a:t>
                      </a:r>
                      <a:r>
                        <a:rPr lang="en-US" altLang="zh-TW" sz="1800" dirty="0">
                          <a:latin typeface="+mn-ea"/>
                          <a:ea typeface="+mn-ea"/>
                        </a:rPr>
                        <a:t>DC</a:t>
                      </a:r>
                      <a:r>
                        <a:rPr lang="zh-TW" altLang="en-US" sz="1800" dirty="0">
                          <a:latin typeface="+mn-ea"/>
                          <a:ea typeface="+mn-ea"/>
                        </a:rPr>
                        <a:t>／</a:t>
                      </a:r>
                      <a:r>
                        <a:rPr lang="en-US" altLang="zh-TW" sz="1800" dirty="0">
                          <a:latin typeface="+mn-ea"/>
                          <a:ea typeface="+mn-ea"/>
                        </a:rPr>
                        <a:t>RF</a:t>
                      </a:r>
                      <a:r>
                        <a:rPr lang="zh-TW" altLang="en-US" sz="1800" dirty="0">
                          <a:latin typeface="+mn-ea"/>
                          <a:ea typeface="+mn-ea"/>
                        </a:rPr>
                        <a:t>、</a:t>
                      </a:r>
                      <a:r>
                        <a:rPr lang="en-US" altLang="zh-TW" sz="1800" dirty="0">
                          <a:latin typeface="+mn-ea"/>
                          <a:ea typeface="+mn-ea"/>
                        </a:rPr>
                        <a:t>2–5 h </a:t>
                      </a:r>
                      <a:r>
                        <a:rPr lang="zh-TW" altLang="en-US" sz="1800" dirty="0">
                          <a:latin typeface="+mn-ea"/>
                          <a:ea typeface="+mn-ea"/>
                        </a:rPr>
                        <a:t>測試週期</a:t>
                      </a:r>
                      <a:endParaRPr lang="en-US" altLang="zh-TW" sz="1800" dirty="0">
                        <a:latin typeface="+mn-ea"/>
                        <a:ea typeface="+mn-ea"/>
                      </a:endParaRPr>
                    </a:p>
                  </a:txBody>
                  <a:tcPr marL="88106" marR="88106" marT="44053" marB="440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altLang="zh-TW" sz="1800" dirty="0">
                          <a:latin typeface="+mn-ea"/>
                          <a:ea typeface="+mn-ea"/>
                        </a:rPr>
                        <a:t>ADR </a:t>
                      </a:r>
                      <a:r>
                        <a:rPr lang="zh-TW" altLang="en-US" sz="1800" dirty="0">
                          <a:latin typeface="+mn-ea"/>
                          <a:ea typeface="+mn-ea"/>
                        </a:rPr>
                        <a:t>產品成熟；本案聚焦自主 </a:t>
                      </a:r>
                      <a:r>
                        <a:rPr lang="en-US" altLang="zh-TW" sz="1800" dirty="0">
                          <a:latin typeface="+mn-ea"/>
                          <a:ea typeface="+mn-ea"/>
                        </a:rPr>
                        <a:t>1 K </a:t>
                      </a:r>
                      <a:r>
                        <a:rPr lang="zh-TW" altLang="en-US" sz="1800" dirty="0">
                          <a:latin typeface="+mn-ea"/>
                          <a:ea typeface="+mn-ea"/>
                        </a:rPr>
                        <a:t>平台、低光熱尺寸計量與模型鏈</a:t>
                      </a:r>
                    </a:p>
                  </a:txBody>
                  <a:tcPr marL="88106" marR="88106" marT="44053" marB="440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81070742"/>
                  </a:ext>
                </a:extLst>
              </a:tr>
              <a:tr h="881062">
                <a:tc>
                  <a:txBody>
                    <a:bodyPr/>
                    <a:lstStyle/>
                    <a:p>
                      <a:r>
                        <a:rPr lang="en-US" sz="1800" b="1" dirty="0">
                          <a:latin typeface="+mn-ea"/>
                          <a:ea typeface="+mn-ea"/>
                        </a:rPr>
                        <a:t>FY116 </a:t>
                      </a:r>
                      <a:r>
                        <a:rPr lang="zh-TW" altLang="en-US" sz="1800" b="1" dirty="0">
                          <a:latin typeface="+mn-ea"/>
                          <a:ea typeface="+mn-ea"/>
                        </a:rPr>
                        <a:t>本案</a:t>
                      </a:r>
                      <a:endParaRPr lang="zh-TW" altLang="en-US" sz="1800" dirty="0">
                        <a:latin typeface="+mn-ea"/>
                        <a:ea typeface="+mn-ea"/>
                      </a:endParaRPr>
                    </a:p>
                  </a:txBody>
                  <a:tcPr marL="88106" marR="88106" marT="44053" marB="440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800" b="1" dirty="0">
                          <a:latin typeface="+mn-ea"/>
                          <a:ea typeface="+mn-ea"/>
                        </a:rPr>
                        <a:t>≤</a:t>
                      </a:r>
                      <a:r>
                        <a:rPr lang="zh-TW" altLang="en-US" sz="1800" b="1" dirty="0">
                          <a:latin typeface="+mn-ea"/>
                          <a:ea typeface="+mn-ea"/>
                        </a:rPr>
                        <a:t> </a:t>
                      </a:r>
                      <a:r>
                        <a:rPr lang="en-US" sz="1800" b="1" dirty="0">
                          <a:latin typeface="+mn-ea"/>
                          <a:ea typeface="+mn-ea"/>
                        </a:rPr>
                        <a:t>4 K PoC；</a:t>
                      </a:r>
                    </a:p>
                    <a:p>
                      <a:r>
                        <a:rPr lang="zh-TW" altLang="en-US" sz="1800" b="1" dirty="0">
                          <a:latin typeface="+mn-ea"/>
                          <a:ea typeface="+mn-ea"/>
                        </a:rPr>
                        <a:t>單級 </a:t>
                      </a:r>
                      <a:r>
                        <a:rPr lang="en-US" sz="1800" b="1" dirty="0">
                          <a:latin typeface="+mn-ea"/>
                          <a:ea typeface="+mn-ea"/>
                        </a:rPr>
                        <a:t>GGG ADR；</a:t>
                      </a:r>
                    </a:p>
                    <a:p>
                      <a:r>
                        <a:rPr lang="zh-TW" altLang="en-US" sz="1800" b="1" dirty="0">
                          <a:latin typeface="+mn-ea"/>
                          <a:ea typeface="+mn-ea"/>
                        </a:rPr>
                        <a:t>無 </a:t>
                      </a:r>
                      <a:r>
                        <a:rPr lang="en-US" altLang="zh-TW" sz="1800" b="1" dirty="0">
                          <a:latin typeface="+mn-ea"/>
                          <a:ea typeface="+mn-ea"/>
                        </a:rPr>
                        <a:t>³</a:t>
                      </a:r>
                      <a:r>
                        <a:rPr lang="en-US" sz="1800" b="1" dirty="0">
                          <a:latin typeface="+mn-ea"/>
                          <a:ea typeface="+mn-ea"/>
                        </a:rPr>
                        <a:t>He</a:t>
                      </a:r>
                      <a:endParaRPr lang="en-US" sz="1800" dirty="0">
                        <a:latin typeface="+mn-ea"/>
                        <a:ea typeface="+mn-ea"/>
                      </a:endParaRPr>
                    </a:p>
                  </a:txBody>
                  <a:tcPr marL="88106" marR="88106" marT="44053" marB="440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zh-TW" altLang="en-US" sz="1800" b="1" dirty="0">
                          <a:latin typeface="+mn-ea"/>
                          <a:ea typeface="+mn-ea"/>
                        </a:rPr>
                        <a:t>光學＋</a:t>
                      </a:r>
                      <a:r>
                        <a:rPr lang="en-US" altLang="zh-TW" sz="1800" b="1" dirty="0">
                          <a:latin typeface="+mn-ea"/>
                          <a:ea typeface="+mn-ea"/>
                        </a:rPr>
                        <a:t>DC</a:t>
                      </a:r>
                      <a:r>
                        <a:rPr lang="zh-TW" altLang="en-US" sz="1800" b="1" dirty="0">
                          <a:latin typeface="+mn-ea"/>
                          <a:ea typeface="+mn-ea"/>
                        </a:rPr>
                        <a:t>／</a:t>
                      </a:r>
                      <a:r>
                        <a:rPr lang="en-US" altLang="zh-TW" sz="1800" b="1" dirty="0">
                          <a:latin typeface="+mn-ea"/>
                          <a:ea typeface="+mn-ea"/>
                        </a:rPr>
                        <a:t>RF</a:t>
                      </a:r>
                      <a:r>
                        <a:rPr lang="zh-TW" altLang="en-US" sz="1800" b="1" dirty="0">
                          <a:latin typeface="+mn-ea"/>
                          <a:ea typeface="+mn-ea"/>
                        </a:rPr>
                        <a:t>；</a:t>
                      </a:r>
                      <a:r>
                        <a:rPr lang="en-US" altLang="zh-TW" sz="1800" b="1" dirty="0">
                          <a:latin typeface="+mn-ea"/>
                          <a:ea typeface="+mn-ea"/>
                        </a:rPr>
                        <a:t>300 K</a:t>
                      </a:r>
                      <a:r>
                        <a:rPr lang="zh-TW" altLang="en-US" sz="1800" b="1" dirty="0">
                          <a:latin typeface="+mn-ea"/>
                          <a:ea typeface="+mn-ea"/>
                        </a:rPr>
                        <a:t>／</a:t>
                      </a:r>
                      <a:r>
                        <a:rPr lang="en-US" altLang="zh-TW" sz="1800" b="1" dirty="0">
                          <a:latin typeface="+mn-ea"/>
                          <a:ea typeface="+mn-ea"/>
                        </a:rPr>
                        <a:t>4 K</a:t>
                      </a:r>
                      <a:r>
                        <a:rPr lang="zh-TW" altLang="en-US" sz="1800" b="1" dirty="0">
                          <a:latin typeface="+mn-ea"/>
                          <a:ea typeface="+mn-ea"/>
                        </a:rPr>
                        <a:t>／</a:t>
                      </a:r>
                      <a:r>
                        <a:rPr lang="en-US" altLang="zh-TW" sz="1800" b="1" dirty="0">
                          <a:latin typeface="+mn-ea"/>
                          <a:ea typeface="+mn-ea"/>
                        </a:rPr>
                        <a:t>1 K</a:t>
                      </a:r>
                      <a:r>
                        <a:rPr lang="zh-TW" altLang="en-US" sz="1800" b="1" dirty="0">
                          <a:latin typeface="+mn-ea"/>
                          <a:ea typeface="+mn-ea"/>
                        </a:rPr>
                        <a:t>；</a:t>
                      </a:r>
                      <a:endParaRPr lang="en-US" altLang="zh-TW" sz="1800" b="1" dirty="0">
                        <a:latin typeface="+mn-ea"/>
                        <a:ea typeface="+mn-ea"/>
                      </a:endParaRPr>
                    </a:p>
                    <a:p>
                      <a:r>
                        <a:rPr lang="zh-TW" altLang="en-US" sz="1800" b="1" dirty="0">
                          <a:latin typeface="+mn-ea"/>
                          <a:ea typeface="+mn-ea"/>
                        </a:rPr>
                        <a:t>量測專用、價格可負擔目標</a:t>
                      </a:r>
                      <a:endParaRPr lang="zh-TW" altLang="en-US" sz="1800" dirty="0">
                        <a:latin typeface="+mn-ea"/>
                        <a:ea typeface="+mn-ea"/>
                      </a:endParaRPr>
                    </a:p>
                  </a:txBody>
                  <a:tcPr marL="88106" marR="88106" marT="44053" marB="440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zh-TW" altLang="en-US" sz="1800" b="1" dirty="0">
                          <a:latin typeface="+mn-ea"/>
                          <a:ea typeface="+mn-ea"/>
                        </a:rPr>
                        <a:t>低光熱變溫尺寸計量＋實測幾何導入模型；</a:t>
                      </a:r>
                      <a:endParaRPr lang="en-US" altLang="zh-TW" sz="1800" b="1" dirty="0">
                        <a:latin typeface="+mn-ea"/>
                        <a:ea typeface="+mn-ea"/>
                      </a:endParaRPr>
                    </a:p>
                    <a:p>
                      <a:r>
                        <a:rPr lang="zh-TW" altLang="en-US" sz="1800" b="1" dirty="0">
                          <a:latin typeface="+mn-ea"/>
                          <a:ea typeface="+mn-ea"/>
                        </a:rPr>
                        <a:t>可向 </a:t>
                      </a:r>
                      <a:r>
                        <a:rPr lang="en-US" altLang="zh-TW" sz="1800" b="1" dirty="0">
                          <a:latin typeface="+mn-ea"/>
                          <a:ea typeface="+mn-ea"/>
                        </a:rPr>
                        <a:t>100–300 </a:t>
                      </a:r>
                      <a:r>
                        <a:rPr lang="en-US" altLang="zh-TW" sz="1800" b="1" dirty="0" err="1">
                          <a:latin typeface="+mn-ea"/>
                          <a:ea typeface="+mn-ea"/>
                        </a:rPr>
                        <a:t>mK</a:t>
                      </a:r>
                      <a:r>
                        <a:rPr lang="en-US" altLang="zh-TW" sz="1800" b="1" dirty="0">
                          <a:latin typeface="+mn-ea"/>
                          <a:ea typeface="+mn-ea"/>
                        </a:rPr>
                        <a:t> </a:t>
                      </a:r>
                      <a:r>
                        <a:rPr lang="zh-TW" altLang="en-US" sz="1800" b="1" dirty="0">
                          <a:latin typeface="+mn-ea"/>
                          <a:ea typeface="+mn-ea"/>
                        </a:rPr>
                        <a:t>擴充</a:t>
                      </a:r>
                      <a:endParaRPr lang="zh-TW" altLang="en-US" sz="1800" dirty="0">
                        <a:latin typeface="+mn-ea"/>
                        <a:ea typeface="+mn-ea"/>
                      </a:endParaRPr>
                    </a:p>
                  </a:txBody>
                  <a:tcPr marL="88106" marR="88106" marT="44053" marB="440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1192139760"/>
                  </a:ext>
                </a:extLst>
              </a:tr>
            </a:tbl>
          </a:graphicData>
        </a:graphic>
      </p:graphicFrame>
    </p:spTree>
    <p:extLst>
      <p:ext uri="{BB962C8B-B14F-4D97-AF65-F5344CB8AC3E}">
        <p14:creationId xmlns:p14="http://schemas.microsoft.com/office/powerpoint/2010/main" val="8363894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6588C1B4-AFFD-19AB-F72C-1E2F9BF10037}"/>
              </a:ext>
            </a:extLst>
          </p:cNvPr>
          <p:cNvSpPr txBox="1">
            <a:spLocks/>
          </p:cNvSpPr>
          <p:nvPr/>
        </p:nvSpPr>
        <p:spPr bwMode="auto">
          <a:xfrm>
            <a:off x="680263" y="168205"/>
            <a:ext cx="11045923" cy="941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kumimoji="1" sz="3600">
                <a:solidFill>
                  <a:srgbClr val="00B2B3"/>
                </a:solidFill>
                <a:latin typeface="+mj-lt"/>
                <a:ea typeface="+mj-ea"/>
                <a:cs typeface="+mj-cs"/>
              </a:defRPr>
            </a:lvl1pPr>
            <a:lvl2pPr algn="l" rtl="0" eaLnBrk="0" fontAlgn="base" hangingPunct="0">
              <a:spcBef>
                <a:spcPct val="0"/>
              </a:spcBef>
              <a:spcAft>
                <a:spcPct val="0"/>
              </a:spcAft>
              <a:defRPr kumimoji="1" sz="4600">
                <a:solidFill>
                  <a:schemeClr val="tx2"/>
                </a:solidFill>
                <a:latin typeface="Arial" charset="0"/>
                <a:ea typeface="微軟正黑體" pitchFamily="34" charset="-120"/>
              </a:defRPr>
            </a:lvl2pPr>
            <a:lvl3pPr algn="l" rtl="0" eaLnBrk="0" fontAlgn="base" hangingPunct="0">
              <a:spcBef>
                <a:spcPct val="0"/>
              </a:spcBef>
              <a:spcAft>
                <a:spcPct val="0"/>
              </a:spcAft>
              <a:defRPr kumimoji="1" sz="4600">
                <a:solidFill>
                  <a:schemeClr val="tx2"/>
                </a:solidFill>
                <a:latin typeface="Arial" charset="0"/>
                <a:ea typeface="微軟正黑體" pitchFamily="34" charset="-120"/>
              </a:defRPr>
            </a:lvl3pPr>
            <a:lvl4pPr algn="l" rtl="0" eaLnBrk="0" fontAlgn="base" hangingPunct="0">
              <a:spcBef>
                <a:spcPct val="0"/>
              </a:spcBef>
              <a:spcAft>
                <a:spcPct val="0"/>
              </a:spcAft>
              <a:defRPr kumimoji="1" sz="4600">
                <a:solidFill>
                  <a:schemeClr val="tx2"/>
                </a:solidFill>
                <a:latin typeface="Arial" charset="0"/>
                <a:ea typeface="微軟正黑體" pitchFamily="34" charset="-120"/>
              </a:defRPr>
            </a:lvl4pPr>
            <a:lvl5pPr algn="l" rtl="0" eaLnBrk="0" fontAlgn="base" hangingPunct="0">
              <a:spcBef>
                <a:spcPct val="0"/>
              </a:spcBef>
              <a:spcAft>
                <a:spcPct val="0"/>
              </a:spcAft>
              <a:defRPr kumimoji="1" sz="4600">
                <a:solidFill>
                  <a:schemeClr val="tx2"/>
                </a:solidFill>
                <a:latin typeface="Arial" charset="0"/>
                <a:ea typeface="微軟正黑體" pitchFamily="34" charset="-120"/>
              </a:defRPr>
            </a:lvl5pPr>
            <a:lvl6pPr marL="457200" algn="l" rtl="0" fontAlgn="base">
              <a:spcBef>
                <a:spcPct val="0"/>
              </a:spcBef>
              <a:spcAft>
                <a:spcPct val="0"/>
              </a:spcAft>
              <a:defRPr kumimoji="1" sz="4600">
                <a:solidFill>
                  <a:schemeClr val="tx2"/>
                </a:solidFill>
                <a:latin typeface="Arial" charset="0"/>
                <a:ea typeface="微軟正黑體" pitchFamily="34" charset="-120"/>
              </a:defRPr>
            </a:lvl6pPr>
            <a:lvl7pPr marL="914400" algn="l" rtl="0" fontAlgn="base">
              <a:spcBef>
                <a:spcPct val="0"/>
              </a:spcBef>
              <a:spcAft>
                <a:spcPct val="0"/>
              </a:spcAft>
              <a:defRPr kumimoji="1" sz="4600">
                <a:solidFill>
                  <a:schemeClr val="tx2"/>
                </a:solidFill>
                <a:latin typeface="Arial" charset="0"/>
                <a:ea typeface="微軟正黑體" pitchFamily="34" charset="-120"/>
              </a:defRPr>
            </a:lvl7pPr>
            <a:lvl8pPr marL="1371600" algn="l" rtl="0" fontAlgn="base">
              <a:spcBef>
                <a:spcPct val="0"/>
              </a:spcBef>
              <a:spcAft>
                <a:spcPct val="0"/>
              </a:spcAft>
              <a:defRPr kumimoji="1" sz="4600">
                <a:solidFill>
                  <a:schemeClr val="tx2"/>
                </a:solidFill>
                <a:latin typeface="Arial" charset="0"/>
                <a:ea typeface="微軟正黑體" pitchFamily="34" charset="-120"/>
              </a:defRPr>
            </a:lvl8pPr>
            <a:lvl9pPr marL="1828800" algn="l" rtl="0" fontAlgn="base">
              <a:spcBef>
                <a:spcPct val="0"/>
              </a:spcBef>
              <a:spcAft>
                <a:spcPct val="0"/>
              </a:spcAft>
              <a:defRPr kumimoji="1" sz="4600">
                <a:solidFill>
                  <a:schemeClr val="tx2"/>
                </a:solidFill>
                <a:latin typeface="Arial" charset="0"/>
                <a:ea typeface="微軟正黑體" pitchFamily="34" charset="-120"/>
              </a:defRPr>
            </a:lvl9pPr>
          </a:lstStyle>
          <a:p>
            <a:pPr>
              <a:spcBef>
                <a:spcPts val="1800"/>
              </a:spcBef>
            </a:pPr>
            <a:r>
              <a:rPr lang="zh-TW" altLang="en-US" kern="0" dirty="0"/>
              <a:t>尺寸量測技術</a:t>
            </a:r>
            <a:r>
              <a:rPr lang="en-US" altLang="zh-TW" kern="0" dirty="0"/>
              <a:t>Benchmark </a:t>
            </a:r>
            <a:r>
              <a:rPr lang="zh-TW" altLang="en-US" kern="0" dirty="0"/>
              <a:t>比較及競爭性分析</a:t>
            </a:r>
          </a:p>
        </p:txBody>
      </p:sp>
      <p:sp>
        <p:nvSpPr>
          <p:cNvPr id="2" name="投影片編號版面配置區 1">
            <a:extLst>
              <a:ext uri="{FF2B5EF4-FFF2-40B4-BE49-F238E27FC236}">
                <a16:creationId xmlns:a16="http://schemas.microsoft.com/office/drawing/2014/main" id="{E4D55423-E153-D09E-3A03-C29E97E4E90B}"/>
              </a:ext>
            </a:extLst>
          </p:cNvPr>
          <p:cNvSpPr txBox="1">
            <a:spLocks/>
          </p:cNvSpPr>
          <p:nvPr/>
        </p:nvSpPr>
        <p:spPr bwMode="auto">
          <a:xfrm>
            <a:off x="11430000" y="6619875"/>
            <a:ext cx="762000" cy="238125"/>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zh-TW"/>
            </a:defPPr>
            <a:lvl1pPr algn="r" rtl="0" eaLnBrk="1" fontAlgn="ctr" hangingPunct="1">
              <a:spcBef>
                <a:spcPct val="0"/>
              </a:spcBef>
              <a:spcAft>
                <a:spcPct val="0"/>
              </a:spcAft>
              <a:defRPr kumimoji="1" sz="1200" kern="1200">
                <a:solidFill>
                  <a:schemeClr val="tx1"/>
                </a:solidFill>
                <a:latin typeface="Arial" panose="020B0604020202020204" pitchFamily="34" charset="0"/>
                <a:ea typeface="新細明體" panose="02020500000000000000" pitchFamily="18" charset="-120"/>
                <a:cs typeface="+mn-cs"/>
              </a:defRPr>
            </a:lvl1pPr>
            <a:lvl2pPr marL="742950" indent="-28575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2pPr>
            <a:lvl3pPr marL="1143000" indent="-2286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3pPr>
            <a:lvl4pPr marL="1600200" indent="-2286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4pPr>
            <a:lvl5pPr marL="2057400" indent="-2286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9pPr>
          </a:lstStyle>
          <a:p>
            <a:fld id="{49A9212D-6406-4E12-8CC4-78DDFE99027F}" type="slidenum">
              <a:rPr lang="en-US" altLang="zh-TW" smtClean="0">
                <a:solidFill>
                  <a:schemeClr val="bg1"/>
                </a:solidFill>
                <a:ea typeface="微軟正黑體" panose="020B0604030504040204" pitchFamily="34" charset="-120"/>
              </a:rPr>
              <a:pPr/>
              <a:t>10</a:t>
            </a:fld>
            <a:endParaRPr lang="en-US" altLang="zh-TW">
              <a:solidFill>
                <a:schemeClr val="bg1"/>
              </a:solidFill>
              <a:ea typeface="微軟正黑體" panose="020B0604030504040204" pitchFamily="34" charset="-120"/>
            </a:endParaRPr>
          </a:p>
        </p:txBody>
      </p:sp>
      <p:graphicFrame>
        <p:nvGraphicFramePr>
          <p:cNvPr id="9" name="表格 8">
            <a:extLst>
              <a:ext uri="{FF2B5EF4-FFF2-40B4-BE49-F238E27FC236}">
                <a16:creationId xmlns:a16="http://schemas.microsoft.com/office/drawing/2014/main" id="{5068F265-A64E-BF87-BF9F-79CD37F73701}"/>
              </a:ext>
            </a:extLst>
          </p:cNvPr>
          <p:cNvGraphicFramePr>
            <a:graphicFrameLocks noGrp="1"/>
          </p:cNvGraphicFramePr>
          <p:nvPr>
            <p:extLst>
              <p:ext uri="{D42A27DB-BD31-4B8C-83A1-F6EECF244321}">
                <p14:modId xmlns:p14="http://schemas.microsoft.com/office/powerpoint/2010/main" val="3906091129"/>
              </p:ext>
            </p:extLst>
          </p:nvPr>
        </p:nvGraphicFramePr>
        <p:xfrm>
          <a:off x="577056" y="932688"/>
          <a:ext cx="11037888" cy="5486400"/>
        </p:xfrm>
        <a:graphic>
          <a:graphicData uri="http://schemas.openxmlformats.org/drawingml/2006/table">
            <a:tbl>
              <a:tblPr/>
              <a:tblGrid>
                <a:gridCol w="1839648">
                  <a:extLst>
                    <a:ext uri="{9D8B030D-6E8A-4147-A177-3AD203B41FA5}">
                      <a16:colId xmlns:a16="http://schemas.microsoft.com/office/drawing/2014/main" val="745224670"/>
                    </a:ext>
                  </a:extLst>
                </a:gridCol>
                <a:gridCol w="2093911">
                  <a:extLst>
                    <a:ext uri="{9D8B030D-6E8A-4147-A177-3AD203B41FA5}">
                      <a16:colId xmlns:a16="http://schemas.microsoft.com/office/drawing/2014/main" val="2734664084"/>
                    </a:ext>
                  </a:extLst>
                </a:gridCol>
                <a:gridCol w="1408176">
                  <a:extLst>
                    <a:ext uri="{9D8B030D-6E8A-4147-A177-3AD203B41FA5}">
                      <a16:colId xmlns:a16="http://schemas.microsoft.com/office/drawing/2014/main" val="207056692"/>
                    </a:ext>
                  </a:extLst>
                </a:gridCol>
                <a:gridCol w="2016857">
                  <a:extLst>
                    <a:ext uri="{9D8B030D-6E8A-4147-A177-3AD203B41FA5}">
                      <a16:colId xmlns:a16="http://schemas.microsoft.com/office/drawing/2014/main" val="549607738"/>
                    </a:ext>
                  </a:extLst>
                </a:gridCol>
                <a:gridCol w="1839648">
                  <a:extLst>
                    <a:ext uri="{9D8B030D-6E8A-4147-A177-3AD203B41FA5}">
                      <a16:colId xmlns:a16="http://schemas.microsoft.com/office/drawing/2014/main" val="634472355"/>
                    </a:ext>
                  </a:extLst>
                </a:gridCol>
                <a:gridCol w="1839648">
                  <a:extLst>
                    <a:ext uri="{9D8B030D-6E8A-4147-A177-3AD203B41FA5}">
                      <a16:colId xmlns:a16="http://schemas.microsoft.com/office/drawing/2014/main" val="1555811696"/>
                    </a:ext>
                  </a:extLst>
                </a:gridCol>
              </a:tblGrid>
              <a:tr h="0">
                <a:tc>
                  <a:txBody>
                    <a:bodyPr/>
                    <a:lstStyle/>
                    <a:p>
                      <a:pPr algn="ctr"/>
                      <a:r>
                        <a:rPr lang="zh-TW" altLang="en-US" dirty="0">
                          <a:solidFill>
                            <a:schemeClr val="bg1"/>
                          </a:solidFill>
                        </a:rPr>
                        <a:t>技術</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a:r>
                        <a:rPr lang="zh-TW" altLang="en-US" dirty="0">
                          <a:solidFill>
                            <a:schemeClr val="bg1"/>
                          </a:solidFill>
                        </a:rPr>
                        <a:t>溫區／量測能力</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a:r>
                        <a:rPr lang="zh-TW" altLang="en-US" dirty="0">
                          <a:solidFill>
                            <a:schemeClr val="bg1"/>
                          </a:solidFill>
                        </a:rPr>
                        <a:t>低熱成像</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a:r>
                        <a:rPr lang="en-US" dirty="0">
                          <a:solidFill>
                            <a:schemeClr val="bg1"/>
                          </a:solidFill>
                        </a:rPr>
                        <a:t>Pulse-tube </a:t>
                      </a:r>
                      <a:r>
                        <a:rPr lang="zh-TW" altLang="en-US" dirty="0">
                          <a:solidFill>
                            <a:schemeClr val="bg1"/>
                          </a:solidFill>
                        </a:rPr>
                        <a:t>振動處理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a:r>
                        <a:rPr lang="zh-TW" altLang="en-US" b="1" dirty="0">
                          <a:solidFill>
                            <a:schemeClr val="bg1"/>
                          </a:solidFill>
                        </a:rPr>
                        <a:t>振動回饋同步取像</a:t>
                      </a:r>
                      <a:endParaRPr lang="zh-TW" altLang="en-US"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a:r>
                        <a:rPr lang="zh-TW" altLang="en-US" dirty="0">
                          <a:solidFill>
                            <a:schemeClr val="bg1"/>
                          </a:solidFill>
                        </a:rPr>
                        <a:t>尺寸量測能力</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3101591519"/>
                  </a:ext>
                </a:extLst>
              </a:tr>
              <a:tr h="0">
                <a:tc>
                  <a:txBody>
                    <a:bodyPr/>
                    <a:lstStyle/>
                    <a:p>
                      <a:r>
                        <a:rPr lang="en-US" b="0" dirty="0"/>
                        <a:t>PTB Cryogenic UPI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t>7 K</a:t>
                      </a:r>
                      <a:r>
                        <a:rPr lang="zh-TW" altLang="en-US" dirty="0"/>
                        <a:t>／干涉式長度量測</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TW" altLang="en-US" b="0" dirty="0"/>
                        <a:t>柔性銅絞線機械解耦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TW" altLang="en-US" dirty="0"/>
                        <a:t>最高約</a:t>
                      </a:r>
                      <a:r>
                        <a:rPr lang="en-US" altLang="zh-TW" dirty="0"/>
                        <a:t>1.5 nm</a:t>
                      </a:r>
                      <a:r>
                        <a:rPr lang="zh-TW" altLang="en-US" dirty="0"/>
                        <a:t>／</a:t>
                      </a:r>
                      <a:r>
                        <a:rPr lang="en-US" altLang="zh-TW" dirty="0"/>
                        <a:t>50 mm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18865719"/>
                  </a:ext>
                </a:extLst>
              </a:tr>
              <a:tr h="0">
                <a:tc>
                  <a:txBody>
                    <a:bodyPr/>
                    <a:lstStyle/>
                    <a:p>
                      <a:r>
                        <a:rPr lang="it-IT" b="0" dirty="0"/>
                        <a:t>Kasai et al. Cryogenic SPM</a:t>
                      </a:r>
                      <a:r>
                        <a:rPr lang="zh-TW" altLang="en-US" b="0" dirty="0"/>
                        <a:t> </a:t>
                      </a:r>
                      <a:r>
                        <a:rPr lang="en-US" altLang="zh-TW" b="0" dirty="0"/>
                        <a:t>(</a:t>
                      </a:r>
                      <a:r>
                        <a:rPr lang="it-IT" b="0" dirty="0"/>
                        <a:t>2022</a:t>
                      </a:r>
                      <a:r>
                        <a:rPr lang="en-US" altLang="zh-TW" b="0" dirty="0"/>
                        <a:t>)</a:t>
                      </a:r>
                      <a:endParaRPr lang="it-IT"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dirty="0"/>
                        <a:t>~5 K／STM、AFM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altLang="zh-TW"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b="0" dirty="0" err="1"/>
                        <a:t>PTFE＋bellows</a:t>
                      </a:r>
                      <a:r>
                        <a:rPr lang="en-US" b="0" dirty="0"/>
                        <a:t>＋</a:t>
                      </a:r>
                      <a:r>
                        <a:rPr lang="zh-TW" altLang="en-US" b="0" dirty="0"/>
                        <a:t>被動隔振台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altLang="zh-TW"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zh-TW" altLang="en-US" dirty="0"/>
                        <a:t>局部奈米尺度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56572705"/>
                  </a:ext>
                </a:extLst>
              </a:tr>
              <a:tr h="0">
                <a:tc>
                  <a:txBody>
                    <a:bodyPr/>
                    <a:lstStyle/>
                    <a:p>
                      <a:r>
                        <a:rPr lang="fr-FR" b="0" dirty="0"/>
                        <a:t>Descamps et al., RSI </a:t>
                      </a:r>
                      <a:r>
                        <a:rPr lang="en-US" altLang="zh-TW" b="0" dirty="0"/>
                        <a:t>(</a:t>
                      </a:r>
                      <a:r>
                        <a:rPr lang="fr-FR" b="0" dirty="0"/>
                        <a:t>2024</a:t>
                      </a:r>
                      <a:r>
                        <a:rPr lang="en-US" altLang="zh-TW" b="0" dirty="0"/>
                        <a:t>)</a:t>
                      </a:r>
                      <a:endParaRPr lang="fr-FR"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t>&lt;100 </a:t>
                      </a:r>
                      <a:r>
                        <a:rPr lang="en-US" altLang="zh-TW" dirty="0" err="1"/>
                        <a:t>mK</a:t>
                      </a:r>
                      <a:r>
                        <a:rPr lang="zh-TW" altLang="en-US" dirty="0"/>
                        <a:t>／</a:t>
                      </a:r>
                      <a:r>
                        <a:rPr lang="en-US" altLang="zh-TW" dirty="0"/>
                        <a:t>Confocal imaging</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TW" altLang="en-US" dirty="0"/>
                        <a:t>△</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t>Air spring</a:t>
                      </a:r>
                      <a:r>
                        <a:rPr lang="zh-TW" altLang="en-US" dirty="0"/>
                        <a:t>＋剛性光學頭；直接量測</a:t>
                      </a:r>
                      <a:r>
                        <a:rPr lang="en-US" altLang="zh-TW" dirty="0"/>
                        <a:t>sample–objective</a:t>
                      </a:r>
                      <a:r>
                        <a:rPr lang="zh-TW" altLang="en-US" dirty="0"/>
                        <a:t>相對振動</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TW" altLang="en-US" dirty="0"/>
                        <a:t>△ 量測振動，未用於同步曝光</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TW" altLang="en-US" dirty="0"/>
                        <a:t>△以元件成像／定位為主</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38288173"/>
                  </a:ext>
                </a:extLst>
              </a:tr>
              <a:tr h="0">
                <a:tc>
                  <a:txBody>
                    <a:bodyPr/>
                    <a:lstStyle/>
                    <a:p>
                      <a:r>
                        <a:rPr lang="en-US" b="0" dirty="0" err="1"/>
                        <a:t>Eikelmann</a:t>
                      </a:r>
                      <a:r>
                        <a:rPr lang="en-US" b="0" dirty="0"/>
                        <a:t> et al. Cryogenic Imaging (2026)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dirty="0"/>
                        <a:t>&lt;100 mK／</a:t>
                      </a:r>
                      <a:r>
                        <a:rPr lang="en-US" b="1" dirty="0"/>
                        <a:t>1.1 ±0.2 µ</a:t>
                      </a:r>
                      <a:r>
                        <a:rPr lang="en-US" b="1" dirty="0" err="1"/>
                        <a:t>m</a:t>
                      </a:r>
                      <a:r>
                        <a:rPr lang="en-US" dirty="0" err="1"/>
                        <a:t>、FOV</a:t>
                      </a:r>
                      <a:r>
                        <a:rPr lang="en-US" dirty="0"/>
                        <a:t> 2.5 mm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b="1"/>
                        <a:t>~1 µW</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zh-TW" altLang="en-US" dirty="0"/>
                        <a:t>結構加強；觀察到</a:t>
                      </a:r>
                      <a:r>
                        <a:rPr lang="en-US" altLang="zh-TW" dirty="0"/>
                        <a:t>PT</a:t>
                      </a:r>
                      <a:r>
                        <a:rPr lang="zh-TW" altLang="en-US" dirty="0"/>
                        <a:t>造成解析度下降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zh-TW" altLang="en-US" b="1" dirty="0"/>
                        <a:t>△ 提出與</a:t>
                      </a:r>
                      <a:r>
                        <a:rPr lang="en-US" altLang="zh-TW" b="1" dirty="0"/>
                        <a:t>PT cycle</a:t>
                      </a:r>
                      <a:r>
                        <a:rPr lang="zh-TW" altLang="en-US" b="1" dirty="0"/>
                        <a:t>同步，尚未實作回饋驗證</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zh-TW" altLang="en-US" dirty="0"/>
                        <a:t>△ 以元件辨識／對位為主</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698656696"/>
                  </a:ext>
                </a:extLst>
              </a:tr>
              <a:tr h="0">
                <a:tc>
                  <a:txBody>
                    <a:bodyPr/>
                    <a:lstStyle/>
                    <a:p>
                      <a:r>
                        <a:rPr lang="zh-TW" altLang="en-US" b="0" dirty="0"/>
                        <a:t>本計畫</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US" altLang="zh-TW" b="1" dirty="0"/>
                        <a:t>4 K</a:t>
                      </a:r>
                      <a:r>
                        <a:rPr lang="zh-TW" altLang="en-US" b="1" dirty="0"/>
                        <a:t>／目標 ≤</a:t>
                      </a:r>
                      <a:r>
                        <a:rPr lang="en-US" altLang="zh-TW" b="1" dirty="0"/>
                        <a:t>1 µm</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US" b="1" dirty="0"/>
                        <a:t>µW</a:t>
                      </a:r>
                      <a:r>
                        <a:rPr lang="zh-TW" altLang="en-US" b="1" dirty="0"/>
                        <a:t>級照明</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zh-TW" altLang="en-US" b="1" dirty="0"/>
                        <a:t>振動量測＋短曝光＋影像配準</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US" b="1" dirty="0"/>
                        <a:t>PT phase sensing → synchronized exposure</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US" b="1" dirty="0"/>
                        <a:t>2–10 mm reference → Geometry(T)</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961114354"/>
                  </a:ext>
                </a:extLst>
              </a:tr>
            </a:tbl>
          </a:graphicData>
        </a:graphic>
      </p:graphicFrame>
    </p:spTree>
    <p:extLst>
      <p:ext uri="{BB962C8B-B14F-4D97-AF65-F5344CB8AC3E}">
        <p14:creationId xmlns:p14="http://schemas.microsoft.com/office/powerpoint/2010/main" val="8228681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97848" y="185789"/>
            <a:ext cx="11045923" cy="699067"/>
          </a:xfrm>
        </p:spPr>
        <p:txBody>
          <a:bodyPr/>
          <a:lstStyle/>
          <a:p>
            <a:pPr>
              <a:spcBef>
                <a:spcPts val="1800"/>
              </a:spcBef>
            </a:pPr>
            <a:r>
              <a:rPr lang="zh-TW" altLang="en-US" sz="3600" dirty="0"/>
              <a:t>重要專利布局規劃</a:t>
            </a:r>
            <a:r>
              <a:rPr lang="en-US" altLang="zh-TW" sz="3600" dirty="0"/>
              <a:t>(</a:t>
            </a:r>
            <a:r>
              <a:rPr lang="zh-TW" altLang="en-US" sz="3600" dirty="0"/>
              <a:t>國</a:t>
            </a:r>
            <a:r>
              <a:rPr lang="zh-TW" altLang="en-US" dirty="0"/>
              <a:t>內</a:t>
            </a:r>
            <a:r>
              <a:rPr lang="en-US" altLang="zh-TW" dirty="0"/>
              <a:t>1</a:t>
            </a:r>
            <a:r>
              <a:rPr lang="zh-TW" altLang="en-US" dirty="0"/>
              <a:t>件；國外</a:t>
            </a:r>
            <a:r>
              <a:rPr lang="en-US" altLang="zh-TW" dirty="0"/>
              <a:t>1</a:t>
            </a:r>
            <a:r>
              <a:rPr lang="zh-TW" altLang="en-US" dirty="0"/>
              <a:t>件</a:t>
            </a:r>
            <a:r>
              <a:rPr lang="en-US" altLang="zh-TW" sz="3600" dirty="0"/>
              <a:t>)</a:t>
            </a:r>
            <a:endParaRPr lang="zh-TW" altLang="en-US" sz="3600" dirty="0"/>
          </a:p>
        </p:txBody>
      </p:sp>
      <p:sp>
        <p:nvSpPr>
          <p:cNvPr id="5" name="投影片編號版面配置區 1">
            <a:extLst>
              <a:ext uri="{FF2B5EF4-FFF2-40B4-BE49-F238E27FC236}">
                <a16:creationId xmlns:a16="http://schemas.microsoft.com/office/drawing/2014/main" id="{ED7BC7EA-720D-4A2F-8D3F-C2CCD489AA84}"/>
              </a:ext>
            </a:extLst>
          </p:cNvPr>
          <p:cNvSpPr txBox="1">
            <a:spLocks/>
          </p:cNvSpPr>
          <p:nvPr/>
        </p:nvSpPr>
        <p:spPr bwMode="auto">
          <a:xfrm>
            <a:off x="11430000" y="6619875"/>
            <a:ext cx="762000" cy="238125"/>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zh-TW"/>
            </a:defPPr>
            <a:lvl1pPr algn="r" rtl="0" eaLnBrk="1" fontAlgn="ctr" hangingPunct="1">
              <a:spcBef>
                <a:spcPct val="0"/>
              </a:spcBef>
              <a:spcAft>
                <a:spcPct val="0"/>
              </a:spcAft>
              <a:defRPr kumimoji="1" sz="1200" kern="1200">
                <a:solidFill>
                  <a:schemeClr val="tx1"/>
                </a:solidFill>
                <a:latin typeface="Arial" panose="020B0604020202020204" pitchFamily="34" charset="0"/>
                <a:ea typeface="新細明體" panose="02020500000000000000" pitchFamily="18" charset="-120"/>
                <a:cs typeface="+mn-cs"/>
              </a:defRPr>
            </a:lvl1pPr>
            <a:lvl2pPr marL="742950" indent="-28575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2pPr>
            <a:lvl3pPr marL="1143000" indent="-2286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3pPr>
            <a:lvl4pPr marL="1600200" indent="-2286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4pPr>
            <a:lvl5pPr marL="2057400" indent="-2286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9pPr>
          </a:lstStyle>
          <a:p>
            <a:fld id="{49A9212D-6406-4E12-8CC4-78DDFE99027F}" type="slidenum">
              <a:rPr lang="en-US" altLang="zh-TW" smtClean="0">
                <a:solidFill>
                  <a:schemeClr val="bg1"/>
                </a:solidFill>
                <a:ea typeface="微軟正黑體" panose="020B0604030504040204" pitchFamily="34" charset="-120"/>
              </a:rPr>
              <a:pPr/>
              <a:t>11</a:t>
            </a:fld>
            <a:endParaRPr lang="en-US" altLang="zh-TW">
              <a:solidFill>
                <a:schemeClr val="bg1"/>
              </a:solidFill>
              <a:ea typeface="微軟正黑體" panose="020B0604030504040204" pitchFamily="34" charset="-120"/>
            </a:endParaRPr>
          </a:p>
        </p:txBody>
      </p:sp>
      <p:sp>
        <p:nvSpPr>
          <p:cNvPr id="25" name="Rounded Rectangle 6">
            <a:extLst>
              <a:ext uri="{FF2B5EF4-FFF2-40B4-BE49-F238E27FC236}">
                <a16:creationId xmlns:a16="http://schemas.microsoft.com/office/drawing/2014/main" id="{C7D98E1E-04E0-DF88-AD1C-2508F633D1B6}"/>
              </a:ext>
            </a:extLst>
          </p:cNvPr>
          <p:cNvSpPr/>
          <p:nvPr/>
        </p:nvSpPr>
        <p:spPr>
          <a:xfrm>
            <a:off x="697848" y="1311525"/>
            <a:ext cx="3066360" cy="4492114"/>
          </a:xfrm>
          <a:prstGeom prst="roundRect">
            <a:avLst>
              <a:gd name="adj" fmla="val 3993"/>
            </a:avLst>
          </a:prstGeom>
          <a:solidFill>
            <a:srgbClr val="F3F4F5"/>
          </a:solidFill>
          <a:ln w="12700">
            <a:solidFill>
              <a:srgbClr val="C7CCD1"/>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l">
              <a:spcAft>
                <a:spcPts val="0"/>
              </a:spcAft>
            </a:pPr>
            <a:endParaRPr dirty="0">
              <a:latin typeface="+mn-ea"/>
            </a:endParaRPr>
          </a:p>
        </p:txBody>
      </p:sp>
      <p:sp>
        <p:nvSpPr>
          <p:cNvPr id="26" name="Rounded Rectangle 7">
            <a:extLst>
              <a:ext uri="{FF2B5EF4-FFF2-40B4-BE49-F238E27FC236}">
                <a16:creationId xmlns:a16="http://schemas.microsoft.com/office/drawing/2014/main" id="{D94F81D7-4540-8502-7A6D-47B33EC92C75}"/>
              </a:ext>
            </a:extLst>
          </p:cNvPr>
          <p:cNvSpPr/>
          <p:nvPr/>
        </p:nvSpPr>
        <p:spPr>
          <a:xfrm>
            <a:off x="697847" y="1145265"/>
            <a:ext cx="3066360" cy="636306"/>
          </a:xfrm>
          <a:prstGeom prst="roundRect">
            <a:avLst/>
          </a:prstGeom>
          <a:solidFill>
            <a:srgbClr val="666666"/>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pPr algn="ctr"/>
            <a:r>
              <a:rPr lang="zh-TW" altLang="en-US" b="1" dirty="0">
                <a:solidFill>
                  <a:srgbClr val="FFFFFF"/>
                </a:solidFill>
                <a:latin typeface="+mn-ea"/>
              </a:rPr>
              <a:t>既有專利密集區</a:t>
            </a:r>
            <a:endParaRPr b="1" dirty="0">
              <a:solidFill>
                <a:srgbClr val="FFFFFF"/>
              </a:solidFill>
              <a:latin typeface="+mn-ea"/>
            </a:endParaRPr>
          </a:p>
        </p:txBody>
      </p:sp>
      <p:sp>
        <p:nvSpPr>
          <p:cNvPr id="27" name="TextBox 8">
            <a:extLst>
              <a:ext uri="{FF2B5EF4-FFF2-40B4-BE49-F238E27FC236}">
                <a16:creationId xmlns:a16="http://schemas.microsoft.com/office/drawing/2014/main" id="{CC389D8C-3B24-C963-B892-9A57A1855E98}"/>
              </a:ext>
            </a:extLst>
          </p:cNvPr>
          <p:cNvSpPr txBox="1"/>
          <p:nvPr/>
        </p:nvSpPr>
        <p:spPr>
          <a:xfrm>
            <a:off x="780144" y="1928845"/>
            <a:ext cx="2879675" cy="2363724"/>
          </a:xfrm>
          <a:prstGeom prst="rect">
            <a:avLst/>
          </a:prstGeom>
          <a:noFill/>
          <a:effectLst/>
        </p:spPr>
        <p:txBody>
          <a:bodyPr wrap="square" lIns="73152" tIns="73152" rIns="73152" bIns="73152" anchor="t">
            <a:spAutoFit/>
          </a:bodyPr>
          <a:lstStyle/>
          <a:p>
            <a:pPr marL="285750" indent="-285750">
              <a:buFont typeface="Arial" panose="020B0604020202020204" pitchFamily="34" charset="0"/>
              <a:buChar char="•"/>
            </a:pPr>
            <a:r>
              <a:rPr lang="en-US" altLang="zh-TW" dirty="0">
                <a:latin typeface="+mn-lt"/>
                <a:ea typeface="+mj-ea"/>
              </a:rPr>
              <a:t>ADR</a:t>
            </a:r>
            <a:r>
              <a:rPr lang="zh-TW" altLang="en-US" dirty="0">
                <a:latin typeface="+mn-lt"/>
                <a:ea typeface="+mj-ea"/>
              </a:rPr>
              <a:t>磁熱循環、多級串接與控制 </a:t>
            </a:r>
          </a:p>
          <a:p>
            <a:pPr marL="285750" indent="-285750">
              <a:buFont typeface="Arial" panose="020B0604020202020204" pitchFamily="34" charset="0"/>
              <a:buChar char="•"/>
            </a:pPr>
            <a:r>
              <a:rPr lang="en-US" altLang="zh-TW" dirty="0">
                <a:latin typeface="+mn-lt"/>
                <a:ea typeface="+mj-ea"/>
              </a:rPr>
              <a:t>Cryostat</a:t>
            </a:r>
            <a:r>
              <a:rPr lang="zh-TW" altLang="en-US" dirty="0">
                <a:latin typeface="+mn-lt"/>
                <a:ea typeface="+mj-ea"/>
              </a:rPr>
              <a:t>／</a:t>
            </a:r>
            <a:r>
              <a:rPr lang="en-US" altLang="zh-TW" dirty="0">
                <a:latin typeface="+mn-lt"/>
                <a:ea typeface="+mj-ea"/>
              </a:rPr>
              <a:t>sample stage</a:t>
            </a:r>
            <a:r>
              <a:rPr lang="zh-TW" altLang="en-US" dirty="0">
                <a:latin typeface="+mn-lt"/>
                <a:ea typeface="+mj-ea"/>
              </a:rPr>
              <a:t>與熱管理 </a:t>
            </a:r>
          </a:p>
          <a:p>
            <a:pPr marL="285750" indent="-285750">
              <a:buFont typeface="Arial" panose="020B0604020202020204" pitchFamily="34" charset="0"/>
              <a:buChar char="•"/>
            </a:pPr>
            <a:r>
              <a:rPr lang="zh-TW" altLang="en-US" dirty="0">
                <a:latin typeface="+mn-lt"/>
                <a:ea typeface="+mj-ea"/>
              </a:rPr>
              <a:t>一般低溫光學、顯微成像與機械隔振 </a:t>
            </a:r>
          </a:p>
          <a:p>
            <a:pPr marL="285750" indent="-285750">
              <a:buFont typeface="Arial" panose="020B0604020202020204" pitchFamily="34" charset="0"/>
              <a:buChar char="•"/>
            </a:pPr>
            <a:r>
              <a:rPr lang="en-US" altLang="zh-TW" dirty="0">
                <a:latin typeface="+mn-lt"/>
                <a:ea typeface="+mj-ea"/>
              </a:rPr>
              <a:t>Cryo-CMOS</a:t>
            </a:r>
            <a:r>
              <a:rPr lang="zh-TW" altLang="en-US" dirty="0">
                <a:latin typeface="+mn-lt"/>
                <a:ea typeface="+mj-ea"/>
              </a:rPr>
              <a:t>低溫模型與參數擷取</a:t>
            </a:r>
          </a:p>
        </p:txBody>
      </p:sp>
      <p:sp>
        <p:nvSpPr>
          <p:cNvPr id="28" name="Rounded Rectangle 9">
            <a:extLst>
              <a:ext uri="{FF2B5EF4-FFF2-40B4-BE49-F238E27FC236}">
                <a16:creationId xmlns:a16="http://schemas.microsoft.com/office/drawing/2014/main" id="{0878E3AA-9116-1238-0518-495C503E33AB}"/>
              </a:ext>
            </a:extLst>
          </p:cNvPr>
          <p:cNvSpPr/>
          <p:nvPr/>
        </p:nvSpPr>
        <p:spPr>
          <a:xfrm>
            <a:off x="914457" y="4424419"/>
            <a:ext cx="2640506" cy="1044019"/>
          </a:xfrm>
          <a:prstGeom prst="roundRect">
            <a:avLst/>
          </a:prstGeom>
          <a:solidFill>
            <a:srgbClr val="FFFFFF"/>
          </a:solidFill>
          <a:ln w="12700">
            <a:solidFill>
              <a:srgbClr val="C7CCD1"/>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0"/>
              </a:spcAft>
            </a:pPr>
            <a:r>
              <a:rPr lang="zh-TW" altLang="en-US" b="1" dirty="0">
                <a:solidFill>
                  <a:srgbClr val="000000"/>
                </a:solidFill>
                <a:latin typeface="+mn-ea"/>
              </a:rPr>
              <a:t>避免以既有硬體作主要獨立申請</a:t>
            </a:r>
            <a:endParaRPr lang="zh-TW" altLang="en-US" b="1" dirty="0">
              <a:solidFill>
                <a:srgbClr val="2D2D2D"/>
              </a:solidFill>
              <a:latin typeface="+mn-ea"/>
            </a:endParaRPr>
          </a:p>
        </p:txBody>
      </p:sp>
      <p:sp>
        <p:nvSpPr>
          <p:cNvPr id="29" name="Chevron 10">
            <a:extLst>
              <a:ext uri="{FF2B5EF4-FFF2-40B4-BE49-F238E27FC236}">
                <a16:creationId xmlns:a16="http://schemas.microsoft.com/office/drawing/2014/main" id="{793FE456-63FB-D986-CD64-6075F414AA46}"/>
              </a:ext>
            </a:extLst>
          </p:cNvPr>
          <p:cNvSpPr/>
          <p:nvPr/>
        </p:nvSpPr>
        <p:spPr>
          <a:xfrm>
            <a:off x="3917099" y="3223260"/>
            <a:ext cx="566928" cy="411480"/>
          </a:xfrm>
          <a:prstGeom prst="chevron">
            <a:avLst/>
          </a:prstGeom>
          <a:solidFill>
            <a:srgbClr val="E88A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n-ea"/>
            </a:endParaRPr>
          </a:p>
        </p:txBody>
      </p:sp>
      <p:sp>
        <p:nvSpPr>
          <p:cNvPr id="31" name="Rounded Rectangle 12">
            <a:extLst>
              <a:ext uri="{FF2B5EF4-FFF2-40B4-BE49-F238E27FC236}">
                <a16:creationId xmlns:a16="http://schemas.microsoft.com/office/drawing/2014/main" id="{B77A031F-F474-9CA0-3E31-EBC3A3EA357E}"/>
              </a:ext>
            </a:extLst>
          </p:cNvPr>
          <p:cNvSpPr/>
          <p:nvPr/>
        </p:nvSpPr>
        <p:spPr>
          <a:xfrm>
            <a:off x="4701611" y="1428158"/>
            <a:ext cx="3312000" cy="4375481"/>
          </a:xfrm>
          <a:prstGeom prst="roundRect">
            <a:avLst>
              <a:gd name="adj" fmla="val 3263"/>
            </a:avLst>
          </a:prstGeom>
          <a:solidFill>
            <a:srgbClr val="E8F5F5"/>
          </a:solidFill>
          <a:ln w="12700">
            <a:solidFill>
              <a:srgbClr val="00A6A6"/>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l">
              <a:spcAft>
                <a:spcPts val="0"/>
              </a:spcAft>
            </a:pPr>
            <a:endParaRPr>
              <a:latin typeface="+mn-ea"/>
            </a:endParaRPr>
          </a:p>
        </p:txBody>
      </p:sp>
      <p:sp>
        <p:nvSpPr>
          <p:cNvPr id="32" name="Rounded Rectangle 13">
            <a:extLst>
              <a:ext uri="{FF2B5EF4-FFF2-40B4-BE49-F238E27FC236}">
                <a16:creationId xmlns:a16="http://schemas.microsoft.com/office/drawing/2014/main" id="{9F72FCFD-456C-9CDB-7D07-F5F4A51CCF93}"/>
              </a:ext>
            </a:extLst>
          </p:cNvPr>
          <p:cNvSpPr/>
          <p:nvPr/>
        </p:nvSpPr>
        <p:spPr>
          <a:xfrm>
            <a:off x="4703347" y="1158110"/>
            <a:ext cx="3317462" cy="623461"/>
          </a:xfrm>
          <a:prstGeom prst="roundRect">
            <a:avLst/>
          </a:prstGeom>
          <a:solidFill>
            <a:srgbClr val="007379"/>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pPr algn="l"/>
            <a:r>
              <a:rPr b="1" dirty="0">
                <a:solidFill>
                  <a:srgbClr val="FFFFFF"/>
                </a:solidFill>
                <a:latin typeface="+mn-ea"/>
              </a:rPr>
              <a:t>國內1件｜</a:t>
            </a:r>
            <a:r>
              <a:rPr lang="zh-TW" altLang="en-US" dirty="0"/>
              <a:t>振動回饋式低溫二維尺寸量測方法</a:t>
            </a:r>
            <a:endParaRPr b="1" dirty="0">
              <a:solidFill>
                <a:srgbClr val="FFFFFF"/>
              </a:solidFill>
              <a:latin typeface="+mn-ea"/>
            </a:endParaRPr>
          </a:p>
        </p:txBody>
      </p:sp>
      <p:sp>
        <p:nvSpPr>
          <p:cNvPr id="33" name="TextBox 14">
            <a:extLst>
              <a:ext uri="{FF2B5EF4-FFF2-40B4-BE49-F238E27FC236}">
                <a16:creationId xmlns:a16="http://schemas.microsoft.com/office/drawing/2014/main" id="{645E5345-3E08-2E4D-19B2-7A602823CAF2}"/>
              </a:ext>
            </a:extLst>
          </p:cNvPr>
          <p:cNvSpPr txBox="1"/>
          <p:nvPr/>
        </p:nvSpPr>
        <p:spPr>
          <a:xfrm>
            <a:off x="4715964" y="2105026"/>
            <a:ext cx="3246120" cy="1809726"/>
          </a:xfrm>
          <a:prstGeom prst="rect">
            <a:avLst/>
          </a:prstGeom>
          <a:noFill/>
          <a:effectLst/>
        </p:spPr>
        <p:txBody>
          <a:bodyPr wrap="square" lIns="73152" tIns="73152" rIns="73152" bIns="73152" anchor="t">
            <a:spAutoFit/>
          </a:bodyPr>
          <a:lstStyle/>
          <a:p>
            <a:pPr marL="285750" indent="-285750">
              <a:buFont typeface="Arial" panose="020B0604020202020204" pitchFamily="34" charset="0"/>
              <a:buChar char="•"/>
            </a:pPr>
            <a:r>
              <a:rPr lang="zh-TW" altLang="en-US" dirty="0">
                <a:latin typeface="+mn-lt"/>
                <a:ea typeface="+mj-ea"/>
              </a:rPr>
              <a:t>量測 </a:t>
            </a:r>
            <a:r>
              <a:rPr lang="en-US" altLang="zh-TW" dirty="0">
                <a:latin typeface="+mn-lt"/>
                <a:ea typeface="+mj-ea"/>
              </a:rPr>
              <a:t>Pulse-tube </a:t>
            </a:r>
            <a:r>
              <a:rPr lang="zh-TW" altLang="en-US" dirty="0">
                <a:latin typeface="+mn-lt"/>
                <a:ea typeface="+mj-ea"/>
              </a:rPr>
              <a:t>週期振動與相位 </a:t>
            </a:r>
          </a:p>
          <a:p>
            <a:pPr marL="285750" indent="-285750">
              <a:buFont typeface="Arial" panose="020B0604020202020204" pitchFamily="34" charset="0"/>
              <a:buChar char="•"/>
            </a:pPr>
            <a:r>
              <a:rPr lang="zh-TW" altLang="en-US" dirty="0">
                <a:latin typeface="+mn-lt"/>
                <a:ea typeface="+mj-ea"/>
              </a:rPr>
              <a:t>依低相對位移時窗進行</a:t>
            </a:r>
            <a:r>
              <a:rPr lang="zh-TW" altLang="en-US" b="1" dirty="0">
                <a:latin typeface="+mn-lt"/>
                <a:ea typeface="+mj-ea"/>
              </a:rPr>
              <a:t>同步短曝光</a:t>
            </a:r>
            <a:r>
              <a:rPr lang="zh-TW" altLang="en-US" dirty="0">
                <a:latin typeface="+mn-lt"/>
                <a:ea typeface="+mj-ea"/>
              </a:rPr>
              <a:t> </a:t>
            </a:r>
          </a:p>
          <a:p>
            <a:pPr marL="285750" indent="-285750">
              <a:buFont typeface="Arial" panose="020B0604020202020204" pitchFamily="34" charset="0"/>
              <a:buChar char="•"/>
            </a:pPr>
            <a:r>
              <a:rPr lang="zh-TW" altLang="en-US" dirty="0">
                <a:latin typeface="+mn-lt"/>
                <a:ea typeface="+mj-ea"/>
              </a:rPr>
              <a:t>結合多幀影像配準取得 </a:t>
            </a:r>
            <a:r>
              <a:rPr lang="en-US" altLang="zh-TW" b="1" dirty="0">
                <a:latin typeface="+mn-lt"/>
                <a:ea typeface="+mj-ea"/>
              </a:rPr>
              <a:t>Geometry(T)</a:t>
            </a:r>
            <a:endParaRPr lang="zh-TW" altLang="en-US" dirty="0">
              <a:latin typeface="+mn-lt"/>
              <a:ea typeface="+mj-ea"/>
            </a:endParaRPr>
          </a:p>
        </p:txBody>
      </p:sp>
      <p:sp>
        <p:nvSpPr>
          <p:cNvPr id="34" name="Rounded Rectangle 15">
            <a:extLst>
              <a:ext uri="{FF2B5EF4-FFF2-40B4-BE49-F238E27FC236}">
                <a16:creationId xmlns:a16="http://schemas.microsoft.com/office/drawing/2014/main" id="{1549835A-6E04-EDF7-3D8E-A4C0E3B457FF}"/>
              </a:ext>
            </a:extLst>
          </p:cNvPr>
          <p:cNvSpPr/>
          <p:nvPr/>
        </p:nvSpPr>
        <p:spPr>
          <a:xfrm>
            <a:off x="4879909" y="4424420"/>
            <a:ext cx="2892491" cy="1044019"/>
          </a:xfrm>
          <a:prstGeom prst="roundRect">
            <a:avLst/>
          </a:prstGeom>
          <a:solidFill>
            <a:srgbClr val="FFFFFF"/>
          </a:solidFill>
          <a:ln w="12700">
            <a:solidFill>
              <a:srgbClr val="00A6A6"/>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0"/>
              </a:spcAft>
            </a:pPr>
            <a:r>
              <a:rPr lang="zh-TW" altLang="en-US" b="1" dirty="0">
                <a:solidFill>
                  <a:srgbClr val="007379"/>
                </a:solidFill>
              </a:rPr>
              <a:t>保護核心｜振動相位 → 取像時序 → 低溫尺寸量測</a:t>
            </a:r>
            <a:endParaRPr lang="zh-TW" altLang="en-US" b="1" dirty="0">
              <a:solidFill>
                <a:srgbClr val="007379"/>
              </a:solidFill>
              <a:latin typeface="+mn-ea"/>
            </a:endParaRPr>
          </a:p>
        </p:txBody>
      </p:sp>
      <p:sp>
        <p:nvSpPr>
          <p:cNvPr id="35" name="Rounded Rectangle 16">
            <a:extLst>
              <a:ext uri="{FF2B5EF4-FFF2-40B4-BE49-F238E27FC236}">
                <a16:creationId xmlns:a16="http://schemas.microsoft.com/office/drawing/2014/main" id="{0FD579C2-63F4-9E76-B9C6-08BCA0B6DC04}"/>
              </a:ext>
            </a:extLst>
          </p:cNvPr>
          <p:cNvSpPr/>
          <p:nvPr/>
        </p:nvSpPr>
        <p:spPr>
          <a:xfrm>
            <a:off x="8270891" y="1311525"/>
            <a:ext cx="3312000" cy="4492115"/>
          </a:xfrm>
          <a:prstGeom prst="roundRect">
            <a:avLst>
              <a:gd name="adj" fmla="val 1750"/>
            </a:avLst>
          </a:prstGeom>
          <a:solidFill>
            <a:srgbClr val="EEEEF8"/>
          </a:solidFill>
          <a:ln w="12700">
            <a:solidFill>
              <a:srgbClr val="333399"/>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l">
              <a:spcAft>
                <a:spcPts val="0"/>
              </a:spcAft>
            </a:pPr>
            <a:endParaRPr>
              <a:latin typeface="+mn-ea"/>
            </a:endParaRPr>
          </a:p>
        </p:txBody>
      </p:sp>
      <p:sp>
        <p:nvSpPr>
          <p:cNvPr id="36" name="Rounded Rectangle 17">
            <a:extLst>
              <a:ext uri="{FF2B5EF4-FFF2-40B4-BE49-F238E27FC236}">
                <a16:creationId xmlns:a16="http://schemas.microsoft.com/office/drawing/2014/main" id="{63E8EAF8-C60F-D85C-9B44-1C1D970F3392}"/>
              </a:ext>
            </a:extLst>
          </p:cNvPr>
          <p:cNvSpPr/>
          <p:nvPr/>
        </p:nvSpPr>
        <p:spPr>
          <a:xfrm>
            <a:off x="8270890" y="1146934"/>
            <a:ext cx="3317462" cy="621792"/>
          </a:xfrm>
          <a:prstGeom prst="roundRect">
            <a:avLst/>
          </a:prstGeom>
          <a:solidFill>
            <a:srgbClr val="333399"/>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pPr algn="l"/>
            <a:r>
              <a:rPr b="1" dirty="0">
                <a:solidFill>
                  <a:srgbClr val="FFFFFF"/>
                </a:solidFill>
                <a:latin typeface="+mn-ea"/>
              </a:rPr>
              <a:t>國外1件｜跨溫校正與幾何－電氣分離方法</a:t>
            </a:r>
          </a:p>
        </p:txBody>
      </p:sp>
      <p:sp>
        <p:nvSpPr>
          <p:cNvPr id="37" name="TextBox 18">
            <a:extLst>
              <a:ext uri="{FF2B5EF4-FFF2-40B4-BE49-F238E27FC236}">
                <a16:creationId xmlns:a16="http://schemas.microsoft.com/office/drawing/2014/main" id="{741D8E7D-A69E-214F-61E1-5AFAE5F41031}"/>
              </a:ext>
            </a:extLst>
          </p:cNvPr>
          <p:cNvSpPr txBox="1"/>
          <p:nvPr/>
        </p:nvSpPr>
        <p:spPr>
          <a:xfrm>
            <a:off x="8369559" y="1889583"/>
            <a:ext cx="3164460" cy="2517612"/>
          </a:xfrm>
          <a:prstGeom prst="rect">
            <a:avLst/>
          </a:prstGeom>
          <a:noFill/>
          <a:effectLst/>
        </p:spPr>
        <p:txBody>
          <a:bodyPr wrap="square" lIns="73152" tIns="73152" rIns="73152" bIns="73152" anchor="t">
            <a:spAutoFit/>
          </a:bodyPr>
          <a:lstStyle/>
          <a:p>
            <a:pPr marL="177800" indent="-177800" algn="l">
              <a:lnSpc>
                <a:spcPct val="100000"/>
              </a:lnSpc>
              <a:spcBef>
                <a:spcPts val="0"/>
              </a:spcBef>
              <a:spcAft>
                <a:spcPts val="600"/>
              </a:spcAft>
              <a:buFont typeface="Arial" panose="020B0604020202020204" pitchFamily="34" charset="0"/>
              <a:buChar char="•"/>
            </a:pPr>
            <a:r>
              <a:rPr lang="zh-TW" altLang="en-US" b="0" dirty="0">
                <a:solidFill>
                  <a:srgbClr val="000000"/>
                </a:solidFill>
                <a:latin typeface="+mn-ea"/>
                <a:ea typeface="+mn-ea"/>
              </a:rPr>
              <a:t>以 </a:t>
            </a:r>
            <a:r>
              <a:rPr lang="en-US" altLang="zh-TW" b="0" dirty="0">
                <a:solidFill>
                  <a:srgbClr val="000000"/>
                </a:solidFill>
                <a:latin typeface="+mn-ea"/>
                <a:ea typeface="+mn-ea"/>
              </a:rPr>
              <a:t>2–10 mm reference structure / fiducial marks </a:t>
            </a:r>
            <a:r>
              <a:rPr lang="zh-TW" altLang="en-US" b="0" dirty="0">
                <a:solidFill>
                  <a:srgbClr val="000000"/>
                </a:solidFill>
                <a:latin typeface="+mn-ea"/>
                <a:ea typeface="+mn-ea"/>
              </a:rPr>
              <a:t>建立跨溫尺寸基準  </a:t>
            </a:r>
            <a:endParaRPr lang="en-US" altLang="zh-TW" b="0" dirty="0">
              <a:solidFill>
                <a:srgbClr val="000000"/>
              </a:solidFill>
              <a:latin typeface="+mn-ea"/>
              <a:ea typeface="+mn-ea"/>
            </a:endParaRPr>
          </a:p>
          <a:p>
            <a:pPr marL="177800" indent="-177800" algn="l">
              <a:lnSpc>
                <a:spcPct val="100000"/>
              </a:lnSpc>
              <a:spcBef>
                <a:spcPts val="0"/>
              </a:spcBef>
              <a:spcAft>
                <a:spcPts val="600"/>
              </a:spcAft>
              <a:buFont typeface="Arial" panose="020B0604020202020204" pitchFamily="34" charset="0"/>
              <a:buChar char="•"/>
            </a:pPr>
            <a:r>
              <a:rPr lang="zh-TW" altLang="en-US" b="0" dirty="0">
                <a:solidFill>
                  <a:srgbClr val="000000"/>
                </a:solidFill>
                <a:latin typeface="+mn-ea"/>
                <a:ea typeface="+mn-ea"/>
              </a:rPr>
              <a:t>取得</a:t>
            </a:r>
            <a:r>
              <a:rPr lang="en-US" altLang="zh-TW" b="0" dirty="0">
                <a:solidFill>
                  <a:srgbClr val="000000"/>
                </a:solidFill>
                <a:latin typeface="+mn-ea"/>
                <a:ea typeface="+mn-ea"/>
              </a:rPr>
              <a:t>300 K</a:t>
            </a:r>
            <a:r>
              <a:rPr lang="zh-TW" altLang="en-US" b="0" dirty="0">
                <a:solidFill>
                  <a:srgbClr val="000000"/>
                </a:solidFill>
                <a:latin typeface="+mn-ea"/>
                <a:ea typeface="+mn-ea"/>
              </a:rPr>
              <a:t>／</a:t>
            </a:r>
            <a:r>
              <a:rPr lang="en-US" altLang="zh-TW" b="0" dirty="0">
                <a:solidFill>
                  <a:srgbClr val="000000"/>
                </a:solidFill>
                <a:latin typeface="+mn-ea"/>
                <a:ea typeface="+mn-ea"/>
              </a:rPr>
              <a:t>4 K</a:t>
            </a:r>
            <a:r>
              <a:rPr lang="zh-TW" altLang="en-US" b="0" dirty="0">
                <a:solidFill>
                  <a:srgbClr val="000000"/>
                </a:solidFill>
                <a:latin typeface="+mn-ea"/>
                <a:ea typeface="+mn-ea"/>
              </a:rPr>
              <a:t>／</a:t>
            </a:r>
            <a:r>
              <a:rPr lang="en-US" altLang="zh-TW" b="0" dirty="0">
                <a:solidFill>
                  <a:srgbClr val="000000"/>
                </a:solidFill>
                <a:latin typeface="+mn-ea"/>
                <a:ea typeface="+mn-ea"/>
              </a:rPr>
              <a:t>1 K</a:t>
            </a:r>
            <a:r>
              <a:rPr lang="zh-TW" altLang="en-US" b="0" dirty="0">
                <a:solidFill>
                  <a:srgbClr val="000000"/>
                </a:solidFill>
                <a:latin typeface="+mn-ea"/>
                <a:ea typeface="+mn-ea"/>
              </a:rPr>
              <a:t>之 </a:t>
            </a:r>
            <a:r>
              <a:rPr lang="en-US" altLang="zh-TW" b="0" dirty="0">
                <a:solidFill>
                  <a:srgbClr val="000000"/>
                </a:solidFill>
                <a:latin typeface="+mn-ea"/>
                <a:ea typeface="+mn-ea"/>
              </a:rPr>
              <a:t>Geometry(T)  </a:t>
            </a:r>
          </a:p>
          <a:p>
            <a:pPr marL="177800" indent="-177800" algn="l">
              <a:lnSpc>
                <a:spcPct val="100000"/>
              </a:lnSpc>
              <a:spcBef>
                <a:spcPts val="0"/>
              </a:spcBef>
              <a:spcAft>
                <a:spcPts val="600"/>
              </a:spcAft>
              <a:buFont typeface="Arial" panose="020B0604020202020204" pitchFamily="34" charset="0"/>
              <a:buChar char="•"/>
            </a:pPr>
            <a:r>
              <a:rPr lang="zh-TW" altLang="en-US" b="0" dirty="0">
                <a:solidFill>
                  <a:srgbClr val="000000"/>
                </a:solidFill>
                <a:latin typeface="+mn-ea"/>
                <a:ea typeface="+mn-ea"/>
              </a:rPr>
              <a:t>結合</a:t>
            </a:r>
            <a:r>
              <a:rPr lang="en-US" altLang="zh-TW" b="0" dirty="0">
                <a:solidFill>
                  <a:srgbClr val="000000"/>
                </a:solidFill>
                <a:latin typeface="+mn-ea"/>
                <a:ea typeface="+mn-ea"/>
              </a:rPr>
              <a:t>DC</a:t>
            </a:r>
            <a:r>
              <a:rPr lang="zh-TW" altLang="en-US" b="0" dirty="0">
                <a:solidFill>
                  <a:srgbClr val="000000"/>
                </a:solidFill>
                <a:latin typeface="+mn-ea"/>
                <a:ea typeface="+mn-ea"/>
              </a:rPr>
              <a:t>／</a:t>
            </a:r>
            <a:r>
              <a:rPr lang="en-US" altLang="zh-TW" b="0" dirty="0">
                <a:solidFill>
                  <a:srgbClr val="000000"/>
                </a:solidFill>
                <a:latin typeface="+mn-ea"/>
                <a:ea typeface="+mn-ea"/>
              </a:rPr>
              <a:t>RF</a:t>
            </a:r>
            <a:r>
              <a:rPr lang="zh-TW" altLang="en-US" b="0" dirty="0">
                <a:solidFill>
                  <a:srgbClr val="000000"/>
                </a:solidFill>
                <a:latin typeface="+mn-ea"/>
                <a:ea typeface="+mn-ea"/>
              </a:rPr>
              <a:t>參數，建立可延伸至 </a:t>
            </a:r>
            <a:r>
              <a:rPr lang="en-US" altLang="zh-TW" b="0" dirty="0">
                <a:solidFill>
                  <a:srgbClr val="000000"/>
                </a:solidFill>
                <a:latin typeface="+mn-ea"/>
                <a:ea typeface="+mn-ea"/>
              </a:rPr>
              <a:t>inductor</a:t>
            </a:r>
            <a:r>
              <a:rPr lang="zh-TW" altLang="en-US" b="0" dirty="0">
                <a:solidFill>
                  <a:srgbClr val="000000"/>
                </a:solidFill>
                <a:latin typeface="+mn-ea"/>
                <a:ea typeface="+mn-ea"/>
              </a:rPr>
              <a:t>／</a:t>
            </a:r>
            <a:r>
              <a:rPr lang="en-US" altLang="zh-TW" b="0" dirty="0">
                <a:solidFill>
                  <a:srgbClr val="000000"/>
                </a:solidFill>
                <a:latin typeface="+mn-ea"/>
                <a:ea typeface="+mn-ea"/>
              </a:rPr>
              <a:t>CPW</a:t>
            </a:r>
            <a:r>
              <a:rPr lang="zh-TW" altLang="en-US" b="0" dirty="0">
                <a:solidFill>
                  <a:srgbClr val="000000"/>
                </a:solidFill>
                <a:latin typeface="+mn-ea"/>
                <a:ea typeface="+mn-ea"/>
              </a:rPr>
              <a:t>／</a:t>
            </a:r>
            <a:r>
              <a:rPr lang="en-US" altLang="zh-TW" b="0" dirty="0">
                <a:solidFill>
                  <a:srgbClr val="000000"/>
                </a:solidFill>
                <a:latin typeface="+mn-ea"/>
                <a:ea typeface="+mn-ea"/>
              </a:rPr>
              <a:t>resonator</a:t>
            </a:r>
            <a:r>
              <a:rPr lang="zh-TW" altLang="en-US" b="0" dirty="0">
                <a:solidFill>
                  <a:srgbClr val="000000"/>
                </a:solidFill>
                <a:latin typeface="+mn-ea"/>
                <a:ea typeface="+mn-ea"/>
              </a:rPr>
              <a:t>之模型流程</a:t>
            </a:r>
            <a:endParaRPr b="0" dirty="0">
              <a:solidFill>
                <a:srgbClr val="000000"/>
              </a:solidFill>
              <a:latin typeface="+mn-ea"/>
              <a:ea typeface="+mn-ea"/>
            </a:endParaRPr>
          </a:p>
        </p:txBody>
      </p:sp>
      <p:sp>
        <p:nvSpPr>
          <p:cNvPr id="38" name="Rounded Rectangle 19">
            <a:extLst>
              <a:ext uri="{FF2B5EF4-FFF2-40B4-BE49-F238E27FC236}">
                <a16:creationId xmlns:a16="http://schemas.microsoft.com/office/drawing/2014/main" id="{6D9EE313-F418-9DCD-1AB1-457783A13416}"/>
              </a:ext>
            </a:extLst>
          </p:cNvPr>
          <p:cNvSpPr/>
          <p:nvPr/>
        </p:nvSpPr>
        <p:spPr>
          <a:xfrm>
            <a:off x="8440054" y="4424421"/>
            <a:ext cx="2989946" cy="1044019"/>
          </a:xfrm>
          <a:prstGeom prst="roundRect">
            <a:avLst/>
          </a:prstGeom>
          <a:solidFill>
            <a:srgbClr val="FFFFFF"/>
          </a:solidFill>
          <a:ln w="12700">
            <a:solidFill>
              <a:srgbClr val="333399"/>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0"/>
              </a:spcAft>
            </a:pPr>
            <a:r>
              <a:rPr lang="zh-TW" altLang="en-US" b="1" dirty="0">
                <a:solidFill>
                  <a:srgbClr val="333399"/>
                </a:solidFill>
                <a:latin typeface="+mn-ea"/>
              </a:rPr>
              <a:t>差異核心｜</a:t>
            </a:r>
            <a:r>
              <a:rPr lang="en-US" altLang="zh-TW" b="1" dirty="0">
                <a:solidFill>
                  <a:srgbClr val="333399"/>
                </a:solidFill>
                <a:latin typeface="+mn-ea"/>
              </a:rPr>
              <a:t>Measured Geometry(T) → Model → Electrical Validation</a:t>
            </a:r>
            <a:endParaRPr lang="zh-TW" altLang="en-US" b="1" dirty="0">
              <a:solidFill>
                <a:srgbClr val="333399"/>
              </a:solidFill>
              <a:latin typeface="+mn-ea"/>
            </a:endParaRPr>
          </a:p>
        </p:txBody>
      </p:sp>
    </p:spTree>
    <p:extLst>
      <p:ext uri="{BB962C8B-B14F-4D97-AF65-F5344CB8AC3E}">
        <p14:creationId xmlns:p14="http://schemas.microsoft.com/office/powerpoint/2010/main" val="15064634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2949" y="139229"/>
            <a:ext cx="11045923" cy="740765"/>
          </a:xfrm>
        </p:spPr>
        <p:txBody>
          <a:bodyPr/>
          <a:lstStyle/>
          <a:p>
            <a:pPr>
              <a:spcBef>
                <a:spcPts val="1800"/>
              </a:spcBef>
            </a:pPr>
            <a:r>
              <a:rPr lang="zh-TW" altLang="en-US" sz="3600" dirty="0"/>
              <a:t>本計畫對產業創新影響性及未來啟動科專</a:t>
            </a:r>
            <a:r>
              <a:rPr lang="en-US" altLang="zh-TW" sz="3600" dirty="0"/>
              <a:t>or</a:t>
            </a:r>
            <a:r>
              <a:rPr lang="zh-TW" altLang="en-US" sz="3600" dirty="0"/>
              <a:t>新創規劃</a:t>
            </a:r>
          </a:p>
        </p:txBody>
      </p:sp>
      <p:sp>
        <p:nvSpPr>
          <p:cNvPr id="3" name="投影片編號版面配置區 1">
            <a:extLst>
              <a:ext uri="{FF2B5EF4-FFF2-40B4-BE49-F238E27FC236}">
                <a16:creationId xmlns:a16="http://schemas.microsoft.com/office/drawing/2014/main" id="{CFF7E6C9-CFA6-46F9-BFD6-31928B385119}"/>
              </a:ext>
            </a:extLst>
          </p:cNvPr>
          <p:cNvSpPr txBox="1">
            <a:spLocks/>
          </p:cNvSpPr>
          <p:nvPr/>
        </p:nvSpPr>
        <p:spPr bwMode="auto">
          <a:xfrm>
            <a:off x="11430000" y="6619875"/>
            <a:ext cx="762000" cy="238125"/>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zh-TW"/>
            </a:defPPr>
            <a:lvl1pPr algn="r" rtl="0" eaLnBrk="1" fontAlgn="ctr" hangingPunct="1">
              <a:spcBef>
                <a:spcPct val="0"/>
              </a:spcBef>
              <a:spcAft>
                <a:spcPct val="0"/>
              </a:spcAft>
              <a:defRPr kumimoji="1" sz="1200" kern="1200">
                <a:solidFill>
                  <a:schemeClr val="tx1"/>
                </a:solidFill>
                <a:latin typeface="Arial" panose="020B0604020202020204" pitchFamily="34" charset="0"/>
                <a:ea typeface="新細明體" panose="02020500000000000000" pitchFamily="18" charset="-120"/>
                <a:cs typeface="+mn-cs"/>
              </a:defRPr>
            </a:lvl1pPr>
            <a:lvl2pPr marL="742950" indent="-28575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2pPr>
            <a:lvl3pPr marL="1143000" indent="-2286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3pPr>
            <a:lvl4pPr marL="1600200" indent="-2286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4pPr>
            <a:lvl5pPr marL="2057400" indent="-2286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5pPr>
            <a:lvl6pPr marL="2514600" indent="-228600" algn="l" defTabSz="914400" rtl="0" eaLnBrk="0" fontAlgn="base" latinLnBrk="0"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6pPr>
            <a:lvl7pPr marL="2971800" indent="-228600" algn="l" defTabSz="914400" rtl="0" eaLnBrk="0" fontAlgn="base" latinLnBrk="0"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7pPr>
            <a:lvl8pPr marL="3429000" indent="-228600" algn="l" defTabSz="914400" rtl="0" eaLnBrk="0" fontAlgn="base" latinLnBrk="0"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8pPr>
            <a:lvl9pPr marL="3886200" indent="-228600" algn="l" defTabSz="914400" rtl="0" eaLnBrk="0" fontAlgn="base" latinLnBrk="0"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9pPr>
          </a:lstStyle>
          <a:p>
            <a:fld id="{49A9212D-6406-4E12-8CC4-78DDFE99027F}" type="slidenum">
              <a:rPr lang="en-US" altLang="zh-TW" smtClean="0">
                <a:solidFill>
                  <a:schemeClr val="bg1"/>
                </a:solidFill>
                <a:ea typeface="微軟正黑體" panose="020B0604030504040204" pitchFamily="34" charset="-120"/>
              </a:rPr>
              <a:pPr/>
              <a:t>12</a:t>
            </a:fld>
            <a:endParaRPr lang="en-US" altLang="zh-TW">
              <a:solidFill>
                <a:schemeClr val="bg1"/>
              </a:solidFill>
              <a:ea typeface="微軟正黑體" panose="020B0604030504040204" pitchFamily="34" charset="-120"/>
            </a:endParaRPr>
          </a:p>
        </p:txBody>
      </p:sp>
      <p:sp>
        <p:nvSpPr>
          <p:cNvPr id="16" name="Rounded Rectangle 4">
            <a:extLst>
              <a:ext uri="{FF2B5EF4-FFF2-40B4-BE49-F238E27FC236}">
                <a16:creationId xmlns:a16="http://schemas.microsoft.com/office/drawing/2014/main" id="{707F94D5-5983-251C-C9CF-011692FB62E9}"/>
              </a:ext>
            </a:extLst>
          </p:cNvPr>
          <p:cNvSpPr/>
          <p:nvPr/>
        </p:nvSpPr>
        <p:spPr>
          <a:xfrm>
            <a:off x="640080" y="1124594"/>
            <a:ext cx="3063240" cy="4517109"/>
          </a:xfrm>
          <a:prstGeom prst="roundRect">
            <a:avLst>
              <a:gd name="adj" fmla="val 6243"/>
            </a:avLst>
          </a:prstGeom>
          <a:solidFill>
            <a:srgbClr val="E8F5F5"/>
          </a:solidFill>
          <a:ln w="12700">
            <a:solidFill>
              <a:srgbClr val="00A6A6"/>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l">
              <a:spcAft>
                <a:spcPts val="0"/>
              </a:spcAft>
            </a:pPr>
            <a:endParaRPr>
              <a:latin typeface="+mj-lt"/>
              <a:ea typeface="+mj-ea"/>
            </a:endParaRPr>
          </a:p>
        </p:txBody>
      </p:sp>
      <p:sp>
        <p:nvSpPr>
          <p:cNvPr id="17" name="Rounded Rectangle 5">
            <a:extLst>
              <a:ext uri="{FF2B5EF4-FFF2-40B4-BE49-F238E27FC236}">
                <a16:creationId xmlns:a16="http://schemas.microsoft.com/office/drawing/2014/main" id="{3559D6DA-220E-5971-0FF0-9FA42BCBB41E}"/>
              </a:ext>
            </a:extLst>
          </p:cNvPr>
          <p:cNvSpPr/>
          <p:nvPr/>
        </p:nvSpPr>
        <p:spPr>
          <a:xfrm>
            <a:off x="640080" y="1124594"/>
            <a:ext cx="3063240" cy="621791"/>
          </a:xfrm>
          <a:prstGeom prst="roundRect">
            <a:avLst/>
          </a:prstGeom>
          <a:solidFill>
            <a:srgbClr val="007379"/>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pPr algn="l"/>
            <a:r>
              <a:rPr b="1" dirty="0" err="1">
                <a:solidFill>
                  <a:srgbClr val="FFFFFF"/>
                </a:solidFill>
                <a:latin typeface="+mj-lt"/>
                <a:ea typeface="+mj-ea"/>
              </a:rPr>
              <a:t>前期研發能量｜</a:t>
            </a:r>
            <a:r>
              <a:rPr dirty="0" err="1">
                <a:solidFill>
                  <a:srgbClr val="FFFFFF"/>
                </a:solidFill>
                <a:latin typeface="+mj-lt"/>
                <a:ea typeface="+mj-ea"/>
              </a:rPr>
              <a:t>已具備</a:t>
            </a:r>
            <a:endParaRPr dirty="0">
              <a:solidFill>
                <a:srgbClr val="FFFFFF"/>
              </a:solidFill>
              <a:latin typeface="+mj-lt"/>
              <a:ea typeface="+mj-ea"/>
            </a:endParaRPr>
          </a:p>
        </p:txBody>
      </p:sp>
      <p:sp>
        <p:nvSpPr>
          <p:cNvPr id="18" name="TextBox 6">
            <a:extLst>
              <a:ext uri="{FF2B5EF4-FFF2-40B4-BE49-F238E27FC236}">
                <a16:creationId xmlns:a16="http://schemas.microsoft.com/office/drawing/2014/main" id="{CB9F0F59-40FA-B721-171F-37790E7C94FE}"/>
              </a:ext>
            </a:extLst>
          </p:cNvPr>
          <p:cNvSpPr txBox="1"/>
          <p:nvPr/>
        </p:nvSpPr>
        <p:spPr>
          <a:xfrm>
            <a:off x="740129" y="1764823"/>
            <a:ext cx="2821117" cy="2150845"/>
          </a:xfrm>
          <a:prstGeom prst="rect">
            <a:avLst/>
          </a:prstGeom>
          <a:noFill/>
          <a:effectLst/>
        </p:spPr>
        <p:txBody>
          <a:bodyPr wrap="square" lIns="73152" tIns="73152" rIns="73152" bIns="73152" anchor="t">
            <a:spAutoFit/>
          </a:bodyPr>
          <a:lstStyle/>
          <a:p>
            <a:pPr marL="177800" indent="-177800">
              <a:spcBef>
                <a:spcPts val="0"/>
              </a:spcBef>
              <a:spcAft>
                <a:spcPts val="500"/>
              </a:spcAft>
              <a:buFont typeface="Arial" panose="020B0604020202020204" pitchFamily="34" charset="0"/>
              <a:buChar char="•"/>
            </a:pPr>
            <a:r>
              <a:rPr lang="zh-TW" altLang="en-US" dirty="0">
                <a:latin typeface="+mj-lt"/>
                <a:ea typeface="+mj-ea"/>
              </a:rPr>
              <a:t>具備 </a:t>
            </a:r>
            <a:r>
              <a:rPr lang="en-US" altLang="zh-TW" b="1" dirty="0">
                <a:latin typeface="+mj-lt"/>
                <a:ea typeface="+mj-ea"/>
              </a:rPr>
              <a:t>4 K</a:t>
            </a:r>
            <a:r>
              <a:rPr lang="zh-TW" altLang="en-US" b="1" dirty="0">
                <a:latin typeface="+mj-lt"/>
                <a:ea typeface="+mj-ea"/>
              </a:rPr>
              <a:t>低溫光學</a:t>
            </a:r>
            <a:r>
              <a:rPr lang="zh-TW" altLang="en-US" dirty="0">
                <a:latin typeface="+mj-lt"/>
                <a:ea typeface="+mj-ea"/>
              </a:rPr>
              <a:t>與</a:t>
            </a:r>
            <a:r>
              <a:rPr lang="en-US" altLang="zh-TW" dirty="0">
                <a:latin typeface="+mj-lt"/>
                <a:ea typeface="+mj-ea"/>
              </a:rPr>
              <a:t>DC</a:t>
            </a:r>
            <a:r>
              <a:rPr lang="zh-TW" altLang="en-US" dirty="0">
                <a:latin typeface="+mj-lt"/>
                <a:ea typeface="+mj-ea"/>
              </a:rPr>
              <a:t>／</a:t>
            </a:r>
            <a:r>
              <a:rPr lang="en-US" altLang="zh-TW" dirty="0">
                <a:latin typeface="+mj-lt"/>
                <a:ea typeface="+mj-ea"/>
              </a:rPr>
              <a:t>RF</a:t>
            </a:r>
            <a:r>
              <a:rPr lang="zh-TW" altLang="en-US" dirty="0">
                <a:latin typeface="+mj-lt"/>
                <a:ea typeface="+mj-ea"/>
              </a:rPr>
              <a:t>量測能力，可進行</a:t>
            </a:r>
            <a:r>
              <a:rPr lang="en-US" altLang="zh-TW" dirty="0">
                <a:latin typeface="+mj-lt"/>
                <a:ea typeface="+mj-ea"/>
              </a:rPr>
              <a:t>Cryo-CMOS</a:t>
            </a:r>
            <a:r>
              <a:rPr lang="zh-TW" altLang="en-US" dirty="0">
                <a:latin typeface="+mj-lt"/>
                <a:ea typeface="+mj-ea"/>
              </a:rPr>
              <a:t>被動元件特性分析 </a:t>
            </a:r>
            <a:endParaRPr lang="en-US" altLang="zh-TW" dirty="0">
              <a:latin typeface="+mj-lt"/>
              <a:ea typeface="+mj-ea"/>
            </a:endParaRPr>
          </a:p>
          <a:p>
            <a:pPr marL="177800" indent="-177800">
              <a:spcBef>
                <a:spcPts val="0"/>
              </a:spcBef>
              <a:spcAft>
                <a:spcPts val="500"/>
              </a:spcAft>
              <a:buFont typeface="Arial" panose="020B0604020202020204" pitchFamily="34" charset="0"/>
              <a:buChar char="•"/>
            </a:pPr>
            <a:r>
              <a:rPr lang="zh-TW" altLang="en-US" dirty="0">
                <a:latin typeface="+mj-lt"/>
                <a:ea typeface="+mj-ea"/>
              </a:rPr>
              <a:t>已建立電感、</a:t>
            </a:r>
            <a:r>
              <a:rPr lang="en-US" altLang="zh-TW" dirty="0">
                <a:latin typeface="+mj-lt"/>
                <a:ea typeface="+mj-ea"/>
              </a:rPr>
              <a:t>CPW</a:t>
            </a:r>
            <a:r>
              <a:rPr lang="zh-TW" altLang="en-US" dirty="0">
                <a:latin typeface="+mj-lt"/>
                <a:ea typeface="+mj-ea"/>
              </a:rPr>
              <a:t>等元件設計、量測與溫度相依模型基礎</a:t>
            </a:r>
            <a:endParaRPr dirty="0">
              <a:solidFill>
                <a:srgbClr val="000000"/>
              </a:solidFill>
              <a:latin typeface="+mj-lt"/>
              <a:ea typeface="+mj-ea"/>
            </a:endParaRPr>
          </a:p>
        </p:txBody>
      </p:sp>
      <p:sp>
        <p:nvSpPr>
          <p:cNvPr id="19" name="Rounded Rectangle 7">
            <a:extLst>
              <a:ext uri="{FF2B5EF4-FFF2-40B4-BE49-F238E27FC236}">
                <a16:creationId xmlns:a16="http://schemas.microsoft.com/office/drawing/2014/main" id="{4DD2AD5C-B5F2-2192-E4F2-AC006576960C}"/>
              </a:ext>
            </a:extLst>
          </p:cNvPr>
          <p:cNvSpPr/>
          <p:nvPr/>
        </p:nvSpPr>
        <p:spPr>
          <a:xfrm>
            <a:off x="1012127" y="4741282"/>
            <a:ext cx="2267712" cy="653344"/>
          </a:xfrm>
          <a:prstGeom prst="roundRect">
            <a:avLst/>
          </a:prstGeom>
          <a:solidFill>
            <a:srgbClr val="FFFFFF"/>
          </a:solidFill>
          <a:ln w="12700">
            <a:solidFill>
              <a:srgbClr val="00A6A6"/>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0"/>
              </a:spcAft>
            </a:pPr>
            <a:r>
              <a:rPr lang="zh-TW" altLang="en-US" b="1" dirty="0">
                <a:solidFill>
                  <a:srgbClr val="007379"/>
                </a:solidFill>
                <a:latin typeface="+mj-lt"/>
                <a:ea typeface="+mj-ea"/>
              </a:rPr>
              <a:t>現況：能力分散，缺少整合量測鏈</a:t>
            </a:r>
          </a:p>
        </p:txBody>
      </p:sp>
      <p:sp>
        <p:nvSpPr>
          <p:cNvPr id="20" name="Chevron 8">
            <a:extLst>
              <a:ext uri="{FF2B5EF4-FFF2-40B4-BE49-F238E27FC236}">
                <a16:creationId xmlns:a16="http://schemas.microsoft.com/office/drawing/2014/main" id="{299F2C99-EB64-44ED-8C7C-1110CF752D35}"/>
              </a:ext>
            </a:extLst>
          </p:cNvPr>
          <p:cNvSpPr/>
          <p:nvPr/>
        </p:nvSpPr>
        <p:spPr>
          <a:xfrm>
            <a:off x="3817620" y="2825641"/>
            <a:ext cx="475488" cy="384048"/>
          </a:xfrm>
          <a:prstGeom prst="chevron">
            <a:avLst/>
          </a:prstGeom>
          <a:solidFill>
            <a:srgbClr val="E88A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j-lt"/>
              <a:ea typeface="+mj-ea"/>
            </a:endParaRPr>
          </a:p>
        </p:txBody>
      </p:sp>
      <p:sp>
        <p:nvSpPr>
          <p:cNvPr id="21" name="Rounded Rectangle 9">
            <a:extLst>
              <a:ext uri="{FF2B5EF4-FFF2-40B4-BE49-F238E27FC236}">
                <a16:creationId xmlns:a16="http://schemas.microsoft.com/office/drawing/2014/main" id="{FD1325B1-22FA-3871-8C9E-E6913D430D06}"/>
              </a:ext>
            </a:extLst>
          </p:cNvPr>
          <p:cNvSpPr/>
          <p:nvPr/>
        </p:nvSpPr>
        <p:spPr>
          <a:xfrm>
            <a:off x="4404360" y="1216297"/>
            <a:ext cx="3383280" cy="4425406"/>
          </a:xfrm>
          <a:prstGeom prst="roundRect">
            <a:avLst>
              <a:gd name="adj" fmla="val 5084"/>
            </a:avLst>
          </a:prstGeom>
          <a:solidFill>
            <a:srgbClr val="FFFFFF"/>
          </a:solidFill>
          <a:ln w="12700">
            <a:solidFill>
              <a:srgbClr val="E88A2D"/>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l">
              <a:spcAft>
                <a:spcPts val="0"/>
              </a:spcAft>
            </a:pPr>
            <a:endParaRPr>
              <a:latin typeface="+mj-lt"/>
              <a:ea typeface="+mj-ea"/>
            </a:endParaRPr>
          </a:p>
        </p:txBody>
      </p:sp>
      <p:sp>
        <p:nvSpPr>
          <p:cNvPr id="22" name="Rounded Rectangle 10">
            <a:extLst>
              <a:ext uri="{FF2B5EF4-FFF2-40B4-BE49-F238E27FC236}">
                <a16:creationId xmlns:a16="http://schemas.microsoft.com/office/drawing/2014/main" id="{9FC717C7-A81E-BD87-2467-F486689FAC2F}"/>
              </a:ext>
            </a:extLst>
          </p:cNvPr>
          <p:cNvSpPr/>
          <p:nvPr/>
        </p:nvSpPr>
        <p:spPr>
          <a:xfrm>
            <a:off x="4404359" y="1124594"/>
            <a:ext cx="3419819" cy="630936"/>
          </a:xfrm>
          <a:prstGeom prst="roundRect">
            <a:avLst/>
          </a:prstGeom>
          <a:solidFill>
            <a:srgbClr val="E88A2D"/>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pPr algn="l"/>
            <a:r>
              <a:rPr b="1" dirty="0">
                <a:solidFill>
                  <a:srgbClr val="FFFFFF"/>
                </a:solidFill>
                <a:latin typeface="+mj-lt"/>
                <a:ea typeface="+mj-ea"/>
              </a:rPr>
              <a:t>FY116補足缺口｜</a:t>
            </a:r>
            <a:r>
              <a:rPr lang="zh-TW" altLang="en-US" dirty="0">
                <a:latin typeface="+mj-lt"/>
                <a:ea typeface="+mj-ea"/>
              </a:rPr>
              <a:t>建立實測參數驅動模型</a:t>
            </a:r>
            <a:endParaRPr b="1" dirty="0">
              <a:solidFill>
                <a:srgbClr val="FFFFFF"/>
              </a:solidFill>
              <a:latin typeface="+mj-lt"/>
              <a:ea typeface="+mj-ea"/>
            </a:endParaRPr>
          </a:p>
        </p:txBody>
      </p:sp>
      <p:sp>
        <p:nvSpPr>
          <p:cNvPr id="23" name="TextBox 11">
            <a:extLst>
              <a:ext uri="{FF2B5EF4-FFF2-40B4-BE49-F238E27FC236}">
                <a16:creationId xmlns:a16="http://schemas.microsoft.com/office/drawing/2014/main" id="{9E966E2B-91C9-C203-8964-4EDBF772A51B}"/>
              </a:ext>
            </a:extLst>
          </p:cNvPr>
          <p:cNvSpPr txBox="1"/>
          <p:nvPr/>
        </p:nvSpPr>
        <p:spPr>
          <a:xfrm>
            <a:off x="4480560" y="1764823"/>
            <a:ext cx="3311652" cy="3194721"/>
          </a:xfrm>
          <a:prstGeom prst="rect">
            <a:avLst/>
          </a:prstGeom>
          <a:noFill/>
          <a:effectLst/>
        </p:spPr>
        <p:txBody>
          <a:bodyPr wrap="square" lIns="73152" tIns="73152" rIns="73152" bIns="73152" anchor="t">
            <a:spAutoFit/>
          </a:bodyPr>
          <a:lstStyle/>
          <a:p>
            <a:pPr marL="285750" indent="-285750">
              <a:buFont typeface="Arial" panose="020B0604020202020204" pitchFamily="34" charset="0"/>
              <a:buChar char="•"/>
            </a:pPr>
            <a:r>
              <a:rPr lang="zh-TW" altLang="en-US" dirty="0">
                <a:latin typeface="+mn-lt"/>
                <a:ea typeface="+mj-ea"/>
              </a:rPr>
              <a:t>建立</a:t>
            </a:r>
            <a:r>
              <a:rPr lang="zh-TW" altLang="en-US" b="1" dirty="0">
                <a:latin typeface="+mn-lt"/>
                <a:ea typeface="+mj-ea"/>
              </a:rPr>
              <a:t>模組化</a:t>
            </a:r>
            <a:r>
              <a:rPr lang="en-US" altLang="zh-TW" b="1" dirty="0">
                <a:latin typeface="+mn-lt"/>
                <a:ea typeface="+mj-ea"/>
              </a:rPr>
              <a:t>1 K ADR</a:t>
            </a:r>
            <a:r>
              <a:rPr lang="zh-TW" altLang="en-US" b="1" dirty="0">
                <a:latin typeface="+mn-lt"/>
                <a:ea typeface="+mj-ea"/>
              </a:rPr>
              <a:t>量測平台</a:t>
            </a:r>
            <a:r>
              <a:rPr lang="zh-TW" altLang="en-US" dirty="0">
                <a:latin typeface="+mn-lt"/>
                <a:ea typeface="+mj-ea"/>
              </a:rPr>
              <a:t>，預留向</a:t>
            </a:r>
            <a:r>
              <a:rPr lang="en-US" altLang="zh-TW" dirty="0">
                <a:latin typeface="+mn-lt"/>
                <a:ea typeface="+mj-ea"/>
              </a:rPr>
              <a:t>sub-K</a:t>
            </a:r>
            <a:r>
              <a:rPr lang="zh-TW" altLang="en-US" dirty="0">
                <a:latin typeface="+mn-lt"/>
                <a:ea typeface="+mj-ea"/>
              </a:rPr>
              <a:t>延伸及光學／</a:t>
            </a:r>
            <a:r>
              <a:rPr lang="en-US" altLang="zh-TW" dirty="0">
                <a:latin typeface="+mn-lt"/>
                <a:ea typeface="+mj-ea"/>
              </a:rPr>
              <a:t>DC</a:t>
            </a:r>
            <a:r>
              <a:rPr lang="zh-TW" altLang="en-US" dirty="0">
                <a:latin typeface="+mn-lt"/>
                <a:ea typeface="+mj-ea"/>
              </a:rPr>
              <a:t>／</a:t>
            </a:r>
            <a:r>
              <a:rPr lang="en-US" altLang="zh-TW" dirty="0">
                <a:latin typeface="+mn-lt"/>
                <a:ea typeface="+mj-ea"/>
              </a:rPr>
              <a:t>RF</a:t>
            </a:r>
            <a:r>
              <a:rPr lang="zh-TW" altLang="en-US" dirty="0">
                <a:latin typeface="+mn-lt"/>
                <a:ea typeface="+mj-ea"/>
              </a:rPr>
              <a:t>介面 </a:t>
            </a:r>
            <a:endParaRPr lang="en-US" altLang="zh-TW" dirty="0">
              <a:latin typeface="+mn-lt"/>
              <a:ea typeface="+mj-ea"/>
            </a:endParaRPr>
          </a:p>
          <a:p>
            <a:pPr marL="285750" indent="-285750">
              <a:buFont typeface="Arial" panose="020B0604020202020204" pitchFamily="34" charset="0"/>
              <a:buChar char="•"/>
            </a:pPr>
            <a:r>
              <a:rPr lang="zh-TW" altLang="en-US" dirty="0">
                <a:latin typeface="+mn-lt"/>
                <a:ea typeface="+mj-ea"/>
              </a:rPr>
              <a:t>發展</a:t>
            </a:r>
            <a:r>
              <a:rPr lang="zh-TW" altLang="en-US" b="1" dirty="0">
                <a:latin typeface="+mn-lt"/>
                <a:ea typeface="+mj-ea"/>
              </a:rPr>
              <a:t>低光熱－振動回饋式 </a:t>
            </a:r>
            <a:r>
              <a:rPr lang="en-US" altLang="zh-TW" b="1" dirty="0" err="1">
                <a:latin typeface="+mn-lt"/>
                <a:ea typeface="+mj-ea"/>
              </a:rPr>
              <a:t>Cryo</a:t>
            </a:r>
            <a:r>
              <a:rPr lang="en-US" altLang="zh-TW" b="1" dirty="0">
                <a:latin typeface="+mn-lt"/>
                <a:ea typeface="+mj-ea"/>
              </a:rPr>
              <a:t> Imaging</a:t>
            </a:r>
            <a:r>
              <a:rPr lang="zh-TW" altLang="en-US" dirty="0">
                <a:latin typeface="+mn-lt"/>
                <a:ea typeface="+mj-ea"/>
              </a:rPr>
              <a:t>，以</a:t>
            </a:r>
            <a:r>
              <a:rPr lang="en-US" altLang="zh-TW" dirty="0">
                <a:latin typeface="+mn-lt"/>
                <a:ea typeface="+mj-ea"/>
              </a:rPr>
              <a:t>2–10 mm reference structure</a:t>
            </a:r>
            <a:r>
              <a:rPr lang="zh-TW" altLang="en-US" dirty="0">
                <a:latin typeface="+mn-lt"/>
                <a:ea typeface="+mj-ea"/>
              </a:rPr>
              <a:t>取得實際 </a:t>
            </a:r>
            <a:r>
              <a:rPr lang="en-US" altLang="zh-TW" b="1" dirty="0">
                <a:latin typeface="+mn-lt"/>
                <a:ea typeface="+mj-ea"/>
              </a:rPr>
              <a:t>Geometry(T)</a:t>
            </a:r>
            <a:r>
              <a:rPr lang="en-US" altLang="zh-TW" dirty="0">
                <a:latin typeface="+mn-lt"/>
                <a:ea typeface="+mj-ea"/>
              </a:rPr>
              <a:t> </a:t>
            </a:r>
          </a:p>
          <a:p>
            <a:pPr marL="285750" indent="-285750">
              <a:buFont typeface="Arial" panose="020B0604020202020204" pitchFamily="34" charset="0"/>
              <a:buChar char="•"/>
            </a:pPr>
            <a:r>
              <a:rPr lang="zh-TW" altLang="en-US" dirty="0">
                <a:latin typeface="+mn-lt"/>
                <a:ea typeface="+mj-ea"/>
              </a:rPr>
              <a:t>結合</a:t>
            </a:r>
            <a:r>
              <a:rPr lang="en-US" altLang="zh-TW" dirty="0">
                <a:latin typeface="+mn-lt"/>
                <a:ea typeface="+mj-ea"/>
              </a:rPr>
              <a:t>DC</a:t>
            </a:r>
            <a:r>
              <a:rPr lang="zh-TW" altLang="en-US" dirty="0">
                <a:latin typeface="+mn-lt"/>
                <a:ea typeface="+mj-ea"/>
              </a:rPr>
              <a:t>／</a:t>
            </a:r>
            <a:r>
              <a:rPr lang="en-US" altLang="zh-TW" dirty="0">
                <a:latin typeface="+mn-lt"/>
                <a:ea typeface="+mj-ea"/>
              </a:rPr>
              <a:t>RF</a:t>
            </a:r>
            <a:r>
              <a:rPr lang="zh-TW" altLang="en-US" dirty="0">
                <a:latin typeface="+mn-lt"/>
                <a:ea typeface="+mj-ea"/>
              </a:rPr>
              <a:t>實測，建立</a:t>
            </a:r>
            <a:br>
              <a:rPr lang="zh-TW" altLang="en-US" dirty="0">
                <a:latin typeface="+mn-lt"/>
                <a:ea typeface="+mj-ea"/>
              </a:rPr>
            </a:br>
            <a:r>
              <a:rPr lang="en-US" altLang="zh-TW" b="1" dirty="0">
                <a:latin typeface="+mn-lt"/>
                <a:ea typeface="+mj-ea"/>
              </a:rPr>
              <a:t>Geometry(T) + Electrical(T) → Device Model(T)</a:t>
            </a:r>
            <a:r>
              <a:rPr lang="en-US" altLang="zh-TW" dirty="0">
                <a:latin typeface="+mn-lt"/>
                <a:ea typeface="+mj-ea"/>
              </a:rPr>
              <a:t> </a:t>
            </a:r>
            <a:r>
              <a:rPr lang="zh-TW" altLang="en-US" dirty="0">
                <a:latin typeface="+mn-lt"/>
                <a:ea typeface="+mj-ea"/>
              </a:rPr>
              <a:t>驗證流程</a:t>
            </a:r>
          </a:p>
        </p:txBody>
      </p:sp>
      <p:sp>
        <p:nvSpPr>
          <p:cNvPr id="24" name="Rounded Rectangle 12">
            <a:extLst>
              <a:ext uri="{FF2B5EF4-FFF2-40B4-BE49-F238E27FC236}">
                <a16:creationId xmlns:a16="http://schemas.microsoft.com/office/drawing/2014/main" id="{051813AC-E7D9-2FC0-7352-F5CF9724BD3C}"/>
              </a:ext>
            </a:extLst>
          </p:cNvPr>
          <p:cNvSpPr/>
          <p:nvPr/>
        </p:nvSpPr>
        <p:spPr>
          <a:xfrm>
            <a:off x="4824984" y="4959153"/>
            <a:ext cx="2542032" cy="648462"/>
          </a:xfrm>
          <a:prstGeom prst="roundRect">
            <a:avLst/>
          </a:prstGeom>
          <a:solidFill>
            <a:srgbClr val="FFFFFF"/>
          </a:solidFill>
          <a:ln w="12700">
            <a:solidFill>
              <a:srgbClr val="E88A2D"/>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0"/>
              </a:spcAft>
            </a:pPr>
            <a:r>
              <a:rPr b="1" dirty="0">
                <a:solidFill>
                  <a:srgbClr val="E88A2D"/>
                </a:solidFill>
                <a:latin typeface="+mj-lt"/>
                <a:ea typeface="+mj-ea"/>
              </a:rPr>
              <a:t>FY116交付：平台＋方法＋模型＋IP</a:t>
            </a:r>
          </a:p>
        </p:txBody>
      </p:sp>
      <p:sp>
        <p:nvSpPr>
          <p:cNvPr id="25" name="Chevron 13">
            <a:extLst>
              <a:ext uri="{FF2B5EF4-FFF2-40B4-BE49-F238E27FC236}">
                <a16:creationId xmlns:a16="http://schemas.microsoft.com/office/drawing/2014/main" id="{85D8DAEA-E35A-5EE4-DC0D-4ADCB6365668}"/>
              </a:ext>
            </a:extLst>
          </p:cNvPr>
          <p:cNvSpPr/>
          <p:nvPr/>
        </p:nvSpPr>
        <p:spPr>
          <a:xfrm>
            <a:off x="7897368" y="2767533"/>
            <a:ext cx="475488" cy="384048"/>
          </a:xfrm>
          <a:prstGeom prst="chevron">
            <a:avLst/>
          </a:prstGeom>
          <a:solidFill>
            <a:srgbClr val="333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j-lt"/>
              <a:ea typeface="+mj-ea"/>
            </a:endParaRPr>
          </a:p>
        </p:txBody>
      </p:sp>
      <p:sp>
        <p:nvSpPr>
          <p:cNvPr id="26" name="Rounded Rectangle 14">
            <a:extLst>
              <a:ext uri="{FF2B5EF4-FFF2-40B4-BE49-F238E27FC236}">
                <a16:creationId xmlns:a16="http://schemas.microsoft.com/office/drawing/2014/main" id="{B28A607E-20CA-0323-0ED5-50B75075A509}"/>
              </a:ext>
            </a:extLst>
          </p:cNvPr>
          <p:cNvSpPr/>
          <p:nvPr/>
        </p:nvSpPr>
        <p:spPr>
          <a:xfrm>
            <a:off x="8482584" y="1124594"/>
            <a:ext cx="3063240" cy="4517108"/>
          </a:xfrm>
          <a:prstGeom prst="roundRect">
            <a:avLst>
              <a:gd name="adj" fmla="val 4348"/>
            </a:avLst>
          </a:prstGeom>
          <a:solidFill>
            <a:srgbClr val="EEEEF8"/>
          </a:solidFill>
          <a:ln w="12700">
            <a:solidFill>
              <a:srgbClr val="333399"/>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l">
              <a:spcAft>
                <a:spcPts val="0"/>
              </a:spcAft>
            </a:pPr>
            <a:endParaRPr>
              <a:latin typeface="+mj-lt"/>
              <a:ea typeface="+mj-ea"/>
            </a:endParaRPr>
          </a:p>
        </p:txBody>
      </p:sp>
      <p:sp>
        <p:nvSpPr>
          <p:cNvPr id="27" name="Rounded Rectangle 15">
            <a:extLst>
              <a:ext uri="{FF2B5EF4-FFF2-40B4-BE49-F238E27FC236}">
                <a16:creationId xmlns:a16="http://schemas.microsoft.com/office/drawing/2014/main" id="{C202A57C-1B21-0E5A-26E3-1899C3350B8B}"/>
              </a:ext>
            </a:extLst>
          </p:cNvPr>
          <p:cNvSpPr/>
          <p:nvPr/>
        </p:nvSpPr>
        <p:spPr>
          <a:xfrm>
            <a:off x="8478012" y="1115450"/>
            <a:ext cx="3067812" cy="640080"/>
          </a:xfrm>
          <a:prstGeom prst="roundRect">
            <a:avLst/>
          </a:prstGeom>
          <a:solidFill>
            <a:srgbClr val="333399"/>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pPr algn="l"/>
            <a:r>
              <a:rPr lang="zh-TW" altLang="en-US" b="1" dirty="0">
                <a:latin typeface="+mn-ea"/>
              </a:rPr>
              <a:t>後續科專／產業落地</a:t>
            </a:r>
            <a:r>
              <a:rPr lang="zh-TW" altLang="en-US" dirty="0">
                <a:latin typeface="+mn-ea"/>
              </a:rPr>
              <a:t>｜由模型走向設計能力</a:t>
            </a:r>
            <a:endParaRPr b="1" dirty="0">
              <a:solidFill>
                <a:srgbClr val="FFFFFF"/>
              </a:solidFill>
              <a:latin typeface="+mn-ea"/>
            </a:endParaRPr>
          </a:p>
        </p:txBody>
      </p:sp>
      <p:sp>
        <p:nvSpPr>
          <p:cNvPr id="28" name="TextBox 16">
            <a:extLst>
              <a:ext uri="{FF2B5EF4-FFF2-40B4-BE49-F238E27FC236}">
                <a16:creationId xmlns:a16="http://schemas.microsoft.com/office/drawing/2014/main" id="{F12E8D54-D89F-9440-9C83-E2ED47398A5D}"/>
              </a:ext>
            </a:extLst>
          </p:cNvPr>
          <p:cNvSpPr txBox="1"/>
          <p:nvPr/>
        </p:nvSpPr>
        <p:spPr>
          <a:xfrm>
            <a:off x="8482584" y="1746386"/>
            <a:ext cx="2963191" cy="3020314"/>
          </a:xfrm>
          <a:prstGeom prst="rect">
            <a:avLst/>
          </a:prstGeom>
          <a:noFill/>
          <a:effectLst/>
        </p:spPr>
        <p:txBody>
          <a:bodyPr wrap="square" lIns="73152" tIns="73152" rIns="73152" bIns="73152" anchor="t">
            <a:spAutoFit/>
          </a:bodyPr>
          <a:lstStyle/>
          <a:p>
            <a:pPr marL="177800" indent="-177800" algn="l">
              <a:lnSpc>
                <a:spcPct val="100000"/>
              </a:lnSpc>
              <a:spcBef>
                <a:spcPts val="0"/>
              </a:spcBef>
              <a:spcAft>
                <a:spcPts val="400"/>
              </a:spcAft>
              <a:buFont typeface="Arial" panose="020B0604020202020204" pitchFamily="34" charset="0"/>
              <a:buChar char="•"/>
            </a:pPr>
            <a:r>
              <a:rPr lang="en-US" altLang="zh-TW" b="0" dirty="0">
                <a:solidFill>
                  <a:srgbClr val="000000"/>
                </a:solidFill>
                <a:latin typeface="+mj-lt"/>
                <a:ea typeface="+mj-ea"/>
              </a:rPr>
              <a:t>ADR</a:t>
            </a:r>
            <a:r>
              <a:rPr lang="zh-TW" altLang="en-US" b="0" dirty="0">
                <a:solidFill>
                  <a:srgbClr val="000000"/>
                </a:solidFill>
                <a:latin typeface="+mj-lt"/>
                <a:ea typeface="+mj-ea"/>
              </a:rPr>
              <a:t>串接後續磁熱級，將量測環境由 </a:t>
            </a:r>
            <a:r>
              <a:rPr lang="en-US" altLang="zh-TW" b="0" dirty="0">
                <a:solidFill>
                  <a:srgbClr val="000000"/>
                </a:solidFill>
                <a:latin typeface="+mj-lt"/>
                <a:ea typeface="+mj-ea"/>
              </a:rPr>
              <a:t>1 K</a:t>
            </a:r>
            <a:r>
              <a:rPr lang="zh-TW" altLang="en-US" b="0" dirty="0">
                <a:solidFill>
                  <a:srgbClr val="000000"/>
                </a:solidFill>
                <a:latin typeface="+mj-lt"/>
                <a:ea typeface="+mj-ea"/>
              </a:rPr>
              <a:t>延伸至</a:t>
            </a:r>
            <a:r>
              <a:rPr lang="en-US" altLang="zh-TW" b="0" dirty="0">
                <a:solidFill>
                  <a:srgbClr val="000000"/>
                </a:solidFill>
                <a:latin typeface="+mj-lt"/>
                <a:ea typeface="+mj-ea"/>
              </a:rPr>
              <a:t>100–300 </a:t>
            </a:r>
            <a:r>
              <a:rPr lang="en-US" altLang="zh-TW" b="0" dirty="0" err="1">
                <a:solidFill>
                  <a:srgbClr val="000000"/>
                </a:solidFill>
                <a:latin typeface="+mj-lt"/>
                <a:ea typeface="+mj-ea"/>
              </a:rPr>
              <a:t>mK</a:t>
            </a:r>
            <a:endParaRPr lang="en-US" altLang="zh-TW" b="0" dirty="0">
              <a:solidFill>
                <a:srgbClr val="000000"/>
              </a:solidFill>
              <a:latin typeface="+mj-lt"/>
              <a:ea typeface="+mj-ea"/>
            </a:endParaRPr>
          </a:p>
          <a:p>
            <a:pPr marL="177800" indent="-177800" algn="l">
              <a:lnSpc>
                <a:spcPct val="100000"/>
              </a:lnSpc>
              <a:spcBef>
                <a:spcPts val="0"/>
              </a:spcBef>
              <a:spcAft>
                <a:spcPts val="400"/>
              </a:spcAft>
              <a:buFont typeface="Arial" panose="020B0604020202020204" pitchFamily="34" charset="0"/>
              <a:buChar char="•"/>
            </a:pPr>
            <a:r>
              <a:rPr lang="zh-TW" altLang="en-US" b="0" dirty="0">
                <a:solidFill>
                  <a:srgbClr val="000000"/>
                </a:solidFill>
                <a:latin typeface="+mj-lt"/>
                <a:ea typeface="+mj-ea"/>
              </a:rPr>
              <a:t>將方法擴展至 </a:t>
            </a:r>
            <a:r>
              <a:rPr lang="en-US" altLang="zh-TW" b="0" dirty="0">
                <a:solidFill>
                  <a:srgbClr val="000000"/>
                </a:solidFill>
                <a:latin typeface="+mj-lt"/>
                <a:ea typeface="+mj-ea"/>
              </a:rPr>
              <a:t>Al</a:t>
            </a:r>
            <a:r>
              <a:rPr lang="zh-TW" altLang="en-US" b="0" dirty="0">
                <a:solidFill>
                  <a:srgbClr val="000000"/>
                </a:solidFill>
                <a:latin typeface="+mj-lt"/>
                <a:ea typeface="+mj-ea"/>
              </a:rPr>
              <a:t>／</a:t>
            </a:r>
            <a:r>
              <a:rPr lang="en-US" altLang="zh-TW" b="0" dirty="0">
                <a:solidFill>
                  <a:srgbClr val="000000"/>
                </a:solidFill>
                <a:latin typeface="+mj-lt"/>
                <a:ea typeface="+mj-ea"/>
              </a:rPr>
              <a:t>Nb</a:t>
            </a:r>
            <a:r>
              <a:rPr lang="zh-TW" altLang="en-US" b="0" dirty="0">
                <a:solidFill>
                  <a:srgbClr val="000000"/>
                </a:solidFill>
                <a:latin typeface="+mj-lt"/>
                <a:ea typeface="+mj-ea"/>
              </a:rPr>
              <a:t>／</a:t>
            </a:r>
            <a:r>
              <a:rPr lang="en-US" altLang="zh-TW" b="0" dirty="0">
                <a:solidFill>
                  <a:srgbClr val="000000"/>
                </a:solidFill>
                <a:latin typeface="+mj-lt"/>
                <a:ea typeface="+mj-ea"/>
              </a:rPr>
              <a:t>Ta</a:t>
            </a:r>
            <a:r>
              <a:rPr lang="zh-TW" altLang="en-US" b="0" dirty="0">
                <a:solidFill>
                  <a:srgbClr val="000000"/>
                </a:solidFill>
                <a:latin typeface="+mj-lt"/>
                <a:ea typeface="+mj-ea"/>
              </a:rPr>
              <a:t>、</a:t>
            </a:r>
            <a:r>
              <a:rPr lang="en-US" altLang="zh-TW" b="0" dirty="0">
                <a:solidFill>
                  <a:srgbClr val="000000"/>
                </a:solidFill>
                <a:latin typeface="+mj-lt"/>
                <a:ea typeface="+mj-ea"/>
              </a:rPr>
              <a:t>CPW</a:t>
            </a:r>
            <a:r>
              <a:rPr lang="zh-TW" altLang="en-US" b="0" dirty="0">
                <a:solidFill>
                  <a:srgbClr val="000000"/>
                </a:solidFill>
                <a:latin typeface="+mj-lt"/>
                <a:ea typeface="+mj-ea"/>
              </a:rPr>
              <a:t>、</a:t>
            </a:r>
            <a:r>
              <a:rPr lang="en-US" altLang="zh-TW" b="0" dirty="0">
                <a:solidFill>
                  <a:srgbClr val="000000"/>
                </a:solidFill>
                <a:latin typeface="+mj-lt"/>
                <a:ea typeface="+mj-ea"/>
              </a:rPr>
              <a:t>resonator</a:t>
            </a:r>
            <a:r>
              <a:rPr lang="zh-TW" altLang="en-US" b="0" dirty="0">
                <a:solidFill>
                  <a:srgbClr val="000000"/>
                </a:solidFill>
                <a:latin typeface="+mj-lt"/>
                <a:ea typeface="+mj-ea"/>
              </a:rPr>
              <a:t>與低溫封裝結構</a:t>
            </a:r>
            <a:endParaRPr lang="en-US" altLang="zh-TW" b="0" dirty="0">
              <a:solidFill>
                <a:srgbClr val="000000"/>
              </a:solidFill>
              <a:latin typeface="+mj-lt"/>
              <a:ea typeface="+mj-ea"/>
            </a:endParaRPr>
          </a:p>
          <a:p>
            <a:pPr marL="177800" indent="-177800" algn="l">
              <a:lnSpc>
                <a:spcPct val="100000"/>
              </a:lnSpc>
              <a:spcBef>
                <a:spcPts val="0"/>
              </a:spcBef>
              <a:spcAft>
                <a:spcPts val="400"/>
              </a:spcAft>
              <a:buFont typeface="Arial" panose="020B0604020202020204" pitchFamily="34" charset="0"/>
              <a:buChar char="•"/>
            </a:pPr>
            <a:r>
              <a:rPr lang="zh-TW" altLang="en-US" b="0" dirty="0">
                <a:solidFill>
                  <a:srgbClr val="000000"/>
                </a:solidFill>
                <a:latin typeface="+mj-lt"/>
                <a:ea typeface="+mj-ea"/>
              </a:rPr>
              <a:t>建立跨溫元件資料庫與變溫模型／</a:t>
            </a:r>
            <a:r>
              <a:rPr lang="en-US" altLang="zh-TW" b="0" dirty="0">
                <a:solidFill>
                  <a:srgbClr val="000000"/>
                </a:solidFill>
                <a:latin typeface="+mj-lt"/>
                <a:ea typeface="+mj-ea"/>
              </a:rPr>
              <a:t>cryo-PDK</a:t>
            </a:r>
            <a:r>
              <a:rPr lang="zh-TW" altLang="en-US" b="0" dirty="0">
                <a:solidFill>
                  <a:srgbClr val="000000"/>
                </a:solidFill>
                <a:latin typeface="+mj-lt"/>
                <a:ea typeface="+mj-ea"/>
              </a:rPr>
              <a:t>，縮短低溫</a:t>
            </a:r>
            <a:r>
              <a:rPr lang="en-US" altLang="zh-TW" b="0" dirty="0">
                <a:solidFill>
                  <a:srgbClr val="000000"/>
                </a:solidFill>
                <a:latin typeface="+mj-lt"/>
                <a:ea typeface="+mj-ea"/>
              </a:rPr>
              <a:t>IC</a:t>
            </a:r>
            <a:r>
              <a:rPr lang="zh-TW" altLang="en-US" b="0" dirty="0">
                <a:solidFill>
                  <a:srgbClr val="000000"/>
                </a:solidFill>
                <a:latin typeface="+mj-lt"/>
                <a:ea typeface="+mj-ea"/>
              </a:rPr>
              <a:t>與量子硬體設計驗證週期</a:t>
            </a:r>
          </a:p>
        </p:txBody>
      </p:sp>
      <p:sp>
        <p:nvSpPr>
          <p:cNvPr id="29" name="Rounded Rectangle 17">
            <a:extLst>
              <a:ext uri="{FF2B5EF4-FFF2-40B4-BE49-F238E27FC236}">
                <a16:creationId xmlns:a16="http://schemas.microsoft.com/office/drawing/2014/main" id="{6599F88B-66D6-65ED-5AF0-9E8A737C38F5}"/>
              </a:ext>
            </a:extLst>
          </p:cNvPr>
          <p:cNvSpPr/>
          <p:nvPr/>
        </p:nvSpPr>
        <p:spPr>
          <a:xfrm>
            <a:off x="8869870" y="4853513"/>
            <a:ext cx="2288667" cy="559344"/>
          </a:xfrm>
          <a:prstGeom prst="roundRect">
            <a:avLst/>
          </a:prstGeom>
          <a:solidFill>
            <a:srgbClr val="FFFFFF"/>
          </a:solidFill>
          <a:ln w="12700">
            <a:solidFill>
              <a:srgbClr val="333399"/>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0"/>
              </a:spcAft>
            </a:pPr>
            <a:r>
              <a:rPr lang="zh-TW" altLang="en-US" b="1" dirty="0">
                <a:solidFill>
                  <a:srgbClr val="333399"/>
                </a:solidFill>
                <a:latin typeface="+mj-lt"/>
                <a:ea typeface="+mj-ea"/>
              </a:rPr>
              <a:t>目標：進入量子硬體供應鏈</a:t>
            </a:r>
          </a:p>
        </p:txBody>
      </p:sp>
    </p:spTree>
    <p:extLst>
      <p:ext uri="{BB962C8B-B14F-4D97-AF65-F5344CB8AC3E}">
        <p14:creationId xmlns:p14="http://schemas.microsoft.com/office/powerpoint/2010/main" val="2243705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B105137F-C88C-E6C2-3E24-854F50539560}"/>
              </a:ext>
            </a:extLst>
          </p:cNvPr>
          <p:cNvSpPr txBox="1">
            <a:spLocks/>
          </p:cNvSpPr>
          <p:nvPr/>
        </p:nvSpPr>
        <p:spPr bwMode="auto">
          <a:xfrm>
            <a:off x="4559778" y="3121268"/>
            <a:ext cx="3072444" cy="61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kumimoji="1" sz="3600">
                <a:solidFill>
                  <a:srgbClr val="00B2B3"/>
                </a:solidFill>
                <a:latin typeface="+mj-lt"/>
                <a:ea typeface="+mj-ea"/>
                <a:cs typeface="+mj-cs"/>
              </a:defRPr>
            </a:lvl1pPr>
            <a:lvl2pPr algn="l" rtl="0" eaLnBrk="0" fontAlgn="base" hangingPunct="0">
              <a:spcBef>
                <a:spcPct val="0"/>
              </a:spcBef>
              <a:spcAft>
                <a:spcPct val="0"/>
              </a:spcAft>
              <a:defRPr kumimoji="1" sz="4600">
                <a:solidFill>
                  <a:schemeClr val="tx2"/>
                </a:solidFill>
                <a:latin typeface="Arial" charset="0"/>
                <a:ea typeface="微軟正黑體" pitchFamily="34" charset="-120"/>
              </a:defRPr>
            </a:lvl2pPr>
            <a:lvl3pPr algn="l" rtl="0" eaLnBrk="0" fontAlgn="base" hangingPunct="0">
              <a:spcBef>
                <a:spcPct val="0"/>
              </a:spcBef>
              <a:spcAft>
                <a:spcPct val="0"/>
              </a:spcAft>
              <a:defRPr kumimoji="1" sz="4600">
                <a:solidFill>
                  <a:schemeClr val="tx2"/>
                </a:solidFill>
                <a:latin typeface="Arial" charset="0"/>
                <a:ea typeface="微軟正黑體" pitchFamily="34" charset="-120"/>
              </a:defRPr>
            </a:lvl3pPr>
            <a:lvl4pPr algn="l" rtl="0" eaLnBrk="0" fontAlgn="base" hangingPunct="0">
              <a:spcBef>
                <a:spcPct val="0"/>
              </a:spcBef>
              <a:spcAft>
                <a:spcPct val="0"/>
              </a:spcAft>
              <a:defRPr kumimoji="1" sz="4600">
                <a:solidFill>
                  <a:schemeClr val="tx2"/>
                </a:solidFill>
                <a:latin typeface="Arial" charset="0"/>
                <a:ea typeface="微軟正黑體" pitchFamily="34" charset="-120"/>
              </a:defRPr>
            </a:lvl4pPr>
            <a:lvl5pPr algn="l" rtl="0" eaLnBrk="0" fontAlgn="base" hangingPunct="0">
              <a:spcBef>
                <a:spcPct val="0"/>
              </a:spcBef>
              <a:spcAft>
                <a:spcPct val="0"/>
              </a:spcAft>
              <a:defRPr kumimoji="1" sz="4600">
                <a:solidFill>
                  <a:schemeClr val="tx2"/>
                </a:solidFill>
                <a:latin typeface="Arial" charset="0"/>
                <a:ea typeface="微軟正黑體" pitchFamily="34" charset="-120"/>
              </a:defRPr>
            </a:lvl5pPr>
            <a:lvl6pPr marL="457200" algn="l" rtl="0" fontAlgn="base">
              <a:spcBef>
                <a:spcPct val="0"/>
              </a:spcBef>
              <a:spcAft>
                <a:spcPct val="0"/>
              </a:spcAft>
              <a:defRPr kumimoji="1" sz="4600">
                <a:solidFill>
                  <a:schemeClr val="tx2"/>
                </a:solidFill>
                <a:latin typeface="Arial" charset="0"/>
                <a:ea typeface="微軟正黑體" pitchFamily="34" charset="-120"/>
              </a:defRPr>
            </a:lvl6pPr>
            <a:lvl7pPr marL="914400" algn="l" rtl="0" fontAlgn="base">
              <a:spcBef>
                <a:spcPct val="0"/>
              </a:spcBef>
              <a:spcAft>
                <a:spcPct val="0"/>
              </a:spcAft>
              <a:defRPr kumimoji="1" sz="4600">
                <a:solidFill>
                  <a:schemeClr val="tx2"/>
                </a:solidFill>
                <a:latin typeface="Arial" charset="0"/>
                <a:ea typeface="微軟正黑體" pitchFamily="34" charset="-120"/>
              </a:defRPr>
            </a:lvl7pPr>
            <a:lvl8pPr marL="1371600" algn="l" rtl="0" fontAlgn="base">
              <a:spcBef>
                <a:spcPct val="0"/>
              </a:spcBef>
              <a:spcAft>
                <a:spcPct val="0"/>
              </a:spcAft>
              <a:defRPr kumimoji="1" sz="4600">
                <a:solidFill>
                  <a:schemeClr val="tx2"/>
                </a:solidFill>
                <a:latin typeface="Arial" charset="0"/>
                <a:ea typeface="微軟正黑體" pitchFamily="34" charset="-120"/>
              </a:defRPr>
            </a:lvl8pPr>
            <a:lvl9pPr marL="1828800" algn="l" rtl="0" fontAlgn="base">
              <a:spcBef>
                <a:spcPct val="0"/>
              </a:spcBef>
              <a:spcAft>
                <a:spcPct val="0"/>
              </a:spcAft>
              <a:defRPr kumimoji="1" sz="4600">
                <a:solidFill>
                  <a:schemeClr val="tx2"/>
                </a:solidFill>
                <a:latin typeface="Arial" charset="0"/>
                <a:ea typeface="微軟正黑體" pitchFamily="34" charset="-120"/>
              </a:defRPr>
            </a:lvl9pPr>
          </a:lstStyle>
          <a:p>
            <a:pPr fontAlgn="auto">
              <a:spcBef>
                <a:spcPts val="0"/>
              </a:spcBef>
              <a:spcAft>
                <a:spcPts val="0"/>
              </a:spcAft>
            </a:pPr>
            <a:r>
              <a:rPr lang="en-US" altLang="zh-TW" sz="4800" b="1" kern="0" dirty="0"/>
              <a:t>THE END</a:t>
            </a:r>
            <a:endParaRPr lang="zh-TW" altLang="en-US" sz="4800" b="1" kern="0" dirty="0"/>
          </a:p>
        </p:txBody>
      </p:sp>
    </p:spTree>
    <p:extLst>
      <p:ext uri="{BB962C8B-B14F-4D97-AF65-F5344CB8AC3E}">
        <p14:creationId xmlns:p14="http://schemas.microsoft.com/office/powerpoint/2010/main" val="205142185"/>
      </p:ext>
    </p:extLst>
  </p:cSld>
  <p:clrMapOvr>
    <a:masterClrMapping/>
  </p:clrMapOvr>
</p:sld>
</file>

<file path=ppt/theme/theme1.xml><?xml version="1.0" encoding="utf-8"?>
<a:theme xmlns:a="http://schemas.openxmlformats.org/drawingml/2006/main" name="簡報內頁">
  <a:themeElements>
    <a:clrScheme name="簡報內頁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簡報內頁">
      <a:majorFont>
        <a:latin typeface="Arial"/>
        <a:ea typeface="微軟正黑體"/>
        <a:cs typeface=""/>
      </a:majorFont>
      <a:minorFont>
        <a:latin typeface="Arial"/>
        <a:ea typeface="微軟正黑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TW" altLang="en-US" sz="1800" b="0" i="0" u="none" strike="noStrike" cap="none" normalizeH="0" baseline="0" smtClean="0">
            <a:ln>
              <a:noFill/>
            </a:ln>
            <a:solidFill>
              <a:schemeClr val="tx1"/>
            </a:solidFill>
            <a:effectLst/>
            <a:latin typeface="Arial" charset="0"/>
            <a:ea typeface="新細明體" pitchFamily="18" charset="-12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TW" altLang="en-US" sz="1800" b="0" i="0" u="none" strike="noStrike" cap="none" normalizeH="0" baseline="0" smtClean="0">
            <a:ln>
              <a:noFill/>
            </a:ln>
            <a:solidFill>
              <a:schemeClr val="tx1"/>
            </a:solidFill>
            <a:effectLst/>
            <a:latin typeface="Arial" charset="0"/>
            <a:ea typeface="新細明體" pitchFamily="18" charset="-120"/>
          </a:defRPr>
        </a:defPPr>
      </a:lstStyle>
    </a:lnDef>
  </a:objectDefaults>
  <a:extraClrSchemeLst>
    <a:extraClrScheme>
      <a:clrScheme name="簡報內頁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簡報內頁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簡報內頁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簡報內頁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簡報內頁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簡報內頁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簡報內頁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簡報內頁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簡報內頁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簡報內頁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簡報內頁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簡報內頁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2724</TotalTime>
  <Words>2392</Words>
  <Application>Microsoft Office PowerPoint</Application>
  <PresentationFormat>寬螢幕</PresentationFormat>
  <Paragraphs>286</Paragraphs>
  <Slides>13</Slides>
  <Notes>9</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13</vt:i4>
      </vt:variant>
    </vt:vector>
  </HeadingPairs>
  <TitlesOfParts>
    <vt:vector size="21" baseType="lpstr">
      <vt:lpstr>微軟正黑體</vt:lpstr>
      <vt:lpstr>PMingLiU</vt:lpstr>
      <vt:lpstr>Arial</vt:lpstr>
      <vt:lpstr>Calibri</vt:lpstr>
      <vt:lpstr>Symbol</vt:lpstr>
      <vt:lpstr>Times New Roman</vt:lpstr>
      <vt:lpstr>Wingdings</vt:lpstr>
      <vt:lpstr>簡報內頁</vt:lpstr>
      <vt:lpstr>FY116前瞻計畫提案 絕熱去磁製冷低溫平台及元件尺寸量測技術</vt:lpstr>
      <vt:lpstr>Outline</vt:lpstr>
      <vt:lpstr>產業需求痛點</vt:lpstr>
      <vt:lpstr>待解決的重要問題</vt:lpstr>
      <vt:lpstr>挑戰關鍵點</vt:lpstr>
      <vt:lpstr>解決方案</vt:lpstr>
      <vt:lpstr>解決方案</vt:lpstr>
      <vt:lpstr>跨領域合作架構</vt:lpstr>
      <vt:lpstr>低溫系統Benchmark 比較及競爭性分析</vt:lpstr>
      <vt:lpstr>PowerPoint 簡報</vt:lpstr>
      <vt:lpstr>重要專利布局規劃(國內1件；國外1件)</vt:lpstr>
      <vt:lpstr>本計畫對產業創新影響性及未來啟動科專or新創規劃</vt:lpstr>
      <vt:lpstr>PowerPoint 簡報</vt:lpstr>
    </vt:vector>
  </TitlesOfParts>
  <Company>TAS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ITRI投影片範本B</dc:title>
  <dc:creator>ITRI</dc:creator>
  <cp:keywords>2008NewCIS</cp:keywords>
  <cp:lastModifiedBy>順康 葛</cp:lastModifiedBy>
  <cp:revision>176</cp:revision>
  <dcterms:created xsi:type="dcterms:W3CDTF">2008-05-08T04:38:45Z</dcterms:created>
  <dcterms:modified xsi:type="dcterms:W3CDTF">2026-08-12T02:59:10Z</dcterms:modified>
</cp:coreProperties>
</file>